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collection, 63 runs, 31,864 rows. Every number in this deck is measured on 4,927 held-out rows the model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alignment point matters: penalize, measure and visualize the same scalar. Everything downstream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The advisor trusts the rest of the deck more once the previous claim has been retracted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are reported apart because they fail for different reasons: a new day tests appearance shift, new runs test trajectory variety.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half_recall_of_sky = 1.00 with IoU 0.19 means the top half contains all the sky and is five times too big. 24% of it is the surface the vehicle drives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bias test is the control: tree scores 0.0 and building 0.0 because they belong at the top of the frame. plant scores 1.3 and was deliberately NOT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ran before training: mean ground area, untrusted share, per-day trusted fraction. All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two-term split is the contribution. Everything else is machinery to make it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start from the same base checkpoint, 3 epochs, 200 steps, target = yaw. The base model never sees a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panel first. Lowering the distractor share is not the finding — a penalty on a region always does that. The finding is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samples per arm, 8 held-out experiments, 30 frames each. Untrusted frames are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frame, same saliency, same mask, four models. The collapse in the middle two panels is visible without reading a caption.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rather than letting the advisor find it. A negative result reported deliberately is stronger than a positive one a control would have killed.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“where did that number come from?”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limitations is what makes the positive claims credible. Each one has a number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negative result, not away from it. The next step that matters most is a second dry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2011680"/>
            <a:ext cx="10332720" cy="1554480"/>
          </a:xfrm>
          <a:prstGeom prst="rect">
            <a:avLst/>
          </a:prstGeom>
          <a:solidFill>
            <a:srgbClr val="0000D6"/>
          </a:solidFill>
          <a:ln w="6350">
            <a:solidFill>
              <a:srgbClr val="0000D6"/>
            </a:solidFill>
            <a:prstDash val="solid"/>
          </a:ln>
        </p:spPr>
      </p:sp>
      <p:sp>
        <p:nvSpPr>
          <p:cNvPr id="3" name="Text 1"/>
          <p:cNvSpPr txBox="1"/>
          <p:nvPr/>
        </p:nvSpPr>
        <p:spPr>
          <a:xfrm>
            <a:off x="1097280" y="2103120"/>
            <a:ext cx="9966960" cy="1371600"/>
          </a:xfrm>
          <a:prstGeom prst="rect">
            <a:avLst/>
          </a:prstGeom>
          <a:noFill/>
          <a:ln/>
        </p:spPr>
        <p:txBody>
          <a:bodyPr wrap="square" lIns="0" tIns="0" rIns="0" bIns="0" rtlCol="0" anchor="ctr"/>
          <a:lstStyle/>
          <a:p>
            <a:pPr algn="ctr" indent="0" marL="0">
              <a:buNone/>
            </a:pPr>
            <a:r>
              <a:rPr lang="en-US" sz="3200" dirty="0">
                <a:solidFill>
                  <a:srgbClr val="FFFFFF"/>
                </a:solidFill>
                <a:latin typeface="Calibri" pitchFamily="34" charset="0"/>
                <a:ea typeface="Calibri" pitchFamily="34" charset="-122"/>
                <a:cs typeface="Calibri" pitchFamily="34" charset="-120"/>
              </a:rPr>
              <a:t>Making a Motion Transformer Look at the Ground</a:t>
            </a:r>
            <a:endParaRPr lang="en-US" sz="3200" dirty="0"/>
          </a:p>
        </p:txBody>
      </p:sp>
      <p:sp>
        <p:nvSpPr>
          <p:cNvPr id="4" name="Text 2"/>
          <p:cNvSpPr txBox="1"/>
          <p:nvPr/>
        </p:nvSpPr>
        <p:spPr>
          <a:xfrm>
            <a:off x="960120" y="3749040"/>
            <a:ext cx="10058400" cy="1828800"/>
          </a:xfrm>
          <a:prstGeom prst="rect">
            <a:avLst/>
          </a:prstGeom>
          <a:noFill/>
          <a:ln/>
        </p:spPr>
        <p:txBody>
          <a:bodyPr wrap="square" lIns="0" tIns="0" rIns="0" bIns="0" rtlCol="0" anchor="t"/>
          <a:lstStyle/>
          <a:p>
            <a:pPr indent="0" marL="0">
              <a:lnSpc>
                <a:spcPts val="3000"/>
              </a:lnSpc>
              <a:buNone/>
            </a:pPr>
            <a:r>
              <a:rPr lang="en-US" sz="2000" dirty="0">
                <a:solidFill>
                  <a:srgbClr val="141414"/>
                </a:solidFill>
                <a:latin typeface="Calibri" pitchFamily="34" charset="0"/>
                <a:ea typeface="Calibri" pitchFamily="34" charset="-122"/>
                <a:cs typeface="Calibri" pitchFamily="34" charset="-120"/>
              </a:rPr>
              <a:t>Saman</a:t>
            </a:r>
            <a:endParaRPr lang="en-US" sz="2000" dirty="0"/>
          </a:p>
          <a:p>
            <a:pPr indent="0" marL="0">
              <a:lnSpc>
                <a:spcPts val="3000"/>
              </a:lnSpc>
              <a:buNone/>
            </a:pPr>
            <a:r>
              <a:rPr lang="en-US" sz="2000" dirty="0">
                <a:solidFill>
                  <a:srgbClr val="141414"/>
                </a:solidFill>
                <a:latin typeface="Calibri" pitchFamily="34" charset="0"/>
                <a:ea typeface="Calibri" pitchFamily="34" charset="-122"/>
                <a:cs typeface="Calibri" pitchFamily="34" charset="-120"/>
              </a:rPr>
              <a:t>v0.3 — region-guided attention with a spread constraint, and an honest re-test of v1</a:t>
            </a:r>
            <a:endParaRPr lang="en-US" sz="2000" dirty="0"/>
          </a:p>
          <a:p>
            <a:pPr indent="0" marL="0">
              <a:lnSpc>
                <a:spcPts val="3000"/>
              </a:lnSpc>
              <a:buNone/>
            </a:pPr>
            <a:r>
              <a:rPr lang="en-US" sz="800" dirty="0">
                <a:solidFill>
                  <a:srgbClr val="000000"/>
                </a:solidFill>
                <a:latin typeface="Calibri" pitchFamily="34" charset="0"/>
                <a:ea typeface="Calibri" pitchFamily="34" charset="-122"/>
                <a:cs typeface="Calibri" pitchFamily="34" charset="-120"/>
              </a:rPr>
              <a:t> </a:t>
            </a:r>
            <a:endParaRPr lang="en-US" sz="2000" dirty="0"/>
          </a:p>
          <a:p>
            <a:pPr indent="0" marL="0">
              <a:lnSpc>
                <a:spcPts val="3000"/>
              </a:lnSpc>
              <a:buNone/>
            </a:pPr>
            <a:r>
              <a:rPr lang="en-US" sz="1600" dirty="0">
                <a:solidFill>
                  <a:srgbClr val="5A5A5A"/>
                </a:solidFill>
                <a:latin typeface="Calibri" pitchFamily="34" charset="0"/>
                <a:ea typeface="Calibri" pitchFamily="34" charset="-122"/>
                <a:cs typeface="Calibri" pitchFamily="34" charset="-120"/>
              </a:rPr>
              <a:t>vit_motion · ViT-tiny + temporal fusion · tracked-vehicle motion</a:t>
            </a:r>
            <a:endParaRPr lang="en-US" sz="2000" dirty="0"/>
          </a:p>
        </p:txBody>
      </p:sp>
      <p:sp>
        <p:nvSpPr>
          <p:cNvPr id="5" name="Text 3"/>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The model, and the one quantity we probe it with</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502920" y="1234440"/>
            <a:ext cx="502920" cy="502920"/>
          </a:xfrm>
          <a:prstGeom prst="ellipse">
            <a:avLst/>
          </a:prstGeom>
          <a:solidFill>
            <a:srgbClr val="0000D6"/>
          </a:solidFill>
          <a:ln w="6350">
            <a:solidFill>
              <a:srgbClr val="0000D6"/>
            </a:solidFill>
            <a:prstDash val="solid"/>
          </a:ln>
        </p:spPr>
      </p:sp>
      <p:sp>
        <p:nvSpPr>
          <p:cNvPr id="6" name="Text 4"/>
          <p:cNvSpPr txBox="1"/>
          <p:nvPr/>
        </p:nvSpPr>
        <p:spPr>
          <a:xfrm>
            <a:off x="502920" y="1234440"/>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07008" y="1252728"/>
            <a:ext cx="5029200" cy="310896"/>
          </a:xfrm>
          <a:prstGeom prst="rect">
            <a:avLst/>
          </a:prstGeom>
          <a:noFill/>
          <a:ln/>
        </p:spPr>
        <p:txBody>
          <a:bodyPr wrap="square" lIns="0" tIns="0" rIns="0" bIns="0" rtlCol="0" anchor="ctr"/>
          <a:lstStyle/>
          <a:p>
            <a:pPr indent="0" marL="0">
              <a:buNone/>
            </a:pPr>
            <a:r>
              <a:rPr lang="en-US" sz="1600" dirty="0">
                <a:solidFill>
                  <a:srgbClr val="0000D6"/>
                </a:solidFill>
                <a:latin typeface="Calibri" pitchFamily="34" charset="0"/>
                <a:ea typeface="Calibri" pitchFamily="34" charset="-122"/>
                <a:cs typeface="Calibri" pitchFamily="34" charset="-120"/>
              </a:rPr>
              <a:t>Visual branch</a:t>
            </a:r>
            <a:endParaRPr lang="en-US" sz="1600" dirty="0"/>
          </a:p>
        </p:txBody>
      </p:sp>
      <p:sp>
        <p:nvSpPr>
          <p:cNvPr id="8" name="Text 6"/>
          <p:cNvSpPr txBox="1"/>
          <p:nvPr/>
        </p:nvSpPr>
        <p:spPr>
          <a:xfrm>
            <a:off x="1207008" y="1600200"/>
            <a:ext cx="5029200" cy="658368"/>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ViT-tiny encoder, average-pooled to a single image token, refreshed every 4th step.</a:t>
            </a:r>
            <a:endParaRPr lang="en-US" sz="1300" dirty="0"/>
          </a:p>
        </p:txBody>
      </p:sp>
      <p:sp>
        <p:nvSpPr>
          <p:cNvPr id="9" name="Shape 7"/>
          <p:cNvSpPr/>
          <p:nvPr/>
        </p:nvSpPr>
        <p:spPr>
          <a:xfrm>
            <a:off x="502920" y="2404872"/>
            <a:ext cx="502920" cy="502920"/>
          </a:xfrm>
          <a:prstGeom prst="ellipse">
            <a:avLst/>
          </a:prstGeom>
          <a:solidFill>
            <a:srgbClr val="0000D6"/>
          </a:solidFill>
          <a:ln w="6350">
            <a:solidFill>
              <a:srgbClr val="0000D6"/>
            </a:solidFill>
            <a:prstDash val="solid"/>
          </a:ln>
        </p:spPr>
      </p:sp>
      <p:sp>
        <p:nvSpPr>
          <p:cNvPr id="10" name="Text 8"/>
          <p:cNvSpPr txBox="1"/>
          <p:nvPr/>
        </p:nvSpPr>
        <p:spPr>
          <a:xfrm>
            <a:off x="502920" y="2404872"/>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07008" y="2423160"/>
            <a:ext cx="5029200" cy="310896"/>
          </a:xfrm>
          <a:prstGeom prst="rect">
            <a:avLst/>
          </a:prstGeom>
          <a:noFill/>
          <a:ln/>
        </p:spPr>
        <p:txBody>
          <a:bodyPr wrap="square" lIns="0" tIns="0" rIns="0" bIns="0" rtlCol="0" anchor="ctr"/>
          <a:lstStyle/>
          <a:p>
            <a:pPr indent="0" marL="0">
              <a:buNone/>
            </a:pPr>
            <a:r>
              <a:rPr lang="en-US" sz="1600" dirty="0">
                <a:solidFill>
                  <a:srgbClr val="0000D6"/>
                </a:solidFill>
                <a:latin typeface="Calibri" pitchFamily="34" charset="0"/>
                <a:ea typeface="Calibri" pitchFamily="34" charset="-122"/>
                <a:cs typeface="Calibri" pitchFamily="34" charset="-120"/>
              </a:rPr>
              <a:t>Numeric branch</a:t>
            </a:r>
            <a:endParaRPr lang="en-US" sz="1600" dirty="0"/>
          </a:p>
        </p:txBody>
      </p:sp>
      <p:sp>
        <p:nvSpPr>
          <p:cNvPr id="12" name="Text 10"/>
          <p:cNvSpPr txBox="1"/>
          <p:nvPr/>
        </p:nvSpPr>
        <p:spPr>
          <a:xfrm>
            <a:off x="1207008" y="2770632"/>
            <a:ext cx="5029200" cy="658368"/>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K = 6 past steps × 5 signals — pose deltas and track speeds.</a:t>
            </a:r>
            <a:endParaRPr lang="en-US" sz="1300" dirty="0"/>
          </a:p>
        </p:txBody>
      </p:sp>
      <p:sp>
        <p:nvSpPr>
          <p:cNvPr id="13" name="Shape 11"/>
          <p:cNvSpPr/>
          <p:nvPr/>
        </p:nvSpPr>
        <p:spPr>
          <a:xfrm>
            <a:off x="502920" y="3575304"/>
            <a:ext cx="502920" cy="502920"/>
          </a:xfrm>
          <a:prstGeom prst="ellipse">
            <a:avLst/>
          </a:prstGeom>
          <a:solidFill>
            <a:srgbClr val="0000D6"/>
          </a:solidFill>
          <a:ln w="6350">
            <a:solidFill>
              <a:srgbClr val="0000D6"/>
            </a:solidFill>
            <a:prstDash val="solid"/>
          </a:ln>
        </p:spPr>
      </p:sp>
      <p:sp>
        <p:nvSpPr>
          <p:cNvPr id="14" name="Text 12"/>
          <p:cNvSpPr txBox="1"/>
          <p:nvPr/>
        </p:nvSpPr>
        <p:spPr>
          <a:xfrm>
            <a:off x="502920" y="3575304"/>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207008" y="3593592"/>
            <a:ext cx="5029200" cy="310896"/>
          </a:xfrm>
          <a:prstGeom prst="rect">
            <a:avLst/>
          </a:prstGeom>
          <a:noFill/>
          <a:ln/>
        </p:spPr>
        <p:txBody>
          <a:bodyPr wrap="square" lIns="0" tIns="0" rIns="0" bIns="0" rtlCol="0" anchor="ctr"/>
          <a:lstStyle/>
          <a:p>
            <a:pPr indent="0" marL="0">
              <a:buNone/>
            </a:pPr>
            <a:r>
              <a:rPr lang="en-US" sz="1600" dirty="0">
                <a:solidFill>
                  <a:srgbClr val="0000D6"/>
                </a:solidFill>
                <a:latin typeface="Calibri" pitchFamily="34" charset="0"/>
                <a:ea typeface="Calibri" pitchFamily="34" charset="-122"/>
                <a:cs typeface="Calibri" pitchFamily="34" charset="-120"/>
              </a:rPr>
              <a:t>Fusion &amp; head</a:t>
            </a:r>
            <a:endParaRPr lang="en-US" sz="1600" dirty="0"/>
          </a:p>
        </p:txBody>
      </p:sp>
      <p:sp>
        <p:nvSpPr>
          <p:cNvPr id="16" name="Text 14"/>
          <p:cNvSpPr txBox="1"/>
          <p:nvPr/>
        </p:nvSpPr>
        <p:spPr>
          <a:xfrm>
            <a:off x="1207008" y="3941064"/>
            <a:ext cx="5029200" cy="658368"/>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2-layer transformer over [1 image + 6 numeric] tokens → regression of [dx, dy, dyaw].</a:t>
            </a:r>
            <a:endParaRPr lang="en-US" sz="1300" dirty="0"/>
          </a:p>
        </p:txBody>
      </p:sp>
      <p:sp>
        <p:nvSpPr>
          <p:cNvPr id="17" name="Shape 15"/>
          <p:cNvSpPr/>
          <p:nvPr/>
        </p:nvSpPr>
        <p:spPr>
          <a:xfrm>
            <a:off x="6720840" y="1188720"/>
            <a:ext cx="4983480" cy="2788920"/>
          </a:xfrm>
          <a:prstGeom prst="rect">
            <a:avLst/>
          </a:prstGeom>
          <a:solidFill>
            <a:srgbClr val="FFFFFF"/>
          </a:solidFill>
          <a:ln w="9525">
            <a:solidFill>
              <a:srgbClr val="9AA3B8"/>
            </a:solidFill>
            <a:prstDash val="solid"/>
          </a:ln>
        </p:spPr>
      </p:sp>
      <p:sp>
        <p:nvSpPr>
          <p:cNvPr id="18" name="Text 16"/>
          <p:cNvSpPr txBox="1"/>
          <p:nvPr/>
        </p:nvSpPr>
        <p:spPr>
          <a:xfrm>
            <a:off x="6995160" y="1371600"/>
            <a:ext cx="4434840" cy="310896"/>
          </a:xfrm>
          <a:prstGeom prst="rect">
            <a:avLst/>
          </a:prstGeom>
          <a:noFill/>
          <a:ln/>
        </p:spPr>
        <p:txBody>
          <a:bodyPr wrap="square" lIns="0" tIns="0" rIns="0" bIns="0" rtlCol="0" anchor="ctr"/>
          <a:lstStyle/>
          <a:p>
            <a:pPr indent="0" marL="0">
              <a:buNone/>
            </a:pPr>
            <a:r>
              <a:rPr lang="en-US" sz="1800" dirty="0">
                <a:solidFill>
                  <a:srgbClr val="0000D6"/>
                </a:solidFill>
                <a:latin typeface="Calibri" pitchFamily="34" charset="0"/>
                <a:ea typeface="Calibri" pitchFamily="34" charset="-122"/>
                <a:cs typeface="Calibri" pitchFamily="34" charset="-120"/>
              </a:rPr>
              <a:t>The probe</a:t>
            </a:r>
            <a:endParaRPr lang="en-US" sz="1800" dirty="0"/>
          </a:p>
        </p:txBody>
      </p:sp>
      <p:sp>
        <p:nvSpPr>
          <p:cNvPr id="19" name="Shape 17"/>
          <p:cNvSpPr/>
          <p:nvPr/>
        </p:nvSpPr>
        <p:spPr>
          <a:xfrm>
            <a:off x="6995160" y="1783080"/>
            <a:ext cx="4434840" cy="566928"/>
          </a:xfrm>
          <a:prstGeom prst="rect">
            <a:avLst/>
          </a:prstGeom>
          <a:solidFill>
            <a:srgbClr val="0000D6"/>
          </a:solidFill>
          <a:ln w="6350">
            <a:solidFill>
              <a:srgbClr val="0000D6"/>
            </a:solidFill>
            <a:prstDash val="solid"/>
          </a:ln>
        </p:spPr>
      </p:sp>
      <p:sp>
        <p:nvSpPr>
          <p:cNvPr id="20" name="Text 18"/>
          <p:cNvSpPr txBox="1"/>
          <p:nvPr/>
        </p:nvSpPr>
        <p:spPr>
          <a:xfrm>
            <a:off x="6995160" y="1783080"/>
            <a:ext cx="4434840" cy="566928"/>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saliency = | ∂ target / ∂ image |</a:t>
            </a:r>
            <a:endParaRPr lang="en-US" sz="1500" dirty="0"/>
          </a:p>
        </p:txBody>
      </p:sp>
      <p:sp>
        <p:nvSpPr>
          <p:cNvPr id="21" name="Text 19"/>
          <p:cNvSpPr txBox="1"/>
          <p:nvPr/>
        </p:nvSpPr>
        <p:spPr>
          <a:xfrm>
            <a:off x="6995160" y="2487168"/>
            <a:ext cx="4434840" cy="274320"/>
          </a:xfrm>
          <a:prstGeom prst="rect">
            <a:avLst/>
          </a:prstGeom>
          <a:noFill/>
          <a:ln/>
        </p:spPr>
        <p:txBody>
          <a:bodyPr wrap="square" lIns="0" tIns="0" rIns="0" bIns="0" rtlCol="0" anchor="ctr"/>
          <a:lstStyle/>
          <a:p>
            <a:pPr indent="0" marL="0">
              <a:buNone/>
            </a:pPr>
            <a:r>
              <a:rPr lang="en-US" sz="1250" dirty="0">
                <a:solidFill>
                  <a:srgbClr val="5A5A5A"/>
                </a:solidFill>
                <a:latin typeface="Calibri" pitchFamily="34" charset="0"/>
                <a:ea typeface="Calibri" pitchFamily="34" charset="-122"/>
                <a:cs typeface="Calibri" pitchFamily="34" charset="-120"/>
              </a:rPr>
              <a:t>summed over colour channels, target = yaw.</a:t>
            </a:r>
            <a:endParaRPr lang="en-US" sz="1250" dirty="0"/>
          </a:p>
        </p:txBody>
      </p:sp>
      <p:sp>
        <p:nvSpPr>
          <p:cNvPr id="22" name="Text 20"/>
          <p:cNvSpPr txBox="1"/>
          <p:nvPr/>
        </p:nvSpPr>
        <p:spPr>
          <a:xfrm>
            <a:off x="6995160" y="2834640"/>
            <a:ext cx="4434840" cy="1097280"/>
          </a:xfrm>
          <a:prstGeom prst="rect">
            <a:avLst/>
          </a:prstGeom>
          <a:noFill/>
          <a:ln/>
        </p:spPr>
        <p:txBody>
          <a:bodyPr wrap="square" lIns="0" tIns="0" rIns="0" bIns="0" rtlCol="0" anchor="t"/>
          <a:lstStyle/>
          <a:p>
            <a:pPr indent="0" marL="0">
              <a:lnSpc>
                <a:spcPts val="1700"/>
              </a:lnSpc>
              <a:buNone/>
            </a:pPr>
            <a:r>
              <a:rPr lang="en-US" sz="1250" dirty="0">
                <a:solidFill>
                  <a:srgbClr val="141414"/>
                </a:solidFill>
                <a:latin typeface="Calibri" pitchFamily="34" charset="0"/>
                <a:ea typeface="Calibri" pitchFamily="34" charset="-122"/>
                <a:cs typeface="Calibri" pitchFamily="34" charset="-120"/>
              </a:rPr>
              <a:t>This is the SAME quantity we penalize, measure and draw. In v1 the penalty and the picture were different quantities, so the number and the heatmap could disagree without either being wrong.</a:t>
            </a:r>
            <a:endParaRPr lang="en-US" sz="1250" dirty="0"/>
          </a:p>
        </p:txBody>
      </p:sp>
      <p:sp>
        <p:nvSpPr>
          <p:cNvPr id="23" name="Text 21"/>
          <p:cNvSpPr txBox="1"/>
          <p:nvPr/>
        </p:nvSpPr>
        <p:spPr>
          <a:xfrm>
            <a:off x="502920" y="5029200"/>
            <a:ext cx="11247120" cy="731520"/>
          </a:xfrm>
          <a:prstGeom prst="rect">
            <a:avLst/>
          </a:prstGeom>
          <a:noFill/>
          <a:ln/>
        </p:spPr>
        <p:txBody>
          <a:bodyPr wrap="square" lIns="0" tIns="0" rIns="0" bIns="0" rtlCol="0" anchor="t"/>
          <a:lstStyle/>
          <a:p>
            <a:pPr indent="0" marL="0">
              <a:lnSpc>
                <a:spcPts val="1600"/>
              </a:lnSpc>
              <a:buNone/>
            </a:pPr>
            <a:r>
              <a:rPr lang="en-US" sz="1150" dirty="0">
                <a:solidFill>
                  <a:srgbClr val="5A5A5A"/>
                </a:solidFill>
                <a:latin typeface="Calibri" pitchFamily="34" charset="0"/>
                <a:ea typeface="Calibri" pitchFamily="34" charset="-122"/>
                <a:cs typeface="Calibri" pitchFamily="34" charset="-120"/>
              </a:rPr>
              <a:t>Because this is multimodal regression and not classification, every explanation is reduced to one scalar target.</a:t>
            </a:r>
            <a:endParaRPr lang="en-US" sz="1150" dirty="0"/>
          </a:p>
          <a:p>
            <a:pPr indent="0" marL="0">
              <a:lnSpc>
                <a:spcPts val="1600"/>
              </a:lnSpc>
              <a:buNone/>
            </a:pPr>
            <a:r>
              <a:rPr lang="en-US" sz="1150" dirty="0">
                <a:solidFill>
                  <a:srgbClr val="5A5A5A"/>
                </a:solidFill>
                <a:latin typeface="Calibri" pitchFamily="34" charset="0"/>
                <a:ea typeface="Calibri" pitchFamily="34" charset="-122"/>
                <a:cs typeface="Calibri" pitchFamily="34" charset="-120"/>
              </a:rPr>
              <a:t>Grad-CAM (Selvaraju 2017) · Integrated Gradients (Sundararajan 2017) · Attention Rollout (Abnar &amp; Zuidema 2020)</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What v1 claimed, and what the re-test found</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457200" y="1097280"/>
            <a:ext cx="5486400" cy="4114800"/>
          </a:xfrm>
          <a:prstGeom prst="rect">
            <a:avLst/>
          </a:prstGeom>
          <a:solidFill>
            <a:srgbClr val="FFFFFF"/>
          </a:solidFill>
          <a:ln w="9525">
            <a:solidFill>
              <a:srgbClr val="9AA3B8"/>
            </a:solidFill>
            <a:prstDash val="solid"/>
          </a:ln>
        </p:spPr>
      </p:sp>
      <p:sp>
        <p:nvSpPr>
          <p:cNvPr id="6" name="Shape 4"/>
          <p:cNvSpPr/>
          <p:nvPr/>
        </p:nvSpPr>
        <p:spPr>
          <a:xfrm>
            <a:off x="6263640" y="1097280"/>
            <a:ext cx="5486400" cy="4114800"/>
          </a:xfrm>
          <a:prstGeom prst="rect">
            <a:avLst/>
          </a:prstGeom>
          <a:solidFill>
            <a:srgbClr val="D5DAE8"/>
          </a:solidFill>
          <a:ln w="9525">
            <a:solidFill>
              <a:srgbClr val="9AA3B8"/>
            </a:solidFill>
            <a:prstDash val="solid"/>
          </a:ln>
        </p:spPr>
      </p:sp>
      <p:sp>
        <p:nvSpPr>
          <p:cNvPr id="7" name="Text 5"/>
          <p:cNvSpPr txBox="1"/>
          <p:nvPr/>
        </p:nvSpPr>
        <p:spPr>
          <a:xfrm>
            <a:off x="731520" y="1280160"/>
            <a:ext cx="4937760" cy="329184"/>
          </a:xfrm>
          <a:prstGeom prst="rect">
            <a:avLst/>
          </a:prstGeom>
          <a:noFill/>
          <a:ln/>
        </p:spPr>
        <p:txBody>
          <a:bodyPr wrap="square" lIns="0" tIns="0" rIns="0" bIns="0" rtlCol="0" anchor="ctr"/>
          <a:lstStyle/>
          <a:p>
            <a:pPr indent="0" marL="0">
              <a:buNone/>
            </a:pPr>
            <a:r>
              <a:rPr lang="en-US" sz="1800" dirty="0">
                <a:solidFill>
                  <a:srgbClr val="B3261E"/>
                </a:solidFill>
                <a:latin typeface="Calibri" pitchFamily="34" charset="0"/>
                <a:ea typeface="Calibri" pitchFamily="34" charset="-122"/>
                <a:cs typeface="Calibri" pitchFamily="34" charset="-120"/>
              </a:rPr>
              <a:t>v1 claimed</a:t>
            </a:r>
            <a:endParaRPr lang="en-US" sz="1800" dirty="0"/>
          </a:p>
        </p:txBody>
      </p:sp>
      <p:sp>
        <p:nvSpPr>
          <p:cNvPr id="8" name="Text 6"/>
          <p:cNvSpPr txBox="1"/>
          <p:nvPr/>
        </p:nvSpPr>
        <p:spPr>
          <a:xfrm>
            <a:off x="6537960" y="1280160"/>
            <a:ext cx="4937760" cy="329184"/>
          </a:xfrm>
          <a:prstGeom prst="rect">
            <a:avLst/>
          </a:prstGeom>
          <a:noFill/>
          <a:ln/>
        </p:spPr>
        <p:txBody>
          <a:bodyPr wrap="square" lIns="0" tIns="0" rIns="0" bIns="0" rtlCol="0" anchor="ctr"/>
          <a:lstStyle/>
          <a:p>
            <a:pPr indent="0" marL="0">
              <a:buNone/>
            </a:pPr>
            <a:r>
              <a:rPr lang="en-US" sz="1800" dirty="0">
                <a:solidFill>
                  <a:srgbClr val="0000D6"/>
                </a:solidFill>
                <a:latin typeface="Calibri" pitchFamily="34" charset="0"/>
                <a:ea typeface="Calibri" pitchFamily="34" charset="-122"/>
                <a:cs typeface="Calibri" pitchFamily="34" charset="-120"/>
              </a:rPr>
              <a:t>v0.3 finds</a:t>
            </a:r>
            <a:endParaRPr lang="en-US" sz="1800" dirty="0"/>
          </a:p>
        </p:txBody>
      </p:sp>
      <p:sp>
        <p:nvSpPr>
          <p:cNvPr id="9" name="Text 7"/>
          <p:cNvSpPr txBox="1"/>
          <p:nvPr/>
        </p:nvSpPr>
        <p:spPr>
          <a:xfrm>
            <a:off x="731520" y="1783080"/>
            <a:ext cx="493776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Sky saliency 48% → ~0%</a:t>
            </a:r>
            <a:endParaRPr lang="en-US" sz="1300" dirty="0"/>
          </a:p>
        </p:txBody>
      </p:sp>
      <p:sp>
        <p:nvSpPr>
          <p:cNvPr id="10" name="Text 8"/>
          <p:cNvSpPr txBox="1"/>
          <p:nvPr/>
        </p:nvSpPr>
        <p:spPr>
          <a:xfrm>
            <a:off x="6537960" y="1783080"/>
            <a:ext cx="493776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True — but that region was never the ground</a:t>
            </a:r>
            <a:endParaRPr lang="en-US" sz="1300" dirty="0"/>
          </a:p>
        </p:txBody>
      </p:sp>
      <p:sp>
        <p:nvSpPr>
          <p:cNvPr id="11" name="Text 9"/>
          <p:cNvSpPr txBox="1"/>
          <p:nvPr/>
        </p:nvSpPr>
        <p:spPr>
          <a:xfrm>
            <a:off x="731520" y="2651760"/>
            <a:ext cx="493776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Accuracy improves: yaw R² 0.928 → 0.938</a:t>
            </a:r>
            <a:endParaRPr lang="en-US" sz="1300" dirty="0"/>
          </a:p>
        </p:txBody>
      </p:sp>
      <p:sp>
        <p:nvSpPr>
          <p:cNvPr id="12" name="Text 10"/>
          <p:cNvSpPr txBox="1"/>
          <p:nvPr/>
        </p:nvSpPr>
        <p:spPr>
          <a:xfrm>
            <a:off x="6537960" y="2651760"/>
            <a:ext cx="493776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Does not survive. A no-penalty control with the same extra epochs scores 0.852, the best of six arms</a:t>
            </a:r>
            <a:endParaRPr lang="en-US" sz="1300" dirty="0"/>
          </a:p>
        </p:txBody>
      </p:sp>
      <p:sp>
        <p:nvSpPr>
          <p:cNvPr id="13" name="Text 11"/>
          <p:cNvSpPr txBox="1"/>
          <p:nvPr/>
        </p:nvSpPr>
        <p:spPr>
          <a:xfrm>
            <a:off x="731520" y="3520440"/>
            <a:ext cx="493776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The control confirms the penalty caused it</a:t>
            </a:r>
            <a:endParaRPr lang="en-US" sz="1300" dirty="0"/>
          </a:p>
        </p:txBody>
      </p:sp>
      <p:sp>
        <p:nvSpPr>
          <p:cNvPr id="14" name="Text 12"/>
          <p:cNvSpPr txBox="1"/>
          <p:nvPr/>
        </p:nvSpPr>
        <p:spPr>
          <a:xfrm>
            <a:off x="6537960" y="3520440"/>
            <a:ext cx="493776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The control confirms the opposite: the movement comes from the extra epochs</a:t>
            </a:r>
            <a:endParaRPr lang="en-US" sz="1300" dirty="0"/>
          </a:p>
        </p:txBody>
      </p:sp>
      <p:sp>
        <p:nvSpPr>
          <p:cNvPr id="15" name="Text 13"/>
          <p:cNvSpPr txBox="1"/>
          <p:nvPr/>
        </p:nvSpPr>
        <p:spPr>
          <a:xfrm>
            <a:off x="731520" y="4389120"/>
            <a:ext cx="493776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“The top half of the frame” ≈ the useless region</a:t>
            </a:r>
            <a:endParaRPr lang="en-US" sz="1300" dirty="0"/>
          </a:p>
        </p:txBody>
      </p:sp>
      <p:sp>
        <p:nvSpPr>
          <p:cNvPr id="16" name="Text 14"/>
          <p:cNvSpPr txBox="1"/>
          <p:nvPr/>
        </p:nvSpPr>
        <p:spPr>
          <a:xfrm>
            <a:off x="6537960" y="4389120"/>
            <a:ext cx="493776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Audited against depth: 24% of that half is near ground, and its IoU with the sky is 0.19</a:t>
            </a:r>
            <a:endParaRPr lang="en-US" sz="1300" dirty="0"/>
          </a:p>
        </p:txBody>
      </p:sp>
      <p:sp>
        <p:nvSpPr>
          <p:cNvPr id="17" name="Text 15"/>
          <p:cNvSpPr txBox="1"/>
          <p:nvPr/>
        </p:nvSpPr>
        <p:spPr>
          <a:xfrm>
            <a:off x="457200" y="5440680"/>
            <a:ext cx="11292840" cy="457200"/>
          </a:xfrm>
          <a:prstGeom prst="rect">
            <a:avLst/>
          </a:prstGeom>
          <a:noFill/>
          <a:ln/>
        </p:spPr>
        <p:txBody>
          <a:bodyPr wrap="square" lIns="0" tIns="0" rIns="0" bIns="0" rtlCol="0" anchor="ctr"/>
          <a:lstStyle/>
          <a:p>
            <a:pPr indent="0" marL="0">
              <a:buNone/>
            </a:pPr>
            <a:r>
              <a:rPr lang="en-US" sz="1350" dirty="0">
                <a:solidFill>
                  <a:srgbClr val="B3261E"/>
                </a:solidFill>
                <a:latin typeface="Calibri" pitchFamily="34" charset="0"/>
                <a:ea typeface="Calibri" pitchFamily="34" charset="-122"/>
                <a:cs typeface="Calibri" pitchFamily="34" charset="-120"/>
              </a:rPr>
              <a:t>And one failure v1 never measured: driving the sky share to zero collapsed the attention onto a handful of ground pixels — coverage 0.89 → 0.25.</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One collection, and a held-out design that names its runs</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457200" y="1097280"/>
            <a:ext cx="3611880" cy="1572768"/>
          </a:xfrm>
          <a:prstGeom prst="rect">
            <a:avLst/>
          </a:prstGeom>
          <a:solidFill>
            <a:srgbClr val="FFFFFF"/>
          </a:solidFill>
          <a:ln w="9525">
            <a:solidFill>
              <a:srgbClr val="9AA3B8"/>
            </a:solidFill>
            <a:prstDash val="solid"/>
          </a:ln>
        </p:spPr>
      </p:sp>
      <p:sp>
        <p:nvSpPr>
          <p:cNvPr id="6" name="Text 4"/>
          <p:cNvSpPr txBox="1"/>
          <p:nvPr/>
        </p:nvSpPr>
        <p:spPr>
          <a:xfrm>
            <a:off x="640080" y="1225296"/>
            <a:ext cx="3246120" cy="566928"/>
          </a:xfrm>
          <a:prstGeom prst="rect">
            <a:avLst/>
          </a:prstGeom>
          <a:noFill/>
          <a:ln/>
        </p:spPr>
        <p:txBody>
          <a:bodyPr wrap="square" lIns="0" tIns="0" rIns="0" bIns="0" rtlCol="0" anchor="ctr"/>
          <a:lstStyle/>
          <a:p>
            <a:pPr indent="0" marL="0">
              <a:buNone/>
            </a:pPr>
            <a:r>
              <a:rPr lang="en-US" sz="2800" dirty="0">
                <a:solidFill>
                  <a:srgbClr val="0000D6"/>
                </a:solidFill>
                <a:latin typeface="Calibri" pitchFamily="34" charset="0"/>
                <a:ea typeface="Calibri" pitchFamily="34" charset="-122"/>
                <a:cs typeface="Calibri" pitchFamily="34" charset="-120"/>
              </a:rPr>
              <a:t>63</a:t>
            </a:r>
            <a:endParaRPr lang="en-US" sz="2800" dirty="0"/>
          </a:p>
        </p:txBody>
      </p:sp>
      <p:sp>
        <p:nvSpPr>
          <p:cNvPr id="7" name="Text 5"/>
          <p:cNvSpPr txBox="1"/>
          <p:nvPr/>
        </p:nvSpPr>
        <p:spPr>
          <a:xfrm>
            <a:off x="640080" y="1792224"/>
            <a:ext cx="3246120" cy="292608"/>
          </a:xfrm>
          <a:prstGeom prst="rect">
            <a:avLst/>
          </a:prstGeom>
          <a:noFill/>
          <a:ln/>
        </p:spPr>
        <p:txBody>
          <a:bodyPr wrap="square" lIns="0" tIns="0" rIns="0" bIns="0" rtlCol="0" anchor="ctr"/>
          <a:lstStyle/>
          <a:p>
            <a:pPr indent="0" marL="0">
              <a:buNone/>
            </a:pPr>
            <a:r>
              <a:rPr lang="en-US" sz="1250" dirty="0">
                <a:solidFill>
                  <a:srgbClr val="141414"/>
                </a:solidFill>
                <a:latin typeface="Calibri" pitchFamily="34" charset="0"/>
                <a:ea typeface="Calibri" pitchFamily="34" charset="-122"/>
                <a:cs typeface="Calibri" pitchFamily="34" charset="-120"/>
              </a:rPr>
              <a:t>runs / 31,864 rows</a:t>
            </a:r>
            <a:endParaRPr lang="en-US" sz="1250" dirty="0"/>
          </a:p>
        </p:txBody>
      </p:sp>
      <p:sp>
        <p:nvSpPr>
          <p:cNvPr id="8" name="Text 6"/>
          <p:cNvSpPr txBox="1"/>
          <p:nvPr/>
        </p:nvSpPr>
        <p:spPr>
          <a:xfrm>
            <a:off x="640080" y="2066544"/>
            <a:ext cx="3246120" cy="502920"/>
          </a:xfrm>
          <a:prstGeom prst="rect">
            <a:avLst/>
          </a:prstGeom>
          <a:noFill/>
          <a:ln/>
        </p:spPr>
        <p:txBody>
          <a:bodyPr wrap="square" lIns="0" tIns="0" rIns="0" bIns="0" rtlCol="0" anchor="t"/>
          <a:lstStyle/>
          <a:p>
            <a:pPr indent="0" marL="0">
              <a:lnSpc>
                <a:spcPts val="1400"/>
              </a:lnSpc>
              <a:buNone/>
            </a:pPr>
            <a:r>
              <a:rPr lang="en-US" sz="1100" dirty="0">
                <a:solidFill>
                  <a:srgbClr val="5A5A5A"/>
                </a:solidFill>
                <a:latin typeface="Calibri" pitchFamily="34" charset="0"/>
                <a:ea typeface="Calibri" pitchFamily="34" charset="-122"/>
                <a:cs typeface="Calibri" pitchFamily="34" charset="-120"/>
              </a:rPr>
              <a:t>four days, every run with aligned depth</a:t>
            </a:r>
            <a:endParaRPr lang="en-US" sz="1100" dirty="0"/>
          </a:p>
        </p:txBody>
      </p:sp>
      <p:sp>
        <p:nvSpPr>
          <p:cNvPr id="9" name="Shape 7"/>
          <p:cNvSpPr/>
          <p:nvPr/>
        </p:nvSpPr>
        <p:spPr>
          <a:xfrm>
            <a:off x="4297680" y="1097280"/>
            <a:ext cx="3611880" cy="1572768"/>
          </a:xfrm>
          <a:prstGeom prst="rect">
            <a:avLst/>
          </a:prstGeom>
          <a:solidFill>
            <a:srgbClr val="FFFFFF"/>
          </a:solidFill>
          <a:ln w="9525">
            <a:solidFill>
              <a:srgbClr val="9AA3B8"/>
            </a:solidFill>
            <a:prstDash val="solid"/>
          </a:ln>
        </p:spPr>
      </p:sp>
      <p:sp>
        <p:nvSpPr>
          <p:cNvPr id="10" name="Text 8"/>
          <p:cNvSpPr txBox="1"/>
          <p:nvPr/>
        </p:nvSpPr>
        <p:spPr>
          <a:xfrm>
            <a:off x="4480560" y="1225296"/>
            <a:ext cx="3246120" cy="566928"/>
          </a:xfrm>
          <a:prstGeom prst="rect">
            <a:avLst/>
          </a:prstGeom>
          <a:noFill/>
          <a:ln/>
        </p:spPr>
        <p:txBody>
          <a:bodyPr wrap="square" lIns="0" tIns="0" rIns="0" bIns="0" rtlCol="0" anchor="ctr"/>
          <a:lstStyle/>
          <a:p>
            <a:pPr indent="0" marL="0">
              <a:buNone/>
            </a:pPr>
            <a:r>
              <a:rPr lang="en-US" sz="2800" dirty="0">
                <a:solidFill>
                  <a:srgbClr val="B3261E"/>
                </a:solidFill>
                <a:latin typeface="Calibri" pitchFamily="34" charset="0"/>
                <a:ea typeface="Calibri" pitchFamily="34" charset="-122"/>
                <a:cs typeface="Calibri" pitchFamily="34" charset="-120"/>
              </a:rPr>
              <a:t>82 / 18</a:t>
            </a:r>
            <a:endParaRPr lang="en-US" sz="2800" dirty="0"/>
          </a:p>
        </p:txBody>
      </p:sp>
      <p:sp>
        <p:nvSpPr>
          <p:cNvPr id="11" name="Text 9"/>
          <p:cNvSpPr txBox="1"/>
          <p:nvPr/>
        </p:nvSpPr>
        <p:spPr>
          <a:xfrm>
            <a:off x="4480560" y="1792224"/>
            <a:ext cx="3246120" cy="292608"/>
          </a:xfrm>
          <a:prstGeom prst="rect">
            <a:avLst/>
          </a:prstGeom>
          <a:noFill/>
          <a:ln/>
        </p:spPr>
        <p:txBody>
          <a:bodyPr wrap="square" lIns="0" tIns="0" rIns="0" bIns="0" rtlCol="0" anchor="ctr"/>
          <a:lstStyle/>
          <a:p>
            <a:pPr indent="0" marL="0">
              <a:buNone/>
            </a:pPr>
            <a:r>
              <a:rPr lang="en-US" sz="1250" dirty="0">
                <a:solidFill>
                  <a:srgbClr val="141414"/>
                </a:solidFill>
                <a:latin typeface="Calibri" pitchFamily="34" charset="0"/>
                <a:ea typeface="Calibri" pitchFamily="34" charset="-122"/>
                <a:cs typeface="Calibri" pitchFamily="34" charset="-120"/>
              </a:rPr>
              <a:t>wet / dry split</a:t>
            </a:r>
            <a:endParaRPr lang="en-US" sz="1250" dirty="0"/>
          </a:p>
        </p:txBody>
      </p:sp>
      <p:sp>
        <p:nvSpPr>
          <p:cNvPr id="12" name="Text 10"/>
          <p:cNvSpPr txBox="1"/>
          <p:nvPr/>
        </p:nvSpPr>
        <p:spPr>
          <a:xfrm>
            <a:off x="4480560" y="2066544"/>
            <a:ext cx="3246120" cy="502920"/>
          </a:xfrm>
          <a:prstGeom prst="rect">
            <a:avLst/>
          </a:prstGeom>
          <a:noFill/>
          <a:ln/>
        </p:spPr>
        <p:txBody>
          <a:bodyPr wrap="square" lIns="0" tIns="0" rIns="0" bIns="0" rtlCol="0" anchor="t"/>
          <a:lstStyle/>
          <a:p>
            <a:pPr indent="0" marL="0">
              <a:lnSpc>
                <a:spcPts val="1400"/>
              </a:lnSpc>
              <a:buNone/>
            </a:pPr>
            <a:r>
              <a:rPr lang="en-US" sz="1100" dirty="0">
                <a:solidFill>
                  <a:srgbClr val="5A5A5A"/>
                </a:solidFill>
                <a:latin typeface="Calibri" pitchFamily="34" charset="0"/>
                <a:ea typeface="Calibri" pitchFamily="34" charset="-122"/>
                <a:cs typeface="Calibri" pitchFamily="34" charset="-120"/>
              </a:rPr>
              <a:t>dry numbers reported apart, never pooled into a headline</a:t>
            </a:r>
            <a:endParaRPr lang="en-US" sz="1100" dirty="0"/>
          </a:p>
        </p:txBody>
      </p:sp>
      <p:sp>
        <p:nvSpPr>
          <p:cNvPr id="13" name="Shape 11"/>
          <p:cNvSpPr/>
          <p:nvPr/>
        </p:nvSpPr>
        <p:spPr>
          <a:xfrm>
            <a:off x="8138160" y="1097280"/>
            <a:ext cx="3611880" cy="1572768"/>
          </a:xfrm>
          <a:prstGeom prst="rect">
            <a:avLst/>
          </a:prstGeom>
          <a:solidFill>
            <a:srgbClr val="FFFFFF"/>
          </a:solidFill>
          <a:ln w="9525">
            <a:solidFill>
              <a:srgbClr val="9AA3B8"/>
            </a:solidFill>
            <a:prstDash val="solid"/>
          </a:ln>
        </p:spPr>
      </p:sp>
      <p:sp>
        <p:nvSpPr>
          <p:cNvPr id="14" name="Text 12"/>
          <p:cNvSpPr txBox="1"/>
          <p:nvPr/>
        </p:nvSpPr>
        <p:spPr>
          <a:xfrm>
            <a:off x="8321040" y="1225296"/>
            <a:ext cx="3246120" cy="566928"/>
          </a:xfrm>
          <a:prstGeom prst="rect">
            <a:avLst/>
          </a:prstGeom>
          <a:noFill/>
          <a:ln/>
        </p:spPr>
        <p:txBody>
          <a:bodyPr wrap="square" lIns="0" tIns="0" rIns="0" bIns="0" rtlCol="0" anchor="ctr"/>
          <a:lstStyle/>
          <a:p>
            <a:pPr indent="0" marL="0">
              <a:buNone/>
            </a:pPr>
            <a:r>
              <a:rPr lang="en-US" sz="2800" dirty="0">
                <a:solidFill>
                  <a:srgbClr val="1B7A3D"/>
                </a:solidFill>
                <a:latin typeface="Calibri" pitchFamily="34" charset="0"/>
                <a:ea typeface="Calibri" pitchFamily="34" charset="-122"/>
                <a:cs typeface="Calibri" pitchFamily="34" charset="-120"/>
              </a:rPr>
              <a:t>45 / 55</a:t>
            </a:r>
            <a:endParaRPr lang="en-US" sz="2800" dirty="0"/>
          </a:p>
        </p:txBody>
      </p:sp>
      <p:sp>
        <p:nvSpPr>
          <p:cNvPr id="15" name="Text 13"/>
          <p:cNvSpPr txBox="1"/>
          <p:nvPr/>
        </p:nvSpPr>
        <p:spPr>
          <a:xfrm>
            <a:off x="8321040" y="1792224"/>
            <a:ext cx="3246120" cy="292608"/>
          </a:xfrm>
          <a:prstGeom prst="rect">
            <a:avLst/>
          </a:prstGeom>
          <a:noFill/>
          <a:ln/>
        </p:spPr>
        <p:txBody>
          <a:bodyPr wrap="square" lIns="0" tIns="0" rIns="0" bIns="0" rtlCol="0" anchor="ctr"/>
          <a:lstStyle/>
          <a:p>
            <a:pPr indent="0" marL="0">
              <a:buNone/>
            </a:pPr>
            <a:r>
              <a:rPr lang="en-US" sz="1250" dirty="0">
                <a:solidFill>
                  <a:srgbClr val="141414"/>
                </a:solidFill>
                <a:latin typeface="Calibri" pitchFamily="34" charset="0"/>
                <a:ea typeface="Calibri" pitchFamily="34" charset="-122"/>
                <a:cs typeface="Calibri" pitchFamily="34" charset="-120"/>
              </a:rPr>
              <a:t>dry / wet per epoch</a:t>
            </a:r>
            <a:endParaRPr lang="en-US" sz="1250" dirty="0"/>
          </a:p>
        </p:txBody>
      </p:sp>
      <p:sp>
        <p:nvSpPr>
          <p:cNvPr id="16" name="Text 14"/>
          <p:cNvSpPr txBox="1"/>
          <p:nvPr/>
        </p:nvSpPr>
        <p:spPr>
          <a:xfrm>
            <a:off x="8321040" y="2066544"/>
            <a:ext cx="3246120" cy="502920"/>
          </a:xfrm>
          <a:prstGeom prst="rect">
            <a:avLst/>
          </a:prstGeom>
          <a:noFill/>
          <a:ln/>
        </p:spPr>
        <p:txBody>
          <a:bodyPr wrap="square" lIns="0" tIns="0" rIns="0" bIns="0" rtlCol="0" anchor="t"/>
          <a:lstStyle/>
          <a:p>
            <a:pPr indent="0" marL="0">
              <a:lnSpc>
                <a:spcPts val="1400"/>
              </a:lnSpc>
              <a:buNone/>
            </a:pPr>
            <a:r>
              <a:rPr lang="en-US" sz="1100" dirty="0">
                <a:solidFill>
                  <a:srgbClr val="5A5A5A"/>
                </a:solidFill>
                <a:latin typeface="Calibri" pitchFamily="34" charset="0"/>
                <a:ea typeface="Calibri" pitchFamily="34" charset="-122"/>
                <a:cs typeface="Calibri" pitchFamily="34" charset="-120"/>
              </a:rPr>
              <a:t>hierarchical balanced sampling — no runs deleted</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11292840" cy="914400"/>
        </p:xfrm>
        <a:graphic>
          <a:graphicData uri="http://schemas.openxmlformats.org/drawingml/2006/table">
            <a:tbl>
              <a:tblPr/>
              <a:tblGrid>
                <a:gridCol w="2468880"/>
                <a:gridCol w="868680"/>
                <a:gridCol w="1097280"/>
                <a:gridCol w="6858000"/>
              </a:tblGrid>
              <a:tr h="384048">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held-out group</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runs</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rows</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what it tests</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unseen_day_wet</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1,947</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a whole wet day the model never saw</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unseen_runs_dry</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966</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dry runs from days it did train on</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unseen_runs_wet</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2,014</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the same for wet</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validation</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3,016</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train</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47</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23,871</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bl>
          </a:graphicData>
        </a:graphic>
      </p:graphicFrame>
      <p:sp>
        <p:nvSpPr>
          <p:cNvPr id="18" name="Text 15"/>
          <p:cNvSpPr txBox="1"/>
          <p:nvPr/>
        </p:nvSpPr>
        <p:spPr>
          <a:xfrm>
            <a:off x="457200" y="5577840"/>
            <a:ext cx="11292840" cy="411480"/>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No whole dry day is held out: the only pure dry day carries 75% of all the dry data, and removing it would leave 1.5k dry rows to train 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“The top half” was never “the useless part”</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region_audit.png">    </p:cNvPr>
          <p:cNvPicPr>
            <a:picLocks noChangeAspect="1"/>
          </p:cNvPicPr>
          <p:nvPr/>
        </p:nvPicPr>
        <p:blipFill>
          <a:blip r:embed="rId1"/>
          <a:stretch>
            <a:fillRect/>
          </a:stretch>
        </p:blipFill>
        <p:spPr>
          <a:xfrm>
            <a:off x="640080" y="1051560"/>
            <a:ext cx="10881360" cy="3063240"/>
          </a:xfrm>
          <a:prstGeom prst="rect">
            <a:avLst/>
          </a:prstGeom>
        </p:spPr>
      </p:pic>
      <p:sp>
        <p:nvSpPr>
          <p:cNvPr id="6" name="Shape 3"/>
          <p:cNvSpPr/>
          <p:nvPr/>
        </p:nvSpPr>
        <p:spPr>
          <a:xfrm>
            <a:off x="457200" y="4343400"/>
            <a:ext cx="2651760" cy="1234440"/>
          </a:xfrm>
          <a:prstGeom prst="rect">
            <a:avLst/>
          </a:prstGeom>
          <a:solidFill>
            <a:srgbClr val="FFFFFF"/>
          </a:solidFill>
          <a:ln w="9525">
            <a:solidFill>
              <a:srgbClr val="9AA3B8"/>
            </a:solidFill>
            <a:prstDash val="solid"/>
          </a:ln>
        </p:spPr>
      </p:sp>
      <p:sp>
        <p:nvSpPr>
          <p:cNvPr id="7" name="Text 4"/>
          <p:cNvSpPr txBox="1"/>
          <p:nvPr/>
        </p:nvSpPr>
        <p:spPr>
          <a:xfrm>
            <a:off x="640080" y="4453128"/>
            <a:ext cx="2286000" cy="502920"/>
          </a:xfrm>
          <a:prstGeom prst="rect">
            <a:avLst/>
          </a:prstGeom>
          <a:noFill/>
          <a:ln/>
        </p:spPr>
        <p:txBody>
          <a:bodyPr wrap="square" lIns="0" tIns="0" rIns="0" bIns="0" rtlCol="0" anchor="ctr"/>
          <a:lstStyle/>
          <a:p>
            <a:pPr indent="0" marL="0">
              <a:buNone/>
            </a:pPr>
            <a:r>
              <a:rPr lang="en-US" sz="2600" dirty="0">
                <a:solidFill>
                  <a:srgbClr val="1B7A3D"/>
                </a:solidFill>
                <a:latin typeface="Calibri" pitchFamily="34" charset="0"/>
                <a:ea typeface="Calibri" pitchFamily="34" charset="-122"/>
                <a:cs typeface="Calibri" pitchFamily="34" charset="-120"/>
              </a:rPr>
              <a:t>1.00</a:t>
            </a:r>
            <a:endParaRPr lang="en-US" sz="2600" dirty="0"/>
          </a:p>
        </p:txBody>
      </p:sp>
      <p:sp>
        <p:nvSpPr>
          <p:cNvPr id="8" name="Text 5"/>
          <p:cNvSpPr txBox="1"/>
          <p:nvPr/>
        </p:nvSpPr>
        <p:spPr>
          <a:xfrm>
            <a:off x="640080" y="4974336"/>
            <a:ext cx="2331720" cy="548640"/>
          </a:xfrm>
          <a:prstGeom prst="rect">
            <a:avLst/>
          </a:prstGeom>
          <a:noFill/>
          <a:ln/>
        </p:spPr>
        <p:txBody>
          <a:bodyPr wrap="square" lIns="0" tIns="0" rIns="0" bIns="0" rtlCol="0" anchor="t"/>
          <a:lstStyle/>
          <a:p>
            <a:pPr indent="0" marL="0">
              <a:lnSpc>
                <a:spcPts val="1500"/>
              </a:lnSpc>
              <a:buNone/>
            </a:pPr>
            <a:r>
              <a:rPr lang="en-US" sz="1150" dirty="0">
                <a:solidFill>
                  <a:srgbClr val="5A5A5A"/>
                </a:solidFill>
                <a:latin typeface="Calibri" pitchFamily="34" charset="0"/>
                <a:ea typeface="Calibri" pitchFamily="34" charset="-122"/>
                <a:cs typeface="Calibri" pitchFamily="34" charset="-120"/>
              </a:rPr>
              <a:t>of the sky IS inside the top half</a:t>
            </a:r>
            <a:endParaRPr lang="en-US" sz="1150" dirty="0"/>
          </a:p>
        </p:txBody>
      </p:sp>
      <p:sp>
        <p:nvSpPr>
          <p:cNvPr id="9" name="Shape 6"/>
          <p:cNvSpPr/>
          <p:nvPr/>
        </p:nvSpPr>
        <p:spPr>
          <a:xfrm>
            <a:off x="3337560" y="4343400"/>
            <a:ext cx="2651760" cy="1234440"/>
          </a:xfrm>
          <a:prstGeom prst="rect">
            <a:avLst/>
          </a:prstGeom>
          <a:solidFill>
            <a:srgbClr val="FFFFFF"/>
          </a:solidFill>
          <a:ln w="9525">
            <a:solidFill>
              <a:srgbClr val="9AA3B8"/>
            </a:solidFill>
            <a:prstDash val="solid"/>
          </a:ln>
        </p:spPr>
      </p:sp>
      <p:sp>
        <p:nvSpPr>
          <p:cNvPr id="10" name="Text 7"/>
          <p:cNvSpPr txBox="1"/>
          <p:nvPr/>
        </p:nvSpPr>
        <p:spPr>
          <a:xfrm>
            <a:off x="3520440" y="4453128"/>
            <a:ext cx="2286000" cy="502920"/>
          </a:xfrm>
          <a:prstGeom prst="rect">
            <a:avLst/>
          </a:prstGeom>
          <a:noFill/>
          <a:ln/>
        </p:spPr>
        <p:txBody>
          <a:bodyPr wrap="square" lIns="0" tIns="0" rIns="0" bIns="0" rtlCol="0" anchor="ctr"/>
          <a:lstStyle/>
          <a:p>
            <a:pPr indent="0" marL="0">
              <a:buNone/>
            </a:pPr>
            <a:r>
              <a:rPr lang="en-US" sz="2600" dirty="0">
                <a:solidFill>
                  <a:srgbClr val="B3261E"/>
                </a:solidFill>
                <a:latin typeface="Calibri" pitchFamily="34" charset="0"/>
                <a:ea typeface="Calibri" pitchFamily="34" charset="-122"/>
                <a:cs typeface="Calibri" pitchFamily="34" charset="-120"/>
              </a:rPr>
              <a:t>0.19</a:t>
            </a:r>
            <a:endParaRPr lang="en-US" sz="2600" dirty="0"/>
          </a:p>
        </p:txBody>
      </p:sp>
      <p:sp>
        <p:nvSpPr>
          <p:cNvPr id="11" name="Text 8"/>
          <p:cNvSpPr txBox="1"/>
          <p:nvPr/>
        </p:nvSpPr>
        <p:spPr>
          <a:xfrm>
            <a:off x="3520440" y="4974336"/>
            <a:ext cx="2331720" cy="548640"/>
          </a:xfrm>
          <a:prstGeom prst="rect">
            <a:avLst/>
          </a:prstGeom>
          <a:noFill/>
          <a:ln/>
        </p:spPr>
        <p:txBody>
          <a:bodyPr wrap="square" lIns="0" tIns="0" rIns="0" bIns="0" rtlCol="0" anchor="t"/>
          <a:lstStyle/>
          <a:p>
            <a:pPr indent="0" marL="0">
              <a:lnSpc>
                <a:spcPts val="1500"/>
              </a:lnSpc>
              <a:buNone/>
            </a:pPr>
            <a:r>
              <a:rPr lang="en-US" sz="1150" dirty="0">
                <a:solidFill>
                  <a:srgbClr val="5A5A5A"/>
                </a:solidFill>
                <a:latin typeface="Calibri" pitchFamily="34" charset="0"/>
                <a:ea typeface="Calibri" pitchFamily="34" charset="-122"/>
                <a:cs typeface="Calibri" pitchFamily="34" charset="-120"/>
              </a:rPr>
              <a:t>IoU between the top half and the sky</a:t>
            </a:r>
            <a:endParaRPr lang="en-US" sz="1150" dirty="0"/>
          </a:p>
        </p:txBody>
      </p:sp>
      <p:sp>
        <p:nvSpPr>
          <p:cNvPr id="12" name="Shape 9"/>
          <p:cNvSpPr/>
          <p:nvPr/>
        </p:nvSpPr>
        <p:spPr>
          <a:xfrm>
            <a:off x="6217920" y="4343400"/>
            <a:ext cx="2651760" cy="1234440"/>
          </a:xfrm>
          <a:prstGeom prst="rect">
            <a:avLst/>
          </a:prstGeom>
          <a:solidFill>
            <a:srgbClr val="FFFFFF"/>
          </a:solidFill>
          <a:ln w="9525">
            <a:solidFill>
              <a:srgbClr val="9AA3B8"/>
            </a:solidFill>
            <a:prstDash val="solid"/>
          </a:ln>
        </p:spPr>
      </p:sp>
      <p:sp>
        <p:nvSpPr>
          <p:cNvPr id="13" name="Text 10"/>
          <p:cNvSpPr txBox="1"/>
          <p:nvPr/>
        </p:nvSpPr>
        <p:spPr>
          <a:xfrm>
            <a:off x="6400800" y="4453128"/>
            <a:ext cx="2286000" cy="502920"/>
          </a:xfrm>
          <a:prstGeom prst="rect">
            <a:avLst/>
          </a:prstGeom>
          <a:noFill/>
          <a:ln/>
        </p:spPr>
        <p:txBody>
          <a:bodyPr wrap="square" lIns="0" tIns="0" rIns="0" bIns="0" rtlCol="0" anchor="ctr"/>
          <a:lstStyle/>
          <a:p>
            <a:pPr indent="0" marL="0">
              <a:buNone/>
            </a:pPr>
            <a:r>
              <a:rPr lang="en-US" sz="2600" dirty="0">
                <a:solidFill>
                  <a:srgbClr val="B3261E"/>
                </a:solidFill>
                <a:latin typeface="Calibri" pitchFamily="34" charset="0"/>
                <a:ea typeface="Calibri" pitchFamily="34" charset="-122"/>
                <a:cs typeface="Calibri" pitchFamily="34" charset="-120"/>
              </a:rPr>
              <a:t>24%</a:t>
            </a:r>
            <a:endParaRPr lang="en-US" sz="2600" dirty="0"/>
          </a:p>
        </p:txBody>
      </p:sp>
      <p:sp>
        <p:nvSpPr>
          <p:cNvPr id="14" name="Text 11"/>
          <p:cNvSpPr txBox="1"/>
          <p:nvPr/>
        </p:nvSpPr>
        <p:spPr>
          <a:xfrm>
            <a:off x="6400800" y="4974336"/>
            <a:ext cx="2331720" cy="548640"/>
          </a:xfrm>
          <a:prstGeom prst="rect">
            <a:avLst/>
          </a:prstGeom>
          <a:noFill/>
          <a:ln/>
        </p:spPr>
        <p:txBody>
          <a:bodyPr wrap="square" lIns="0" tIns="0" rIns="0" bIns="0" rtlCol="0" anchor="t"/>
          <a:lstStyle/>
          <a:p>
            <a:pPr indent="0" marL="0">
              <a:lnSpc>
                <a:spcPts val="1500"/>
              </a:lnSpc>
              <a:buNone/>
            </a:pPr>
            <a:r>
              <a:rPr lang="en-US" sz="1150" dirty="0">
                <a:solidFill>
                  <a:srgbClr val="5A5A5A"/>
                </a:solidFill>
                <a:latin typeface="Calibri" pitchFamily="34" charset="0"/>
                <a:ea typeface="Calibri" pitchFamily="34" charset="-122"/>
                <a:cs typeface="Calibri" pitchFamily="34" charset="-120"/>
              </a:rPr>
              <a:t>of the top half is near ground</a:t>
            </a:r>
            <a:endParaRPr lang="en-US" sz="1150" dirty="0"/>
          </a:p>
        </p:txBody>
      </p:sp>
      <p:sp>
        <p:nvSpPr>
          <p:cNvPr id="15" name="Shape 12"/>
          <p:cNvSpPr/>
          <p:nvPr/>
        </p:nvSpPr>
        <p:spPr>
          <a:xfrm>
            <a:off x="9098280" y="4343400"/>
            <a:ext cx="2651760" cy="1234440"/>
          </a:xfrm>
          <a:prstGeom prst="rect">
            <a:avLst/>
          </a:prstGeom>
          <a:solidFill>
            <a:srgbClr val="FFFFFF"/>
          </a:solidFill>
          <a:ln w="9525">
            <a:solidFill>
              <a:srgbClr val="9AA3B8"/>
            </a:solidFill>
            <a:prstDash val="solid"/>
          </a:ln>
        </p:spPr>
      </p:sp>
      <p:sp>
        <p:nvSpPr>
          <p:cNvPr id="16" name="Text 13"/>
          <p:cNvSpPr txBox="1"/>
          <p:nvPr/>
        </p:nvSpPr>
        <p:spPr>
          <a:xfrm>
            <a:off x="9281160" y="4453128"/>
            <a:ext cx="2286000" cy="502920"/>
          </a:xfrm>
          <a:prstGeom prst="rect">
            <a:avLst/>
          </a:prstGeom>
          <a:noFill/>
          <a:ln/>
        </p:spPr>
        <p:txBody>
          <a:bodyPr wrap="square" lIns="0" tIns="0" rIns="0" bIns="0" rtlCol="0" anchor="ctr"/>
          <a:lstStyle/>
          <a:p>
            <a:pPr indent="0" marL="0">
              <a:buNone/>
            </a:pPr>
            <a:r>
              <a:rPr lang="en-US" sz="2600" dirty="0">
                <a:solidFill>
                  <a:srgbClr val="1B7A3D"/>
                </a:solidFill>
                <a:latin typeface="Calibri" pitchFamily="34" charset="0"/>
                <a:ea typeface="Calibri" pitchFamily="34" charset="-122"/>
                <a:cs typeface="Calibri" pitchFamily="34" charset="-120"/>
              </a:rPr>
              <a:t>0.986</a:t>
            </a:r>
            <a:endParaRPr lang="en-US" sz="2600" dirty="0"/>
          </a:p>
        </p:txBody>
      </p:sp>
      <p:sp>
        <p:nvSpPr>
          <p:cNvPr id="17" name="Text 14"/>
          <p:cNvSpPr txBox="1"/>
          <p:nvPr/>
        </p:nvSpPr>
        <p:spPr>
          <a:xfrm>
            <a:off x="9281160" y="4974336"/>
            <a:ext cx="2331720" cy="548640"/>
          </a:xfrm>
          <a:prstGeom prst="rect">
            <a:avLst/>
          </a:prstGeom>
          <a:noFill/>
          <a:ln/>
        </p:spPr>
        <p:txBody>
          <a:bodyPr wrap="square" lIns="0" tIns="0" rIns="0" bIns="0" rtlCol="0" anchor="t"/>
          <a:lstStyle/>
          <a:p>
            <a:pPr indent="0" marL="0">
              <a:lnSpc>
                <a:spcPts val="1500"/>
              </a:lnSpc>
              <a:buNone/>
            </a:pPr>
            <a:r>
              <a:rPr lang="en-US" sz="1150" dirty="0">
                <a:solidFill>
                  <a:srgbClr val="5A5A5A"/>
                </a:solidFill>
                <a:latin typeface="Calibri" pitchFamily="34" charset="0"/>
                <a:ea typeface="Calibri" pitchFamily="34" charset="-122"/>
                <a:cs typeface="Calibri" pitchFamily="34" charset="-120"/>
              </a:rPr>
              <a:t>of our sky mask is beyond sensor range</a:t>
            </a:r>
            <a:endParaRPr lang="en-US" sz="1150" dirty="0"/>
          </a:p>
        </p:txBody>
      </p:sp>
      <p:sp>
        <p:nvSpPr>
          <p:cNvPr id="18" name="Text 15"/>
          <p:cNvSpPr txBox="1"/>
          <p:nvPr/>
        </p:nvSpPr>
        <p:spPr>
          <a:xfrm>
            <a:off x="457200" y="5715000"/>
            <a:ext cx="11292840" cy="411480"/>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Depth gives a check no learned mask can give itself: real sky must return nothing. It cannot separate sky from a distant tower — so it is used as an upper bound, not a label.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The ground class list is diagnosed, not guessed</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mask_fix.png">    </p:cNvPr>
          <p:cNvPicPr>
            <a:picLocks noChangeAspect="1"/>
          </p:cNvPicPr>
          <p:nvPr/>
        </p:nvPicPr>
        <p:blipFill>
          <a:blip r:embed="rId1"/>
          <a:stretch>
            <a:fillRect/>
          </a:stretch>
        </p:blipFill>
        <p:spPr>
          <a:xfrm>
            <a:off x="6035040" y="1051560"/>
            <a:ext cx="5715000" cy="4306824"/>
          </a:xfrm>
          <a:prstGeom prst="rect">
            <a:avLst/>
          </a:prstGeom>
        </p:spPr>
      </p:pic>
      <p:sp>
        <p:nvSpPr>
          <p:cNvPr id="6" name="Text 3"/>
          <p:cNvSpPr txBox="1"/>
          <p:nvPr/>
        </p:nvSpPr>
        <p:spPr>
          <a:xfrm>
            <a:off x="457200" y="1143000"/>
            <a:ext cx="5257800" cy="237744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300" dirty="0">
                <a:solidFill>
                  <a:srgbClr val="141414"/>
                </a:solidFill>
                <a:latin typeface="Calibri" pitchFamily="34" charset="0"/>
                <a:ea typeface="Calibri" pitchFamily="34" charset="-122"/>
                <a:cs typeface="Calibri" pitchFamily="34" charset="-120"/>
              </a:rPr>
              <a:t>SegFormer-b0 on ADE20K → sky / ground / other, cached once per frame at 224×224.</a:t>
            </a:r>
            <a:endParaRPr lang="en-US" sz="1300" dirty="0"/>
          </a:p>
          <a:p>
            <a:pPr marL="342900" indent="-342900">
              <a:lnSpc>
                <a:spcPts val="1900"/>
              </a:lnSpc>
              <a:spcAft>
                <a:spcPts val="800"/>
              </a:spcAft>
              <a:buSzPct val="100000"/>
              <a:buChar char="•"/>
            </a:pPr>
            <a:r>
              <a:rPr lang="en-US" sz="1300" dirty="0">
                <a:solidFill>
                  <a:srgbClr val="141414"/>
                </a:solidFill>
                <a:latin typeface="Calibri" pitchFamily="34" charset="0"/>
                <a:ea typeface="Calibri" pitchFamily="34" charset="-122"/>
                <a:cs typeface="Calibri" pitchFamily="34" charset="-120"/>
              </a:rPr>
              <a:t>Only a semantic segmenter can say “this is drivable terrain”. A sky detector can only say “this is not sky”, which lumps trees and buildings in with the grass.</a:t>
            </a:r>
            <a:endParaRPr lang="en-US" sz="1300" dirty="0"/>
          </a:p>
          <a:p>
            <a:pPr marL="342900" indent="-342900">
              <a:lnSpc>
                <a:spcPts val="1900"/>
              </a:lnSpc>
              <a:spcAft>
                <a:spcPts val="800"/>
              </a:spcAft>
              <a:buSzPct val="100000"/>
              <a:buChar char="•"/>
            </a:pPr>
            <a:r>
              <a:rPr lang="en-US" sz="1300" dirty="0">
                <a:solidFill>
                  <a:srgbClr val="141414"/>
                </a:solidFill>
                <a:latin typeface="Calibri" pitchFamily="34" charset="0"/>
                <a:ea typeface="Calibri" pitchFamily="34" charset="-122"/>
                <a:cs typeface="Calibri" pitchFamily="34" charset="-120"/>
              </a:rPr>
              <a:t>The code refuses a non-ground penalty on a cache without a real ground channel.</a:t>
            </a:r>
            <a:endParaRPr lang="en-US" sz="1300" dirty="0"/>
          </a:p>
        </p:txBody>
      </p:sp>
      <p:sp>
        <p:nvSpPr>
          <p:cNvPr id="7" name="Shape 4"/>
          <p:cNvSpPr/>
          <p:nvPr/>
        </p:nvSpPr>
        <p:spPr>
          <a:xfrm>
            <a:off x="457200" y="3657600"/>
            <a:ext cx="5257800" cy="1691640"/>
          </a:xfrm>
          <a:prstGeom prst="rect">
            <a:avLst/>
          </a:prstGeom>
          <a:solidFill>
            <a:srgbClr val="D5DAE8"/>
          </a:solidFill>
          <a:ln w="9525">
            <a:solidFill>
              <a:srgbClr val="9AA3B8"/>
            </a:solidFill>
            <a:prstDash val="solid"/>
          </a:ln>
        </p:spPr>
      </p:sp>
      <p:sp>
        <p:nvSpPr>
          <p:cNvPr id="8" name="Text 5"/>
          <p:cNvSpPr txBox="1"/>
          <p:nvPr/>
        </p:nvSpPr>
        <p:spPr>
          <a:xfrm>
            <a:off x="713232" y="3822192"/>
            <a:ext cx="4754880" cy="310896"/>
          </a:xfrm>
          <a:prstGeom prst="rect">
            <a:avLst/>
          </a:prstGeom>
          <a:noFill/>
          <a:ln/>
        </p:spPr>
        <p:txBody>
          <a:bodyPr wrap="square" lIns="0" tIns="0" rIns="0" bIns="0" rtlCol="0" anchor="ctr"/>
          <a:lstStyle/>
          <a:p>
            <a:pPr indent="0" marL="0">
              <a:buNone/>
            </a:pPr>
            <a:r>
              <a:rPr lang="en-US" sz="1400" dirty="0">
                <a:solidFill>
                  <a:srgbClr val="0000D6"/>
                </a:solidFill>
                <a:latin typeface="Calibri" pitchFamily="34" charset="0"/>
                <a:ea typeface="Calibri" pitchFamily="34" charset="-122"/>
                <a:cs typeface="Calibri" pitchFamily="34" charset="-120"/>
              </a:rPr>
              <a:t>The class list is measured, not guessed.</a:t>
            </a:r>
            <a:endParaRPr lang="en-US" sz="1400" dirty="0"/>
          </a:p>
        </p:txBody>
      </p:sp>
      <p:sp>
        <p:nvSpPr>
          <p:cNvPr id="9" name="Text 6"/>
          <p:cNvSpPr txBox="1"/>
          <p:nvPr/>
        </p:nvSpPr>
        <p:spPr>
          <a:xfrm>
            <a:off x="713232" y="4169664"/>
            <a:ext cx="4754880" cy="1051560"/>
          </a:xfrm>
          <a:prstGeom prst="rect">
            <a:avLst/>
          </a:prstGeom>
          <a:noFill/>
          <a:ln/>
        </p:spPr>
        <p:txBody>
          <a:bodyPr wrap="square" lIns="0" tIns="0" rIns="0" bIns="0" rtlCol="0" anchor="t"/>
          <a:lstStyle/>
          <a:p>
            <a:pPr indent="0" marL="0">
              <a:lnSpc>
                <a:spcPts val="1500"/>
              </a:lnSpc>
              <a:buNone/>
            </a:pPr>
            <a:r>
              <a:rPr lang="en-US" sz="1150" dirty="0">
                <a:solidFill>
                  <a:srgbClr val="141414"/>
                </a:solidFill>
                <a:latin typeface="Calibri" pitchFamily="34" charset="0"/>
                <a:ea typeface="Calibri" pitchFamily="34" charset="-122"/>
                <a:cs typeface="Calibri" pitchFamily="34" charset="-120"/>
              </a:rPr>
              <a:t>Sampling 189 frames and asking the segmenter what it calls the terrain band: mountain and rock fire on the ruts in front of the vehicle — 2.0% and 1.5% of the lower band, and 0.06% / 0.04% of the upper band. There is no mountain in these scenes.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The mask is gated before any GPU time is spent</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mask_regions.png">    </p:cNvPr>
          <p:cNvPicPr>
            <a:picLocks noChangeAspect="1"/>
          </p:cNvPicPr>
          <p:nvPr/>
        </p:nvPicPr>
        <p:blipFill>
          <a:blip r:embed="rId1"/>
          <a:stretch>
            <a:fillRect/>
          </a:stretch>
        </p:blipFill>
        <p:spPr>
          <a:xfrm>
            <a:off x="7360920" y="1097280"/>
            <a:ext cx="4261104" cy="4389120"/>
          </a:xfrm>
          <a:prstGeom prst="rect">
            <a:avLst/>
          </a:prstGeom>
        </p:spPr>
      </p:pic>
      <p:sp>
        <p:nvSpPr>
          <p:cNvPr id="6" name="Shape 3"/>
          <p:cNvSpPr/>
          <p:nvPr/>
        </p:nvSpPr>
        <p:spPr>
          <a:xfrm>
            <a:off x="457200" y="1188720"/>
            <a:ext cx="6537960" cy="1115568"/>
          </a:xfrm>
          <a:prstGeom prst="rect">
            <a:avLst/>
          </a:prstGeom>
          <a:solidFill>
            <a:srgbClr val="FFFFFF"/>
          </a:solidFill>
          <a:ln w="9525">
            <a:solidFill>
              <a:srgbClr val="9AA3B8"/>
            </a:solidFill>
            <a:prstDash val="solid"/>
          </a:ln>
        </p:spPr>
      </p:sp>
      <p:sp>
        <p:nvSpPr>
          <p:cNvPr id="7" name="Text 4"/>
          <p:cNvSpPr txBox="1"/>
          <p:nvPr/>
        </p:nvSpPr>
        <p:spPr>
          <a:xfrm>
            <a:off x="713232" y="1316736"/>
            <a:ext cx="1783080" cy="502920"/>
          </a:xfrm>
          <a:prstGeom prst="rect">
            <a:avLst/>
          </a:prstGeom>
          <a:noFill/>
          <a:ln/>
        </p:spPr>
        <p:txBody>
          <a:bodyPr wrap="square" lIns="0" tIns="0" rIns="0" bIns="0" rtlCol="0" anchor="ctr"/>
          <a:lstStyle/>
          <a:p>
            <a:pPr indent="0" marL="0">
              <a:buNone/>
            </a:pPr>
            <a:r>
              <a:rPr lang="en-US" sz="2600" dirty="0">
                <a:solidFill>
                  <a:srgbClr val="B3261E"/>
                </a:solidFill>
                <a:latin typeface="Calibri" pitchFamily="34" charset="0"/>
                <a:ea typeface="Calibri" pitchFamily="34" charset="-122"/>
                <a:cs typeface="Calibri" pitchFamily="34" charset="-120"/>
              </a:rPr>
              <a:t>1.2%</a:t>
            </a:r>
            <a:endParaRPr lang="en-US" sz="2600" dirty="0"/>
          </a:p>
        </p:txBody>
      </p:sp>
      <p:sp>
        <p:nvSpPr>
          <p:cNvPr id="8" name="Text 5"/>
          <p:cNvSpPr txBox="1"/>
          <p:nvPr/>
        </p:nvSpPr>
        <p:spPr>
          <a:xfrm>
            <a:off x="2606040" y="1335024"/>
            <a:ext cx="4114800" cy="292608"/>
          </a:xfrm>
          <a:prstGeom prst="rect">
            <a:avLst/>
          </a:prstGeom>
          <a:noFill/>
          <a:ln/>
        </p:spPr>
        <p:txBody>
          <a:bodyPr wrap="square" lIns="0" tIns="0" rIns="0" bIns="0" rtlCol="0" anchor="ctr"/>
          <a:lstStyle/>
          <a:p>
            <a:pPr indent="0" marL="0">
              <a:buNone/>
            </a:pPr>
            <a:r>
              <a:rPr lang="en-US" sz="1400" dirty="0">
                <a:solidFill>
                  <a:srgbClr val="141414"/>
                </a:solidFill>
                <a:latin typeface="Calibri" pitchFamily="34" charset="0"/>
                <a:ea typeface="Calibri" pitchFamily="34" charset="-122"/>
                <a:cs typeface="Calibri" pitchFamily="34" charset="-120"/>
              </a:rPr>
              <a:t>of frames untrusted</a:t>
            </a:r>
            <a:endParaRPr lang="en-US" sz="1400" dirty="0"/>
          </a:p>
        </p:txBody>
      </p:sp>
      <p:sp>
        <p:nvSpPr>
          <p:cNvPr id="9" name="Text 6"/>
          <p:cNvSpPr txBox="1"/>
          <p:nvPr/>
        </p:nvSpPr>
        <p:spPr>
          <a:xfrm>
            <a:off x="2606040" y="1645920"/>
            <a:ext cx="4160520" cy="603504"/>
          </a:xfrm>
          <a:prstGeom prst="rect">
            <a:avLst/>
          </a:prstGeom>
          <a:noFill/>
          <a:ln/>
        </p:spPr>
        <p:txBody>
          <a:bodyPr wrap="square" lIns="0" tIns="0" rIns="0" bIns="0" rtlCol="0" anchor="t"/>
          <a:lstStyle/>
          <a:p>
            <a:pPr indent="0" marL="0">
              <a:lnSpc>
                <a:spcPts val="1500"/>
              </a:lnSpc>
              <a:buNone/>
            </a:pPr>
            <a:r>
              <a:rPr lang="en-US" sz="1150" dirty="0">
                <a:solidFill>
                  <a:srgbClr val="5A5A5A"/>
                </a:solidFill>
                <a:latin typeface="Calibri" pitchFamily="34" charset="0"/>
                <a:ea typeface="Calibri" pitchFamily="34" charset="-122"/>
                <a:cs typeface="Calibri" pitchFamily="34" charset="-120"/>
              </a:rPr>
              <a:t>excluded from the guidance — never from training</a:t>
            </a:r>
            <a:endParaRPr lang="en-US" sz="1150" dirty="0"/>
          </a:p>
        </p:txBody>
      </p:sp>
      <p:sp>
        <p:nvSpPr>
          <p:cNvPr id="10" name="Shape 7"/>
          <p:cNvSpPr/>
          <p:nvPr/>
        </p:nvSpPr>
        <p:spPr>
          <a:xfrm>
            <a:off x="457200" y="2487168"/>
            <a:ext cx="6537960" cy="1115568"/>
          </a:xfrm>
          <a:prstGeom prst="rect">
            <a:avLst/>
          </a:prstGeom>
          <a:solidFill>
            <a:srgbClr val="FFFFFF"/>
          </a:solidFill>
          <a:ln w="9525">
            <a:solidFill>
              <a:srgbClr val="9AA3B8"/>
            </a:solidFill>
            <a:prstDash val="solid"/>
          </a:ln>
        </p:spPr>
      </p:sp>
      <p:sp>
        <p:nvSpPr>
          <p:cNvPr id="11" name="Text 8"/>
          <p:cNvSpPr txBox="1"/>
          <p:nvPr/>
        </p:nvSpPr>
        <p:spPr>
          <a:xfrm>
            <a:off x="713232" y="2615184"/>
            <a:ext cx="1783080" cy="502920"/>
          </a:xfrm>
          <a:prstGeom prst="rect">
            <a:avLst/>
          </a:prstGeom>
          <a:noFill/>
          <a:ln/>
        </p:spPr>
        <p:txBody>
          <a:bodyPr wrap="square" lIns="0" tIns="0" rIns="0" bIns="0" rtlCol="0" anchor="ctr"/>
          <a:lstStyle/>
          <a:p>
            <a:pPr indent="0" marL="0">
              <a:buNone/>
            </a:pPr>
            <a:r>
              <a:rPr lang="en-US" sz="2600" dirty="0">
                <a:solidFill>
                  <a:srgbClr val="1B7A3D"/>
                </a:solidFill>
                <a:latin typeface="Calibri" pitchFamily="34" charset="0"/>
                <a:ea typeface="Calibri" pitchFamily="34" charset="-122"/>
                <a:cs typeface="Calibri" pitchFamily="34" charset="-120"/>
              </a:rPr>
              <a:t>52</a:t>
            </a:r>
            <a:endParaRPr lang="en-US" sz="2600" dirty="0"/>
          </a:p>
        </p:txBody>
      </p:sp>
      <p:sp>
        <p:nvSpPr>
          <p:cNvPr id="12" name="Text 9"/>
          <p:cNvSpPr txBox="1"/>
          <p:nvPr/>
        </p:nvSpPr>
        <p:spPr>
          <a:xfrm>
            <a:off x="2606040" y="2633472"/>
            <a:ext cx="4114800" cy="292608"/>
          </a:xfrm>
          <a:prstGeom prst="rect">
            <a:avLst/>
          </a:prstGeom>
          <a:noFill/>
          <a:ln/>
        </p:spPr>
        <p:txBody>
          <a:bodyPr wrap="square" lIns="0" tIns="0" rIns="0" bIns="0" rtlCol="0" anchor="ctr"/>
          <a:lstStyle/>
          <a:p>
            <a:pPr indent="0" marL="0">
              <a:buNone/>
            </a:pPr>
            <a:r>
              <a:rPr lang="en-US" sz="1400" dirty="0">
                <a:solidFill>
                  <a:srgbClr val="141414"/>
                </a:solidFill>
                <a:latin typeface="Calibri" pitchFamily="34" charset="0"/>
                <a:ea typeface="Calibri" pitchFamily="34" charset="-122"/>
                <a:cs typeface="Calibri" pitchFamily="34" charset="-120"/>
              </a:rPr>
              <a:t>frames rescued</a:t>
            </a:r>
            <a:endParaRPr lang="en-US" sz="1400" dirty="0"/>
          </a:p>
        </p:txBody>
      </p:sp>
      <p:sp>
        <p:nvSpPr>
          <p:cNvPr id="13" name="Text 10"/>
          <p:cNvSpPr txBox="1"/>
          <p:nvPr/>
        </p:nvSpPr>
        <p:spPr>
          <a:xfrm>
            <a:off x="2606040" y="2944368"/>
            <a:ext cx="4160520" cy="603504"/>
          </a:xfrm>
          <a:prstGeom prst="rect">
            <a:avLst/>
          </a:prstGeom>
          <a:noFill/>
          <a:ln/>
        </p:spPr>
        <p:txBody>
          <a:bodyPr wrap="square" lIns="0" tIns="0" rIns="0" bIns="0" rtlCol="0" anchor="t"/>
          <a:lstStyle/>
          <a:p>
            <a:pPr indent="0" marL="0">
              <a:lnSpc>
                <a:spcPts val="1500"/>
              </a:lnSpc>
              <a:buNone/>
            </a:pPr>
            <a:r>
              <a:rPr lang="en-US" sz="1150" dirty="0">
                <a:solidFill>
                  <a:srgbClr val="5A5A5A"/>
                </a:solidFill>
                <a:latin typeface="Calibri" pitchFamily="34" charset="0"/>
                <a:ea typeface="Calibri" pitchFamily="34" charset="-122"/>
                <a:cs typeface="Calibri" pitchFamily="34" charset="-120"/>
              </a:rPr>
              <a:t>white-balanced and contrast-equalised, then re-masked</a:t>
            </a:r>
            <a:endParaRPr lang="en-US" sz="1150" dirty="0"/>
          </a:p>
        </p:txBody>
      </p:sp>
      <p:sp>
        <p:nvSpPr>
          <p:cNvPr id="14" name="Shape 11"/>
          <p:cNvSpPr/>
          <p:nvPr/>
        </p:nvSpPr>
        <p:spPr>
          <a:xfrm>
            <a:off x="457200" y="3785616"/>
            <a:ext cx="6537960" cy="1115568"/>
          </a:xfrm>
          <a:prstGeom prst="rect">
            <a:avLst/>
          </a:prstGeom>
          <a:solidFill>
            <a:srgbClr val="FFFFFF"/>
          </a:solidFill>
          <a:ln w="9525">
            <a:solidFill>
              <a:srgbClr val="9AA3B8"/>
            </a:solidFill>
            <a:prstDash val="solid"/>
          </a:ln>
        </p:spPr>
      </p:sp>
      <p:sp>
        <p:nvSpPr>
          <p:cNvPr id="15" name="Text 12"/>
          <p:cNvSpPr txBox="1"/>
          <p:nvPr/>
        </p:nvSpPr>
        <p:spPr>
          <a:xfrm>
            <a:off x="713232" y="3913632"/>
            <a:ext cx="1783080" cy="502920"/>
          </a:xfrm>
          <a:prstGeom prst="rect">
            <a:avLst/>
          </a:prstGeom>
          <a:noFill/>
          <a:ln/>
        </p:spPr>
        <p:txBody>
          <a:bodyPr wrap="square" lIns="0" tIns="0" rIns="0" bIns="0" rtlCol="0" anchor="ctr"/>
          <a:lstStyle/>
          <a:p>
            <a:pPr indent="0" marL="0">
              <a:buNone/>
            </a:pPr>
            <a:r>
              <a:rPr lang="en-US" sz="2600" dirty="0">
                <a:solidFill>
                  <a:srgbClr val="1B7A3D"/>
                </a:solidFill>
                <a:latin typeface="Calibri" pitchFamily="34" charset="0"/>
                <a:ea typeface="Calibri" pitchFamily="34" charset="-122"/>
                <a:cs typeface="Calibri" pitchFamily="34" charset="-120"/>
              </a:rPr>
              <a:t>68.2%</a:t>
            </a:r>
            <a:endParaRPr lang="en-US" sz="2600" dirty="0"/>
          </a:p>
        </p:txBody>
      </p:sp>
      <p:sp>
        <p:nvSpPr>
          <p:cNvPr id="16" name="Text 13"/>
          <p:cNvSpPr txBox="1"/>
          <p:nvPr/>
        </p:nvSpPr>
        <p:spPr>
          <a:xfrm>
            <a:off x="2606040" y="3931920"/>
            <a:ext cx="4114800" cy="292608"/>
          </a:xfrm>
          <a:prstGeom prst="rect">
            <a:avLst/>
          </a:prstGeom>
          <a:noFill/>
          <a:ln/>
        </p:spPr>
        <p:txBody>
          <a:bodyPr wrap="square" lIns="0" tIns="0" rIns="0" bIns="0" rtlCol="0" anchor="ctr"/>
          <a:lstStyle/>
          <a:p>
            <a:pPr indent="0" marL="0">
              <a:buNone/>
            </a:pPr>
            <a:r>
              <a:rPr lang="en-US" sz="1400" dirty="0">
                <a:solidFill>
                  <a:srgbClr val="141414"/>
                </a:solidFill>
                <a:latin typeface="Calibri" pitchFamily="34" charset="0"/>
                <a:ea typeface="Calibri" pitchFamily="34" charset="-122"/>
                <a:cs typeface="Calibri" pitchFamily="34" charset="-120"/>
              </a:rPr>
              <a:t>of a frame is ground</a:t>
            </a:r>
            <a:endParaRPr lang="en-US" sz="1400" dirty="0"/>
          </a:p>
        </p:txBody>
      </p:sp>
      <p:sp>
        <p:nvSpPr>
          <p:cNvPr id="17" name="Text 14"/>
          <p:cNvSpPr txBox="1"/>
          <p:nvPr/>
        </p:nvSpPr>
        <p:spPr>
          <a:xfrm>
            <a:off x="2606040" y="4242816"/>
            <a:ext cx="4160520" cy="603504"/>
          </a:xfrm>
          <a:prstGeom prst="rect">
            <a:avLst/>
          </a:prstGeom>
          <a:noFill/>
          <a:ln/>
        </p:spPr>
        <p:txBody>
          <a:bodyPr wrap="square" lIns="0" tIns="0" rIns="0" bIns="0" rtlCol="0" anchor="t"/>
          <a:lstStyle/>
          <a:p>
            <a:pPr indent="0" marL="0">
              <a:lnSpc>
                <a:spcPts val="1500"/>
              </a:lnSpc>
              <a:buNone/>
            </a:pPr>
            <a:r>
              <a:rPr lang="en-US" sz="1150" dirty="0">
                <a:solidFill>
                  <a:srgbClr val="5A5A5A"/>
                </a:solidFill>
                <a:latin typeface="Calibri" pitchFamily="34" charset="0"/>
                <a:ea typeface="Calibri" pitchFamily="34" charset="-122"/>
                <a:cs typeface="Calibri" pitchFamily="34" charset="-120"/>
              </a:rPr>
              <a:t>predicted 0.68 from the class diagnosis, before measuring</a:t>
            </a:r>
            <a:endParaRPr lang="en-US" sz="1150" dirty="0"/>
          </a:p>
        </p:txBody>
      </p:sp>
      <p:sp>
        <p:nvSpPr>
          <p:cNvPr id="18" name="Text 15"/>
          <p:cNvSpPr txBox="1"/>
          <p:nvPr/>
        </p:nvSpPr>
        <p:spPr>
          <a:xfrm>
            <a:off x="457200" y="5349240"/>
            <a:ext cx="6583680" cy="548640"/>
          </a:xfrm>
          <a:prstGeom prst="rect">
            <a:avLst/>
          </a:prstGeom>
          <a:noFill/>
          <a:ln/>
        </p:spPr>
        <p:txBody>
          <a:bodyPr wrap="square" lIns="0" tIns="0" rIns="0" bIns="0" rtlCol="0" anchor="t"/>
          <a:lstStyle/>
          <a:p>
            <a:pPr indent="0" marL="0">
              <a:lnSpc>
                <a:spcPts val="1500"/>
              </a:lnSpc>
              <a:buNone/>
            </a:pPr>
            <a:r>
              <a:rPr lang="en-US" sz="1150" i="1" dirty="0">
                <a:solidFill>
                  <a:srgbClr val="5A5A5A"/>
                </a:solidFill>
                <a:latin typeface="Calibri" pitchFamily="34" charset="0"/>
                <a:ea typeface="Calibri" pitchFamily="34" charset="-122"/>
                <a:cs typeface="Calibri" pitchFamily="34" charset="-120"/>
              </a:rPr>
              <a:t>Penalizing “everything except this 4% sliver” is worse than not guiding that frame at all — so implausible masks are marked and skipped, and the count is reported.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Two terms: where to look, and how widely</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457200" y="1097280"/>
            <a:ext cx="11292840" cy="914400"/>
          </a:xfrm>
          <a:prstGeom prst="rect">
            <a:avLst/>
          </a:prstGeom>
          <a:solidFill>
            <a:srgbClr val="0000D6"/>
          </a:solidFill>
          <a:ln w="6350">
            <a:solidFill>
              <a:srgbClr val="0000D6"/>
            </a:solidFill>
            <a:prstDash val="solid"/>
          </a:ln>
        </p:spPr>
      </p:sp>
      <p:sp>
        <p:nvSpPr>
          <p:cNvPr id="6" name="Text 4"/>
          <p:cNvSpPr txBox="1"/>
          <p:nvPr/>
        </p:nvSpPr>
        <p:spPr>
          <a:xfrm>
            <a:off x="457200" y="1097280"/>
            <a:ext cx="11292840" cy="9144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total loss   =   task loss   +   λ_rrr · placement   +   λ_spread · spread</a:t>
            </a:r>
            <a:endParaRPr lang="en-US" sz="1900" dirty="0"/>
          </a:p>
        </p:txBody>
      </p:sp>
      <p:sp>
        <p:nvSpPr>
          <p:cNvPr id="7" name="Shape 5"/>
          <p:cNvSpPr/>
          <p:nvPr/>
        </p:nvSpPr>
        <p:spPr>
          <a:xfrm>
            <a:off x="457200" y="2331720"/>
            <a:ext cx="5440680" cy="1920240"/>
          </a:xfrm>
          <a:prstGeom prst="rect">
            <a:avLst/>
          </a:prstGeom>
          <a:solidFill>
            <a:srgbClr val="FFFFFF"/>
          </a:solidFill>
          <a:ln w="9525">
            <a:solidFill>
              <a:srgbClr val="9AA3B8"/>
            </a:solidFill>
            <a:prstDash val="solid"/>
          </a:ln>
        </p:spPr>
      </p:sp>
      <p:sp>
        <p:nvSpPr>
          <p:cNvPr id="8" name="Text 6"/>
          <p:cNvSpPr txBox="1"/>
          <p:nvPr/>
        </p:nvSpPr>
        <p:spPr>
          <a:xfrm>
            <a:off x="713232" y="2514600"/>
            <a:ext cx="4892040" cy="329184"/>
          </a:xfrm>
          <a:prstGeom prst="rect">
            <a:avLst/>
          </a:prstGeom>
          <a:noFill/>
          <a:ln/>
        </p:spPr>
        <p:txBody>
          <a:bodyPr wrap="square" lIns="0" tIns="0" rIns="0" bIns="0" rtlCol="0" anchor="ctr"/>
          <a:lstStyle/>
          <a:p>
            <a:pPr indent="0" marL="0">
              <a:buNone/>
            </a:pPr>
            <a:r>
              <a:rPr lang="en-US" sz="1800" dirty="0">
                <a:solidFill>
                  <a:srgbClr val="B3261E"/>
                </a:solidFill>
                <a:latin typeface="Calibri" pitchFamily="34" charset="0"/>
                <a:ea typeface="Calibri" pitchFamily="34" charset="-122"/>
                <a:cs typeface="Calibri" pitchFamily="34" charset="-120"/>
              </a:rPr>
              <a:t>placement</a:t>
            </a:r>
            <a:endParaRPr lang="en-US" sz="1800" dirty="0"/>
          </a:p>
        </p:txBody>
      </p:sp>
      <p:sp>
        <p:nvSpPr>
          <p:cNvPr id="9" name="Text 7"/>
          <p:cNvSpPr txBox="1"/>
          <p:nvPr/>
        </p:nvSpPr>
        <p:spPr>
          <a:xfrm>
            <a:off x="713232" y="2907792"/>
            <a:ext cx="4937760" cy="457200"/>
          </a:xfrm>
          <a:prstGeom prst="rect">
            <a:avLst/>
          </a:prstGeom>
          <a:noFill/>
          <a:ln/>
        </p:spPr>
        <p:txBody>
          <a:bodyPr wrap="square" lIns="0" tIns="0" rIns="0" bIns="0" rtlCol="0" anchor="ctr"/>
          <a:lstStyle/>
          <a:p>
            <a:pPr indent="0" marL="0">
              <a:buNone/>
            </a:pPr>
            <a:r>
              <a:rPr lang="en-US" sz="1300" dirty="0">
                <a:solidFill>
                  <a:srgbClr val="0000D6"/>
                </a:solidFill>
                <a:latin typeface="Calibri" pitchFamily="34" charset="0"/>
                <a:ea typeface="Calibri" pitchFamily="34" charset="-122"/>
                <a:cs typeface="Calibri" pitchFamily="34" charset="-120"/>
              </a:rPr>
              <a:t>the share of saliency that falls outside the ground mask</a:t>
            </a:r>
            <a:endParaRPr lang="en-US" sz="1300" dirty="0"/>
          </a:p>
        </p:txBody>
      </p:sp>
      <p:sp>
        <p:nvSpPr>
          <p:cNvPr id="10" name="Text 8"/>
          <p:cNvSpPr txBox="1"/>
          <p:nvPr/>
        </p:nvSpPr>
        <p:spPr>
          <a:xfrm>
            <a:off x="713232" y="3383280"/>
            <a:ext cx="4937760" cy="822960"/>
          </a:xfrm>
          <a:prstGeom prst="rect">
            <a:avLst/>
          </a:prstGeom>
          <a:noFill/>
          <a:ln/>
        </p:spPr>
        <p:txBody>
          <a:bodyPr wrap="square" lIns="0" tIns="0" rIns="0" bIns="0" rtlCol="0" anchor="t"/>
          <a:lstStyle/>
          <a:p>
            <a:pPr indent="0" marL="0">
              <a:lnSpc>
                <a:spcPts val="1600"/>
              </a:lnSpc>
              <a:buNone/>
            </a:pPr>
            <a:r>
              <a:rPr lang="en-US" sz="1250" dirty="0">
                <a:solidFill>
                  <a:srgbClr val="141414"/>
                </a:solidFill>
                <a:latin typeface="Calibri" pitchFamily="34" charset="0"/>
                <a:ea typeface="Calibri" pitchFamily="34" charset="-122"/>
                <a:cs typeface="Calibri" pitchFamily="34" charset="-120"/>
              </a:rPr>
              <a:t>What v1 optimized — with a better region. On its own it is satisfiable by looking at one blade of grass.</a:t>
            </a:r>
            <a:endParaRPr lang="en-US" sz="1250" dirty="0"/>
          </a:p>
        </p:txBody>
      </p:sp>
      <p:sp>
        <p:nvSpPr>
          <p:cNvPr id="11" name="Shape 9"/>
          <p:cNvSpPr/>
          <p:nvPr/>
        </p:nvSpPr>
        <p:spPr>
          <a:xfrm>
            <a:off x="6309360" y="2331720"/>
            <a:ext cx="5440680" cy="1920240"/>
          </a:xfrm>
          <a:prstGeom prst="rect">
            <a:avLst/>
          </a:prstGeom>
          <a:solidFill>
            <a:srgbClr val="FFFFFF"/>
          </a:solidFill>
          <a:ln w="9525">
            <a:solidFill>
              <a:srgbClr val="9AA3B8"/>
            </a:solidFill>
            <a:prstDash val="solid"/>
          </a:ln>
        </p:spPr>
      </p:sp>
      <p:sp>
        <p:nvSpPr>
          <p:cNvPr id="12" name="Text 10"/>
          <p:cNvSpPr txBox="1"/>
          <p:nvPr/>
        </p:nvSpPr>
        <p:spPr>
          <a:xfrm>
            <a:off x="6565392" y="2514600"/>
            <a:ext cx="4892040" cy="329184"/>
          </a:xfrm>
          <a:prstGeom prst="rect">
            <a:avLst/>
          </a:prstGeom>
          <a:noFill/>
          <a:ln/>
        </p:spPr>
        <p:txBody>
          <a:bodyPr wrap="square" lIns="0" tIns="0" rIns="0" bIns="0" rtlCol="0" anchor="ctr"/>
          <a:lstStyle/>
          <a:p>
            <a:pPr indent="0" marL="0">
              <a:buNone/>
            </a:pPr>
            <a:r>
              <a:rPr lang="en-US" sz="1800" dirty="0">
                <a:solidFill>
                  <a:srgbClr val="1B7A3D"/>
                </a:solidFill>
                <a:latin typeface="Calibri" pitchFamily="34" charset="0"/>
                <a:ea typeface="Calibri" pitchFamily="34" charset="-122"/>
                <a:cs typeface="Calibri" pitchFamily="34" charset="-120"/>
              </a:rPr>
              <a:t>spread</a:t>
            </a:r>
            <a:endParaRPr lang="en-US" sz="1800" dirty="0"/>
          </a:p>
        </p:txBody>
      </p:sp>
      <p:sp>
        <p:nvSpPr>
          <p:cNvPr id="13" name="Text 11"/>
          <p:cNvSpPr txBox="1"/>
          <p:nvPr/>
        </p:nvSpPr>
        <p:spPr>
          <a:xfrm>
            <a:off x="6565392" y="2907792"/>
            <a:ext cx="4937760" cy="457200"/>
          </a:xfrm>
          <a:prstGeom prst="rect">
            <a:avLst/>
          </a:prstGeom>
          <a:noFill/>
          <a:ln/>
        </p:spPr>
        <p:txBody>
          <a:bodyPr wrap="square" lIns="0" tIns="0" rIns="0" bIns="0" rtlCol="0" anchor="ctr"/>
          <a:lstStyle/>
          <a:p>
            <a:pPr indent="0" marL="0">
              <a:buNone/>
            </a:pPr>
            <a:r>
              <a:rPr lang="en-US" sz="1300" dirty="0">
                <a:solidFill>
                  <a:srgbClr val="0000D6"/>
                </a:solidFill>
                <a:latin typeface="Calibri" pitchFamily="34" charset="0"/>
                <a:ea typeface="Calibri" pitchFamily="34" charset="-122"/>
                <a:cs typeface="Calibri" pitchFamily="34" charset="-120"/>
              </a:rPr>
              <a:t>1 − H(saliency | ground) / log N_ground</a:t>
            </a:r>
            <a:endParaRPr lang="en-US" sz="1300" dirty="0"/>
          </a:p>
        </p:txBody>
      </p:sp>
      <p:sp>
        <p:nvSpPr>
          <p:cNvPr id="14" name="Text 12"/>
          <p:cNvSpPr txBox="1"/>
          <p:nvPr/>
        </p:nvSpPr>
        <p:spPr>
          <a:xfrm>
            <a:off x="6565392" y="3383280"/>
            <a:ext cx="4937760" cy="822960"/>
          </a:xfrm>
          <a:prstGeom prst="rect">
            <a:avLst/>
          </a:prstGeom>
          <a:noFill/>
          <a:ln/>
        </p:spPr>
        <p:txBody>
          <a:bodyPr wrap="square" lIns="0" tIns="0" rIns="0" bIns="0" rtlCol="0" anchor="t"/>
          <a:lstStyle/>
          <a:p>
            <a:pPr indent="0" marL="0">
              <a:lnSpc>
                <a:spcPts val="1600"/>
              </a:lnSpc>
              <a:buNone/>
            </a:pPr>
            <a:r>
              <a:rPr lang="en-US" sz="1250" dirty="0">
                <a:solidFill>
                  <a:srgbClr val="141414"/>
                </a:solidFill>
                <a:latin typeface="Calibri" pitchFamily="34" charset="0"/>
                <a:ea typeface="Calibri" pitchFamily="34" charset="-122"/>
                <a:cs typeface="Calibri" pitchFamily="34" charset="-120"/>
              </a:rPr>
              <a:t>The term v1 was missing. It says be spread out INSIDE, not just don’t be outside.</a:t>
            </a:r>
            <a:endParaRPr lang="en-US" sz="1250" dirty="0"/>
          </a:p>
        </p:txBody>
      </p:sp>
      <p:sp>
        <p:nvSpPr>
          <p:cNvPr id="15" name="Text 13"/>
          <p:cNvSpPr txBox="1"/>
          <p:nvPr/>
        </p:nvSpPr>
        <p:spPr>
          <a:xfrm>
            <a:off x="457200" y="4526280"/>
            <a:ext cx="11292840" cy="548640"/>
          </a:xfrm>
          <a:prstGeom prst="rect">
            <a:avLst/>
          </a:prstGeom>
          <a:noFill/>
          <a:ln/>
        </p:spPr>
        <p:txBody>
          <a:bodyPr wrap="square" lIns="0" tIns="0" rIns="0" bIns="0" rtlCol="0" anchor="t"/>
          <a:lstStyle/>
          <a:p>
            <a:pPr indent="0" marL="0">
              <a:lnSpc>
                <a:spcPts val="1700"/>
              </a:lnSpc>
              <a:buNone/>
            </a:pPr>
            <a:r>
              <a:rPr lang="en-US" sz="1250" dirty="0">
                <a:solidFill>
                  <a:srgbClr val="141414"/>
                </a:solidFill>
                <a:latin typeface="Calibri" pitchFamily="34" charset="0"/>
                <a:ea typeface="Calibri" pitchFamily="34" charset="-122"/>
                <a:cs typeface="Calibri" pitchFamily="34" charset="-120"/>
              </a:rPr>
              <a:t>We optimize the entropy and report  coverage = exp(H) / N , the effective share of the terrain the attention covers. The split is deliberate: coverage’s gradient vanishes in exactly the collapsed regime we need to escape.</a:t>
            </a:r>
            <a:endParaRPr lang="en-US" sz="1250" dirty="0"/>
          </a:p>
        </p:txBody>
      </p:sp>
      <p:sp>
        <p:nvSpPr>
          <p:cNvPr id="16" name="Text 14"/>
          <p:cNvSpPr txBox="1"/>
          <p:nvPr/>
        </p:nvSpPr>
        <p:spPr>
          <a:xfrm>
            <a:off x="457200" y="5166360"/>
            <a:ext cx="11292840" cy="320040"/>
          </a:xfrm>
          <a:prstGeom prst="rect">
            <a:avLst/>
          </a:prstGeom>
          <a:noFill/>
          <a:ln/>
        </p:spPr>
        <p:txBody>
          <a:bodyPr wrap="square" lIns="0" tIns="0" rIns="0" bIns="0" rtlCol="0" anchor="ctr"/>
          <a:lstStyle/>
          <a:p>
            <a:pPr indent="0" marL="0">
              <a:buNone/>
            </a:pPr>
            <a:r>
              <a:rPr lang="en-US" sz="1150" i="1" dirty="0">
                <a:solidFill>
                  <a:srgbClr val="5A5A5A"/>
                </a:solidFill>
                <a:latin typeface="Calibri" pitchFamily="34" charset="0"/>
                <a:ea typeface="Calibri" pitchFamily="34" charset="-122"/>
                <a:cs typeface="Calibri" pitchFamily="34" charset="-120"/>
              </a:rPr>
              <a:t>Ross et al., Right for the Right Reasons, IJCAI 2017  ·  Chefer et al., RobustViT, NeurIPS 2022</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Five fine-tunes from one base model</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92840" cy="914400"/>
        </p:xfrm>
        <a:graphic>
          <a:graphicData uri="http://schemas.openxmlformats.org/drawingml/2006/table">
            <a:tbl>
              <a:tblPr/>
              <a:tblGrid>
                <a:gridCol w="1783080"/>
                <a:gridCol w="2468880"/>
                <a:gridCol w="822960"/>
                <a:gridCol w="960120"/>
                <a:gridCol w="5257800"/>
              </a:tblGrid>
              <a:tr h="512064">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penalty region</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λ_rrr</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λ_spread</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what it isolates</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v1_tophalf</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fixed top half</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reproduces v1 — so its collapse is measured, not asserted</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sky_only</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sky</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is removing the sky enough?</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nonground</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everything not ground</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the right region, without the spread term</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guided</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everything not ground</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the proposed method</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the same 3 extra epochs, no penalty at all</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617720"/>
            <a:ext cx="11292840" cy="1097280"/>
          </a:xfrm>
          <a:prstGeom prst="rect">
            <a:avLst/>
          </a:prstGeom>
          <a:solidFill>
            <a:srgbClr val="D5DAE8"/>
          </a:solidFill>
          <a:ln w="9525">
            <a:solidFill>
              <a:srgbClr val="9AA3B8"/>
            </a:solidFill>
            <a:prstDash val="solid"/>
          </a:ln>
        </p:spPr>
      </p:sp>
      <p:sp>
        <p:nvSpPr>
          <p:cNvPr id="7" name="Text 4"/>
          <p:cNvSpPr txBox="1"/>
          <p:nvPr/>
        </p:nvSpPr>
        <p:spPr>
          <a:xfrm>
            <a:off x="731520" y="4773168"/>
            <a:ext cx="10698480" cy="310896"/>
          </a:xfrm>
          <a:prstGeom prst="rect">
            <a:avLst/>
          </a:prstGeom>
          <a:noFill/>
          <a:ln/>
        </p:spPr>
        <p:txBody>
          <a:bodyPr wrap="square" lIns="0" tIns="0" rIns="0" bIns="0" rtlCol="0" anchor="ctr"/>
          <a:lstStyle/>
          <a:p>
            <a:pPr indent="0" marL="0">
              <a:buNone/>
            </a:pPr>
            <a:r>
              <a:rPr lang="en-US" sz="1400" dirty="0">
                <a:solidFill>
                  <a:srgbClr val="0000D6"/>
                </a:solidFill>
                <a:latin typeface="Calibri" pitchFamily="34" charset="0"/>
                <a:ea typeface="Calibri" pitchFamily="34" charset="-122"/>
                <a:cs typeface="Calibri" pitchFamily="34" charset="-120"/>
              </a:rPr>
              <a:t>control is the arm that makes the accuracy claim falsifiable.</a:t>
            </a:r>
            <a:endParaRPr lang="en-US" sz="1400" dirty="0"/>
          </a:p>
        </p:txBody>
      </p:sp>
      <p:sp>
        <p:nvSpPr>
          <p:cNvPr id="8" name="Text 5"/>
          <p:cNvSpPr txBox="1"/>
          <p:nvPr/>
        </p:nvSpPr>
        <p:spPr>
          <a:xfrm>
            <a:off x="731520" y="5120640"/>
            <a:ext cx="10698480" cy="457200"/>
          </a:xfrm>
          <a:prstGeom prst="rect">
            <a:avLst/>
          </a:prstGeom>
          <a:noFill/>
          <a:ln/>
        </p:spPr>
        <p:txBody>
          <a:bodyPr wrap="square" lIns="0" tIns="0" rIns="0" bIns="0" rtlCol="0" anchor="ctr"/>
          <a:lstStyle/>
          <a:p>
            <a:pPr indent="0" marL="0">
              <a:buNone/>
            </a:pPr>
            <a:r>
              <a:rPr lang="en-US" sz="1250" dirty="0">
                <a:solidFill>
                  <a:srgbClr val="141414"/>
                </a:solidFill>
                <a:latin typeface="Calibri" pitchFamily="34" charset="0"/>
                <a:ea typeface="Calibri" pitchFamily="34" charset="-122"/>
                <a:cs typeface="Calibri" pitchFamily="34" charset="-120"/>
              </a:rPr>
              <a:t>Without it, any accuracy movement over the base model would be credited to the penalty, when three extra epochs would have produced it anyway. v1 had no such arm.</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Lowering the distractor share is easy. Keeping the spread is not.</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tradeoff.png">    </p:cNvPr>
          <p:cNvPicPr>
            <a:picLocks noChangeAspect="1"/>
          </p:cNvPicPr>
          <p:nvPr/>
        </p:nvPicPr>
        <p:blipFill>
          <a:blip r:embed="rId1"/>
          <a:stretch>
            <a:fillRect/>
          </a:stretch>
        </p:blipFill>
        <p:spPr>
          <a:xfrm>
            <a:off x="640080" y="1097280"/>
            <a:ext cx="10881360" cy="4544568"/>
          </a:xfrm>
          <a:prstGeom prst="rect">
            <a:avLst/>
          </a:prstGeom>
        </p:spPr>
      </p:pic>
      <p:sp>
        <p:nvSpPr>
          <p:cNvPr id="6" name="Text 3"/>
          <p:cNvSpPr txBox="1"/>
          <p:nvPr/>
        </p:nvSpPr>
        <p:spPr>
          <a:xfrm>
            <a:off x="457200" y="5742432"/>
            <a:ext cx="11292840" cy="365760"/>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Left: up and to the right is “looks at the terrain, and at all of it”. Right: the whole accuracy span across six arms is 0.011 R².</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The same three numbers for every arm</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7635240" cy="914400"/>
        </p:xfrm>
        <a:graphic>
          <a:graphicData uri="http://schemas.openxmlformats.org/drawingml/2006/table">
            <a:tbl>
              <a:tblPr/>
              <a:tblGrid>
                <a:gridCol w="1645920"/>
                <a:gridCol w="1280160"/>
                <a:gridCol w="1371600"/>
                <a:gridCol w="1188720"/>
                <a:gridCol w="1097280"/>
                <a:gridCol w="1051560"/>
              </a:tblGrid>
              <a:tr h="502920">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distractor ↓</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concentr. ↑</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coverage ↑</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top 10% ↓</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yaw R²</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v03_base</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0.193</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1.34</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0.886</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0.217</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0.841</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0.165</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1.38</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0.864</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0.234</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0.852</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v1_tophalf</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0.010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1.65</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0.248</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0.666</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0.848</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sky_only</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0.048</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1.58</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0.662</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0.354</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0.847</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nonground</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0.003</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1.66</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0.215</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0.737</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0.849</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guided</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0.010</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1.65</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0.869</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0.197</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Calibri" pitchFamily="34" charset="0"/>
                          <a:ea typeface="Calibri" pitchFamily="34" charset="-122"/>
                          <a:cs typeface="Calibri" pitchFamily="34" charset="-120"/>
                        </a:rPr>
                        <a:t>0.847</a:t>
                      </a:r>
                      <a:endParaRPr lang="en-US" sz="125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bl>
          </a:graphicData>
        </a:graphic>
      </p:graphicFrame>
      <p:sp>
        <p:nvSpPr>
          <p:cNvPr id="6" name="Shape 3"/>
          <p:cNvSpPr/>
          <p:nvPr/>
        </p:nvSpPr>
        <p:spPr>
          <a:xfrm>
            <a:off x="8549640" y="1143000"/>
            <a:ext cx="3200400" cy="4206240"/>
          </a:xfrm>
          <a:prstGeom prst="rect">
            <a:avLst/>
          </a:prstGeom>
          <a:solidFill>
            <a:srgbClr val="D5DAE8"/>
          </a:solidFill>
          <a:ln w="9525">
            <a:solidFill>
              <a:srgbClr val="9AA3B8"/>
            </a:solidFill>
            <a:prstDash val="solid"/>
          </a:ln>
        </p:spPr>
      </p:sp>
      <p:sp>
        <p:nvSpPr>
          <p:cNvPr id="7" name="Text 4"/>
          <p:cNvSpPr txBox="1"/>
          <p:nvPr/>
        </p:nvSpPr>
        <p:spPr>
          <a:xfrm>
            <a:off x="8778240" y="1325880"/>
            <a:ext cx="2743200" cy="365760"/>
          </a:xfrm>
          <a:prstGeom prst="rect">
            <a:avLst/>
          </a:prstGeom>
          <a:noFill/>
          <a:ln/>
        </p:spPr>
        <p:txBody>
          <a:bodyPr wrap="square" lIns="0" tIns="0" rIns="0" bIns="0" rtlCol="0" anchor="ctr"/>
          <a:lstStyle/>
          <a:p>
            <a:pPr indent="0" marL="0">
              <a:buNone/>
            </a:pPr>
            <a:r>
              <a:rPr lang="en-US" sz="1500" dirty="0">
                <a:solidFill>
                  <a:srgbClr val="0000D6"/>
                </a:solidFill>
                <a:latin typeface="Calibri" pitchFamily="34" charset="0"/>
                <a:ea typeface="Calibri" pitchFamily="34" charset="-122"/>
                <a:cs typeface="Calibri" pitchFamily="34" charset="-120"/>
              </a:rPr>
              <a:t>guided, against the base model</a:t>
            </a:r>
            <a:endParaRPr lang="en-US" sz="1500" dirty="0"/>
          </a:p>
        </p:txBody>
      </p:sp>
      <p:sp>
        <p:nvSpPr>
          <p:cNvPr id="8" name="Text 5"/>
          <p:cNvSpPr txBox="1"/>
          <p:nvPr/>
        </p:nvSpPr>
        <p:spPr>
          <a:xfrm>
            <a:off x="8778240" y="1828800"/>
            <a:ext cx="2743200" cy="502920"/>
          </a:xfrm>
          <a:prstGeom prst="rect">
            <a:avLst/>
          </a:prstGeom>
          <a:noFill/>
          <a:ln/>
        </p:spPr>
        <p:txBody>
          <a:bodyPr wrap="square" lIns="0" tIns="0" rIns="0" bIns="0" rtlCol="0" anchor="ctr"/>
          <a:lstStyle/>
          <a:p>
            <a:pPr indent="0" marL="0">
              <a:buNone/>
            </a:pPr>
            <a:r>
              <a:rPr lang="en-US" sz="2600" dirty="0">
                <a:solidFill>
                  <a:srgbClr val="0000D6"/>
                </a:solidFill>
                <a:latin typeface="Calibri" pitchFamily="34" charset="0"/>
                <a:ea typeface="Calibri" pitchFamily="34" charset="-122"/>
                <a:cs typeface="Calibri" pitchFamily="34" charset="-120"/>
              </a:rPr>
              <a:t>19×</a:t>
            </a:r>
            <a:endParaRPr lang="en-US" sz="2600" dirty="0"/>
          </a:p>
        </p:txBody>
      </p:sp>
      <p:sp>
        <p:nvSpPr>
          <p:cNvPr id="9" name="Text 6"/>
          <p:cNvSpPr txBox="1"/>
          <p:nvPr/>
        </p:nvSpPr>
        <p:spPr>
          <a:xfrm>
            <a:off x="8778240" y="2340864"/>
            <a:ext cx="2743200" cy="621792"/>
          </a:xfrm>
          <a:prstGeom prst="rect">
            <a:avLst/>
          </a:prstGeom>
          <a:noFill/>
          <a:ln/>
        </p:spPr>
        <p:txBody>
          <a:bodyPr wrap="square" lIns="0" tIns="0" rIns="0" bIns="0" rtlCol="0" anchor="t"/>
          <a:lstStyle/>
          <a:p>
            <a:pPr indent="0" marL="0">
              <a:lnSpc>
                <a:spcPts val="1500"/>
              </a:lnSpc>
              <a:buNone/>
            </a:pPr>
            <a:r>
              <a:rPr lang="en-US" sz="1150" dirty="0">
                <a:solidFill>
                  <a:srgbClr val="141414"/>
                </a:solidFill>
                <a:latin typeface="Calibri" pitchFamily="34" charset="0"/>
                <a:ea typeface="Calibri" pitchFamily="34" charset="-122"/>
                <a:cs typeface="Calibri" pitchFamily="34" charset="-120"/>
              </a:rPr>
              <a:t>less attention on sky and objects</a:t>
            </a:r>
            <a:endParaRPr lang="en-US" sz="1150" dirty="0"/>
          </a:p>
        </p:txBody>
      </p:sp>
      <p:sp>
        <p:nvSpPr>
          <p:cNvPr id="10" name="Text 7"/>
          <p:cNvSpPr txBox="1"/>
          <p:nvPr/>
        </p:nvSpPr>
        <p:spPr>
          <a:xfrm>
            <a:off x="8778240" y="2999232"/>
            <a:ext cx="2743200" cy="502920"/>
          </a:xfrm>
          <a:prstGeom prst="rect">
            <a:avLst/>
          </a:prstGeom>
          <a:noFill/>
          <a:ln/>
        </p:spPr>
        <p:txBody>
          <a:bodyPr wrap="square" lIns="0" tIns="0" rIns="0" bIns="0" rtlCol="0" anchor="ctr"/>
          <a:lstStyle/>
          <a:p>
            <a:pPr indent="0" marL="0">
              <a:buNone/>
            </a:pPr>
            <a:r>
              <a:rPr lang="en-US" sz="2600" dirty="0">
                <a:solidFill>
                  <a:srgbClr val="0000D6"/>
                </a:solidFill>
                <a:latin typeface="Calibri" pitchFamily="34" charset="0"/>
                <a:ea typeface="Calibri" pitchFamily="34" charset="-122"/>
                <a:cs typeface="Calibri" pitchFamily="34" charset="-120"/>
              </a:rPr>
              <a:t>0.869</a:t>
            </a:r>
            <a:endParaRPr lang="en-US" sz="2600" dirty="0"/>
          </a:p>
        </p:txBody>
      </p:sp>
      <p:sp>
        <p:nvSpPr>
          <p:cNvPr id="11" name="Text 8"/>
          <p:cNvSpPr txBox="1"/>
          <p:nvPr/>
        </p:nvSpPr>
        <p:spPr>
          <a:xfrm>
            <a:off x="8778240" y="3511296"/>
            <a:ext cx="2743200" cy="621792"/>
          </a:xfrm>
          <a:prstGeom prst="rect">
            <a:avLst/>
          </a:prstGeom>
          <a:noFill/>
          <a:ln/>
        </p:spPr>
        <p:txBody>
          <a:bodyPr wrap="square" lIns="0" tIns="0" rIns="0" bIns="0" rtlCol="0" anchor="t"/>
          <a:lstStyle/>
          <a:p>
            <a:pPr indent="0" marL="0">
              <a:lnSpc>
                <a:spcPts val="1500"/>
              </a:lnSpc>
              <a:buNone/>
            </a:pPr>
            <a:r>
              <a:rPr lang="en-US" sz="1150" dirty="0">
                <a:solidFill>
                  <a:srgbClr val="141414"/>
                </a:solidFill>
                <a:latin typeface="Calibri" pitchFamily="34" charset="0"/>
                <a:ea typeface="Calibri" pitchFamily="34" charset="-122"/>
                <a:cs typeface="Calibri" pitchFamily="34" charset="-120"/>
              </a:rPr>
              <a:t>coverage kept — base is 0.886</a:t>
            </a:r>
            <a:endParaRPr lang="en-US" sz="1150" dirty="0"/>
          </a:p>
        </p:txBody>
      </p:sp>
      <p:sp>
        <p:nvSpPr>
          <p:cNvPr id="12" name="Text 9"/>
          <p:cNvSpPr txBox="1"/>
          <p:nvPr/>
        </p:nvSpPr>
        <p:spPr>
          <a:xfrm>
            <a:off x="8778240" y="4169664"/>
            <a:ext cx="2743200" cy="502920"/>
          </a:xfrm>
          <a:prstGeom prst="rect">
            <a:avLst/>
          </a:prstGeom>
          <a:noFill/>
          <a:ln/>
        </p:spPr>
        <p:txBody>
          <a:bodyPr wrap="square" lIns="0" tIns="0" rIns="0" bIns="0" rtlCol="0" anchor="ctr"/>
          <a:lstStyle/>
          <a:p>
            <a:pPr indent="0" marL="0">
              <a:buNone/>
            </a:pPr>
            <a:r>
              <a:rPr lang="en-US" sz="2600" dirty="0">
                <a:solidFill>
                  <a:srgbClr val="1B7A3D"/>
                </a:solidFill>
                <a:latin typeface="Calibri" pitchFamily="34" charset="0"/>
                <a:ea typeface="Calibri" pitchFamily="34" charset="-122"/>
                <a:cs typeface="Calibri" pitchFamily="34" charset="-120"/>
              </a:rPr>
              <a:t>0.197</a:t>
            </a:r>
            <a:endParaRPr lang="en-US" sz="2600" dirty="0"/>
          </a:p>
        </p:txBody>
      </p:sp>
      <p:sp>
        <p:nvSpPr>
          <p:cNvPr id="13" name="Text 10"/>
          <p:cNvSpPr txBox="1"/>
          <p:nvPr/>
        </p:nvSpPr>
        <p:spPr>
          <a:xfrm>
            <a:off x="8778240" y="4681728"/>
            <a:ext cx="2743200" cy="621792"/>
          </a:xfrm>
          <a:prstGeom prst="rect">
            <a:avLst/>
          </a:prstGeom>
          <a:noFill/>
          <a:ln/>
        </p:spPr>
        <p:txBody>
          <a:bodyPr wrap="square" lIns="0" tIns="0" rIns="0" bIns="0" rtlCol="0" anchor="t"/>
          <a:lstStyle/>
          <a:p>
            <a:pPr indent="0" marL="0">
              <a:lnSpc>
                <a:spcPts val="1500"/>
              </a:lnSpc>
              <a:buNone/>
            </a:pPr>
            <a:r>
              <a:rPr lang="en-US" sz="1150" dirty="0">
                <a:solidFill>
                  <a:srgbClr val="141414"/>
                </a:solidFill>
                <a:latin typeface="Calibri" pitchFamily="34" charset="0"/>
                <a:ea typeface="Calibri" pitchFamily="34" charset="-122"/>
                <a:cs typeface="Calibri" pitchFamily="34" charset="-120"/>
              </a:rPr>
              <a:t>top-decile share, BELOW the base model’s 0.217</a:t>
            </a:r>
            <a:endParaRPr lang="en-US" sz="1150" dirty="0"/>
          </a:p>
        </p:txBody>
      </p:sp>
      <p:sp>
        <p:nvSpPr>
          <p:cNvPr id="14" name="Text 11"/>
          <p:cNvSpPr txBox="1"/>
          <p:nvPr/>
        </p:nvSpPr>
        <p:spPr>
          <a:xfrm>
            <a:off x="457200" y="5532120"/>
            <a:ext cx="11292840" cy="548640"/>
          </a:xfrm>
          <a:prstGeom prst="rect">
            <a:avLst/>
          </a:prstGeom>
          <a:noFill/>
          <a:ln/>
        </p:spPr>
        <p:txBody>
          <a:bodyPr wrap="square" lIns="0" tIns="0" rIns="0" bIns="0" rtlCol="0" anchor="t"/>
          <a:lstStyle/>
          <a:p>
            <a:pPr indent="0" marL="0">
              <a:lnSpc>
                <a:spcPts val="1600"/>
              </a:lnSpc>
              <a:buNone/>
            </a:pPr>
            <a:r>
              <a:rPr lang="en-US" sz="1200" dirty="0">
                <a:solidFill>
                  <a:srgbClr val="141414"/>
                </a:solidFill>
                <a:latin typeface="Calibri" pitchFamily="34" charset="0"/>
                <a:ea typeface="Calibri" pitchFamily="34" charset="-122"/>
                <a:cs typeface="Calibri" pitchFamily="34" charset="-120"/>
              </a:rPr>
              <a:t>nonground and v1_tophalf win the distractor column and lose the experiment: 74% and 67% of all their attention sits in a tenth of the pixels. guided is not merely as spread as the unguided model — it is slightly more so.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What it looks like on a day the model never saw</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compare_row.png">    </p:cNvPr>
          <p:cNvPicPr>
            <a:picLocks noChangeAspect="1"/>
          </p:cNvPicPr>
          <p:nvPr/>
        </p:nvPicPr>
        <p:blipFill>
          <a:blip r:embed="rId1"/>
          <a:stretch>
            <a:fillRect/>
          </a:stretch>
        </p:blipFill>
        <p:spPr>
          <a:xfrm>
            <a:off x="457200" y="1005840"/>
            <a:ext cx="11292840" cy="3145536"/>
          </a:xfrm>
          <a:prstGeom prst="rect">
            <a:avLst/>
          </a:prstGeom>
        </p:spPr>
      </p:pic>
      <p:sp>
        <p:nvSpPr>
          <p:cNvPr id="6" name="Shape 3"/>
          <p:cNvSpPr/>
          <p:nvPr/>
        </p:nvSpPr>
        <p:spPr>
          <a:xfrm>
            <a:off x="457200" y="4343400"/>
            <a:ext cx="3611880" cy="1325880"/>
          </a:xfrm>
          <a:prstGeom prst="rect">
            <a:avLst/>
          </a:prstGeom>
          <a:solidFill>
            <a:srgbClr val="FFFFFF"/>
          </a:solidFill>
          <a:ln w="9525">
            <a:solidFill>
              <a:srgbClr val="9AA3B8"/>
            </a:solidFill>
            <a:prstDash val="solid"/>
          </a:ln>
        </p:spPr>
      </p:sp>
      <p:sp>
        <p:nvSpPr>
          <p:cNvPr id="7" name="Text 4"/>
          <p:cNvSpPr txBox="1"/>
          <p:nvPr/>
        </p:nvSpPr>
        <p:spPr>
          <a:xfrm>
            <a:off x="685800" y="4462272"/>
            <a:ext cx="3154680" cy="292608"/>
          </a:xfrm>
          <a:prstGeom prst="rect">
            <a:avLst/>
          </a:prstGeom>
          <a:noFill/>
          <a:ln/>
        </p:spPr>
        <p:txBody>
          <a:bodyPr wrap="square" lIns="0" tIns="0" rIns="0" bIns="0" rtlCol="0" anchor="ctr"/>
          <a:lstStyle/>
          <a:p>
            <a:pPr indent="0" marL="0">
              <a:buNone/>
            </a:pPr>
            <a:r>
              <a:rPr lang="en-US" sz="1350" dirty="0">
                <a:solidFill>
                  <a:srgbClr val="141414"/>
                </a:solidFill>
                <a:latin typeface="Calibri" pitchFamily="34" charset="0"/>
                <a:ea typeface="Calibri" pitchFamily="34" charset="-122"/>
                <a:cs typeface="Calibri" pitchFamily="34" charset="-120"/>
              </a:rPr>
              <a:t>base</a:t>
            </a:r>
            <a:endParaRPr lang="en-US" sz="1350" dirty="0"/>
          </a:p>
        </p:txBody>
      </p:sp>
      <p:sp>
        <p:nvSpPr>
          <p:cNvPr id="8" name="Text 5"/>
          <p:cNvSpPr txBox="1"/>
          <p:nvPr/>
        </p:nvSpPr>
        <p:spPr>
          <a:xfrm>
            <a:off x="685800" y="4773168"/>
            <a:ext cx="3200400" cy="822960"/>
          </a:xfrm>
          <a:prstGeom prst="rect">
            <a:avLst/>
          </a:prstGeom>
          <a:noFill/>
          <a:ln/>
        </p:spPr>
        <p:txBody>
          <a:bodyPr wrap="square" lIns="0" tIns="0" rIns="0" bIns="0" rtlCol="0" anchor="t"/>
          <a:lstStyle/>
          <a:p>
            <a:pPr indent="0" marL="0">
              <a:lnSpc>
                <a:spcPts val="1500"/>
              </a:lnSpc>
              <a:buNone/>
            </a:pPr>
            <a:r>
              <a:rPr lang="en-US" sz="1150" dirty="0">
                <a:solidFill>
                  <a:srgbClr val="141414"/>
                </a:solidFill>
                <a:latin typeface="Calibri" pitchFamily="34" charset="0"/>
                <a:ea typeface="Calibri" pitchFamily="34" charset="-122"/>
                <a:cs typeface="Calibri" pitchFamily="34" charset="-120"/>
              </a:rPr>
              <a:t>Already looks downward — but 12% of the saliency sits on the roof and the treeline.</a:t>
            </a:r>
            <a:endParaRPr lang="en-US" sz="1150" dirty="0"/>
          </a:p>
        </p:txBody>
      </p:sp>
      <p:sp>
        <p:nvSpPr>
          <p:cNvPr id="9" name="Shape 6"/>
          <p:cNvSpPr/>
          <p:nvPr/>
        </p:nvSpPr>
        <p:spPr>
          <a:xfrm>
            <a:off x="4270248" y="4343400"/>
            <a:ext cx="3611880" cy="1325880"/>
          </a:xfrm>
          <a:prstGeom prst="rect">
            <a:avLst/>
          </a:prstGeom>
          <a:solidFill>
            <a:srgbClr val="FFFFFF"/>
          </a:solidFill>
          <a:ln w="9525">
            <a:solidFill>
              <a:srgbClr val="9AA3B8"/>
            </a:solidFill>
            <a:prstDash val="solid"/>
          </a:ln>
        </p:spPr>
      </p:sp>
      <p:sp>
        <p:nvSpPr>
          <p:cNvPr id="10" name="Text 7"/>
          <p:cNvSpPr txBox="1"/>
          <p:nvPr/>
        </p:nvSpPr>
        <p:spPr>
          <a:xfrm>
            <a:off x="4498848" y="4462272"/>
            <a:ext cx="3154680" cy="292608"/>
          </a:xfrm>
          <a:prstGeom prst="rect">
            <a:avLst/>
          </a:prstGeom>
          <a:noFill/>
          <a:ln/>
        </p:spPr>
        <p:txBody>
          <a:bodyPr wrap="square" lIns="0" tIns="0" rIns="0" bIns="0" rtlCol="0" anchor="ctr"/>
          <a:lstStyle/>
          <a:p>
            <a:pPr indent="0" marL="0">
              <a:buNone/>
            </a:pPr>
            <a:r>
              <a:rPr lang="en-US" sz="1350" dirty="0">
                <a:solidFill>
                  <a:srgbClr val="B3261E"/>
                </a:solidFill>
                <a:latin typeface="Calibri" pitchFamily="34" charset="0"/>
                <a:ea typeface="Calibri" pitchFamily="34" charset="-122"/>
                <a:cs typeface="Calibri" pitchFamily="34" charset="-120"/>
              </a:rPr>
              <a:t>v1_tophalf · nonground</a:t>
            </a:r>
            <a:endParaRPr lang="en-US" sz="1350" dirty="0"/>
          </a:p>
        </p:txBody>
      </p:sp>
      <p:sp>
        <p:nvSpPr>
          <p:cNvPr id="11" name="Text 8"/>
          <p:cNvSpPr txBox="1"/>
          <p:nvPr/>
        </p:nvSpPr>
        <p:spPr>
          <a:xfrm>
            <a:off x="4498848" y="4773168"/>
            <a:ext cx="3200400" cy="822960"/>
          </a:xfrm>
          <a:prstGeom prst="rect">
            <a:avLst/>
          </a:prstGeom>
          <a:noFill/>
          <a:ln/>
        </p:spPr>
        <p:txBody>
          <a:bodyPr wrap="square" lIns="0" tIns="0" rIns="0" bIns="0" rtlCol="0" anchor="t"/>
          <a:lstStyle/>
          <a:p>
            <a:pPr indent="0" marL="0">
              <a:lnSpc>
                <a:spcPts val="1500"/>
              </a:lnSpc>
              <a:buNone/>
            </a:pPr>
            <a:r>
              <a:rPr lang="en-US" sz="1150" dirty="0">
                <a:solidFill>
                  <a:srgbClr val="141414"/>
                </a:solidFill>
                <a:latin typeface="Calibri" pitchFamily="34" charset="0"/>
                <a:ea typeface="Calibri" pitchFamily="34" charset="-122"/>
                <a:cs typeface="Calibri" pitchFamily="34" charset="-120"/>
              </a:rPr>
              <a:t>Zero on distractors, bought by collapsing onto six or seven spots.</a:t>
            </a:r>
            <a:endParaRPr lang="en-US" sz="1150" dirty="0"/>
          </a:p>
        </p:txBody>
      </p:sp>
      <p:sp>
        <p:nvSpPr>
          <p:cNvPr id="12" name="Shape 9"/>
          <p:cNvSpPr/>
          <p:nvPr/>
        </p:nvSpPr>
        <p:spPr>
          <a:xfrm>
            <a:off x="8083296" y="4343400"/>
            <a:ext cx="3611880" cy="1325880"/>
          </a:xfrm>
          <a:prstGeom prst="rect">
            <a:avLst/>
          </a:prstGeom>
          <a:solidFill>
            <a:srgbClr val="D5DAE8"/>
          </a:solidFill>
          <a:ln w="9525">
            <a:solidFill>
              <a:srgbClr val="9AA3B8"/>
            </a:solidFill>
            <a:prstDash val="solid"/>
          </a:ln>
        </p:spPr>
      </p:sp>
      <p:sp>
        <p:nvSpPr>
          <p:cNvPr id="13" name="Text 10"/>
          <p:cNvSpPr txBox="1"/>
          <p:nvPr/>
        </p:nvSpPr>
        <p:spPr>
          <a:xfrm>
            <a:off x="8311896" y="4462272"/>
            <a:ext cx="3154680" cy="292608"/>
          </a:xfrm>
          <a:prstGeom prst="rect">
            <a:avLst/>
          </a:prstGeom>
          <a:noFill/>
          <a:ln/>
        </p:spPr>
        <p:txBody>
          <a:bodyPr wrap="square" lIns="0" tIns="0" rIns="0" bIns="0" rtlCol="0" anchor="ctr"/>
          <a:lstStyle/>
          <a:p>
            <a:pPr indent="0" marL="0">
              <a:buNone/>
            </a:pPr>
            <a:r>
              <a:rPr lang="en-US" sz="1350" dirty="0">
                <a:solidFill>
                  <a:srgbClr val="0000D6"/>
                </a:solidFill>
                <a:latin typeface="Calibri" pitchFamily="34" charset="0"/>
                <a:ea typeface="Calibri" pitchFamily="34" charset="-122"/>
                <a:cs typeface="Calibri" pitchFamily="34" charset="-120"/>
              </a:rPr>
              <a:t>guided</a:t>
            </a:r>
            <a:endParaRPr lang="en-US" sz="1350" dirty="0"/>
          </a:p>
        </p:txBody>
      </p:sp>
      <p:sp>
        <p:nvSpPr>
          <p:cNvPr id="14" name="Text 11"/>
          <p:cNvSpPr txBox="1"/>
          <p:nvPr/>
        </p:nvSpPr>
        <p:spPr>
          <a:xfrm>
            <a:off x="8311896" y="4773168"/>
            <a:ext cx="3200400" cy="822960"/>
          </a:xfrm>
          <a:prstGeom prst="rect">
            <a:avLst/>
          </a:prstGeom>
          <a:noFill/>
          <a:ln/>
        </p:spPr>
        <p:txBody>
          <a:bodyPr wrap="square" lIns="0" tIns="0" rIns="0" bIns="0" rtlCol="0" anchor="t"/>
          <a:lstStyle/>
          <a:p>
            <a:pPr indent="0" marL="0">
              <a:lnSpc>
                <a:spcPts val="1500"/>
              </a:lnSpc>
              <a:buNone/>
            </a:pPr>
            <a:r>
              <a:rPr lang="en-US" sz="1150" dirty="0">
                <a:solidFill>
                  <a:srgbClr val="141414"/>
                </a:solidFill>
                <a:latin typeface="Calibri" pitchFamily="34" charset="0"/>
                <a:ea typeface="Calibri" pitchFamily="34" charset="-122"/>
                <a:cs typeface="Calibri" pitchFamily="34" charset="-120"/>
              </a:rPr>
              <a:t>The same 0–1% on distractors, spread across 90% of the ground.</a:t>
            </a:r>
            <a:endParaRPr lang="en-US" sz="1150" dirty="0"/>
          </a:p>
        </p:txBody>
      </p:sp>
      <p:sp>
        <p:nvSpPr>
          <p:cNvPr id="15" name="Text 12"/>
          <p:cNvSpPr txBox="1"/>
          <p:nvPr/>
        </p:nvSpPr>
        <p:spPr>
          <a:xfrm>
            <a:off x="457200" y="5760720"/>
            <a:ext cx="11292840" cy="365760"/>
          </a:xfrm>
          <a:prstGeom prst="rect">
            <a:avLst/>
          </a:prstGeom>
          <a:noFill/>
          <a:ln/>
        </p:spPr>
        <p:txBody>
          <a:bodyPr wrap="square" lIns="0" tIns="0" rIns="0" bIns="0" rtlCol="0" anchor="ctr"/>
          <a:lstStyle/>
          <a:p>
            <a:pPr indent="0" marL="0">
              <a:buNone/>
            </a:pPr>
            <a:r>
              <a:rPr lang="en-US" sz="1150" i="1" dirty="0">
                <a:solidFill>
                  <a:srgbClr val="5A5A5A"/>
                </a:solidFill>
                <a:latin typeface="Calibri" pitchFamily="34" charset="0"/>
                <a:ea typeface="Calibri" pitchFamily="34" charset="-122"/>
                <a:cs typeface="Calibri" pitchFamily="34" charset="-120"/>
              </a:rPr>
              <a:t>20260812_afternoon_wet_027 · target = yaw · white contour = the ground mask. The other two held-out groups give the same picture.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Accuracy does not move — and that is the honest headline</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457200" y="1097280"/>
            <a:ext cx="2697480" cy="1481328"/>
          </a:xfrm>
          <a:prstGeom prst="rect">
            <a:avLst/>
          </a:prstGeom>
          <a:solidFill>
            <a:srgbClr val="FFFFFF"/>
          </a:solidFill>
          <a:ln w="9525">
            <a:solidFill>
              <a:srgbClr val="9AA3B8"/>
            </a:solidFill>
            <a:prstDash val="solid"/>
          </a:ln>
        </p:spPr>
      </p:sp>
      <p:sp>
        <p:nvSpPr>
          <p:cNvPr id="6" name="Text 4"/>
          <p:cNvSpPr txBox="1"/>
          <p:nvPr/>
        </p:nvSpPr>
        <p:spPr>
          <a:xfrm>
            <a:off x="640080" y="1225296"/>
            <a:ext cx="2331720" cy="566928"/>
          </a:xfrm>
          <a:prstGeom prst="rect">
            <a:avLst/>
          </a:prstGeom>
          <a:noFill/>
          <a:ln/>
        </p:spPr>
        <p:txBody>
          <a:bodyPr wrap="square" lIns="0" tIns="0" rIns="0" bIns="0" rtlCol="0" anchor="ctr"/>
          <a:lstStyle/>
          <a:p>
            <a:pPr indent="0" marL="0">
              <a:buNone/>
            </a:pPr>
            <a:r>
              <a:rPr lang="en-US" sz="2800" dirty="0">
                <a:solidFill>
                  <a:srgbClr val="141414"/>
                </a:solidFill>
                <a:latin typeface="Calibri" pitchFamily="34" charset="0"/>
                <a:ea typeface="Calibri" pitchFamily="34" charset="-122"/>
                <a:cs typeface="Calibri" pitchFamily="34" charset="-120"/>
              </a:rPr>
              <a:t>0.011</a:t>
            </a:r>
            <a:endParaRPr lang="en-US" sz="2800" dirty="0"/>
          </a:p>
        </p:txBody>
      </p:sp>
      <p:sp>
        <p:nvSpPr>
          <p:cNvPr id="7" name="Text 5"/>
          <p:cNvSpPr txBox="1"/>
          <p:nvPr/>
        </p:nvSpPr>
        <p:spPr>
          <a:xfrm>
            <a:off x="640080" y="1792224"/>
            <a:ext cx="2331720" cy="292608"/>
          </a:xfrm>
          <a:prstGeom prst="rect">
            <a:avLst/>
          </a:prstGeom>
          <a:noFill/>
          <a:ln/>
        </p:spPr>
        <p:txBody>
          <a:bodyPr wrap="square" lIns="0" tIns="0" rIns="0" bIns="0" rtlCol="0" anchor="ctr"/>
          <a:lstStyle/>
          <a:p>
            <a:pPr indent="0" marL="0">
              <a:buNone/>
            </a:pPr>
            <a:r>
              <a:rPr lang="en-US" sz="1250" dirty="0">
                <a:solidFill>
                  <a:srgbClr val="141414"/>
                </a:solidFill>
                <a:latin typeface="Calibri" pitchFamily="34" charset="0"/>
                <a:ea typeface="Calibri" pitchFamily="34" charset="-122"/>
                <a:cs typeface="Calibri" pitchFamily="34" charset="-120"/>
              </a:rPr>
              <a:t>total spread in yaw R²</a:t>
            </a:r>
            <a:endParaRPr lang="en-US" sz="1250" dirty="0"/>
          </a:p>
        </p:txBody>
      </p:sp>
      <p:sp>
        <p:nvSpPr>
          <p:cNvPr id="8" name="Text 6"/>
          <p:cNvSpPr txBox="1"/>
          <p:nvPr/>
        </p:nvSpPr>
        <p:spPr>
          <a:xfrm>
            <a:off x="640080" y="2066544"/>
            <a:ext cx="2331720" cy="502920"/>
          </a:xfrm>
          <a:prstGeom prst="rect">
            <a:avLst/>
          </a:prstGeom>
          <a:noFill/>
          <a:ln/>
        </p:spPr>
        <p:txBody>
          <a:bodyPr wrap="square" lIns="0" tIns="0" rIns="0" bIns="0" rtlCol="0" anchor="t"/>
          <a:lstStyle/>
          <a:p>
            <a:pPr indent="0" marL="0">
              <a:lnSpc>
                <a:spcPts val="1400"/>
              </a:lnSpc>
              <a:buNone/>
            </a:pPr>
            <a:r>
              <a:rPr lang="en-US" sz="1100" dirty="0">
                <a:solidFill>
                  <a:srgbClr val="5A5A5A"/>
                </a:solidFill>
                <a:latin typeface="Calibri" pitchFamily="34" charset="0"/>
                <a:ea typeface="Calibri" pitchFamily="34" charset="-122"/>
                <a:cs typeface="Calibri" pitchFamily="34" charset="-120"/>
              </a:rPr>
              <a:t>across all six arms</a:t>
            </a:r>
            <a:endParaRPr lang="en-US" sz="1100" dirty="0"/>
          </a:p>
        </p:txBody>
      </p:sp>
      <p:sp>
        <p:nvSpPr>
          <p:cNvPr id="9" name="Shape 7"/>
          <p:cNvSpPr/>
          <p:nvPr/>
        </p:nvSpPr>
        <p:spPr>
          <a:xfrm>
            <a:off x="3337560" y="1097280"/>
            <a:ext cx="2697480" cy="1481328"/>
          </a:xfrm>
          <a:prstGeom prst="rect">
            <a:avLst/>
          </a:prstGeom>
          <a:solidFill>
            <a:srgbClr val="FFFFFF"/>
          </a:solidFill>
          <a:ln w="9525">
            <a:solidFill>
              <a:srgbClr val="9AA3B8"/>
            </a:solidFill>
            <a:prstDash val="solid"/>
          </a:ln>
        </p:spPr>
      </p:sp>
      <p:sp>
        <p:nvSpPr>
          <p:cNvPr id="10" name="Text 8"/>
          <p:cNvSpPr txBox="1"/>
          <p:nvPr/>
        </p:nvSpPr>
        <p:spPr>
          <a:xfrm>
            <a:off x="3520440" y="1225296"/>
            <a:ext cx="2331720" cy="566928"/>
          </a:xfrm>
          <a:prstGeom prst="rect">
            <a:avLst/>
          </a:prstGeom>
          <a:noFill/>
          <a:ln/>
        </p:spPr>
        <p:txBody>
          <a:bodyPr wrap="square" lIns="0" tIns="0" rIns="0" bIns="0" rtlCol="0" anchor="ctr"/>
          <a:lstStyle/>
          <a:p>
            <a:pPr indent="0" marL="0">
              <a:buNone/>
            </a:pPr>
            <a:r>
              <a:rPr lang="en-US" sz="2800" dirty="0">
                <a:solidFill>
                  <a:srgbClr val="141414"/>
                </a:solidFill>
                <a:latin typeface="Calibri" pitchFamily="34" charset="0"/>
                <a:ea typeface="Calibri" pitchFamily="34" charset="-122"/>
                <a:cs typeface="Calibri" pitchFamily="34" charset="-120"/>
              </a:rPr>
              <a:t>0.004</a:t>
            </a:r>
            <a:endParaRPr lang="en-US" sz="2800" dirty="0"/>
          </a:p>
        </p:txBody>
      </p:sp>
      <p:sp>
        <p:nvSpPr>
          <p:cNvPr id="11" name="Text 9"/>
          <p:cNvSpPr txBox="1"/>
          <p:nvPr/>
        </p:nvSpPr>
        <p:spPr>
          <a:xfrm>
            <a:off x="3520440" y="1792224"/>
            <a:ext cx="2331720" cy="292608"/>
          </a:xfrm>
          <a:prstGeom prst="rect">
            <a:avLst/>
          </a:prstGeom>
          <a:noFill/>
          <a:ln/>
        </p:spPr>
        <p:txBody>
          <a:bodyPr wrap="square" lIns="0" tIns="0" rIns="0" bIns="0" rtlCol="0" anchor="ctr"/>
          <a:lstStyle/>
          <a:p>
            <a:pPr indent="0" marL="0">
              <a:buNone/>
            </a:pPr>
            <a:r>
              <a:rPr lang="en-US" sz="1250" dirty="0">
                <a:solidFill>
                  <a:srgbClr val="141414"/>
                </a:solidFill>
                <a:latin typeface="Calibri" pitchFamily="34" charset="0"/>
                <a:ea typeface="Calibri" pitchFamily="34" charset="-122"/>
                <a:cs typeface="Calibri" pitchFamily="34" charset="-120"/>
              </a:rPr>
              <a:t>total spread in dx R²</a:t>
            </a:r>
            <a:endParaRPr lang="en-US" sz="1250" dirty="0"/>
          </a:p>
        </p:txBody>
      </p:sp>
      <p:sp>
        <p:nvSpPr>
          <p:cNvPr id="12" name="Text 10"/>
          <p:cNvSpPr txBox="1"/>
          <p:nvPr/>
        </p:nvSpPr>
        <p:spPr>
          <a:xfrm>
            <a:off x="3520440" y="2066544"/>
            <a:ext cx="2331720" cy="502920"/>
          </a:xfrm>
          <a:prstGeom prst="rect">
            <a:avLst/>
          </a:prstGeom>
          <a:noFill/>
          <a:ln/>
        </p:spPr>
        <p:txBody>
          <a:bodyPr wrap="square" lIns="0" tIns="0" rIns="0" bIns="0" rtlCol="0" anchor="t"/>
          <a:lstStyle/>
          <a:p>
            <a:pPr indent="0" marL="0">
              <a:lnSpc>
                <a:spcPts val="1400"/>
              </a:lnSpc>
              <a:buNone/>
            </a:pPr>
            <a:r>
              <a:rPr lang="en-US" sz="1100" dirty="0">
                <a:solidFill>
                  <a:srgbClr val="5A5A5A"/>
                </a:solidFill>
                <a:latin typeface="Calibri" pitchFamily="34" charset="0"/>
                <a:ea typeface="Calibri" pitchFamily="34" charset="-122"/>
                <a:cs typeface="Calibri" pitchFamily="34" charset="-120"/>
              </a:rPr>
              <a:t>across all six arms</a:t>
            </a:r>
            <a:endParaRPr lang="en-US" sz="1100" dirty="0"/>
          </a:p>
        </p:txBody>
      </p:sp>
      <p:sp>
        <p:nvSpPr>
          <p:cNvPr id="13" name="Shape 11"/>
          <p:cNvSpPr/>
          <p:nvPr/>
        </p:nvSpPr>
        <p:spPr>
          <a:xfrm>
            <a:off x="6217920" y="1097280"/>
            <a:ext cx="2697480" cy="1481328"/>
          </a:xfrm>
          <a:prstGeom prst="rect">
            <a:avLst/>
          </a:prstGeom>
          <a:solidFill>
            <a:srgbClr val="FFFFFF"/>
          </a:solidFill>
          <a:ln w="9525">
            <a:solidFill>
              <a:srgbClr val="9AA3B8"/>
            </a:solidFill>
            <a:prstDash val="solid"/>
          </a:ln>
        </p:spPr>
      </p:sp>
      <p:sp>
        <p:nvSpPr>
          <p:cNvPr id="14" name="Text 12"/>
          <p:cNvSpPr txBox="1"/>
          <p:nvPr/>
        </p:nvSpPr>
        <p:spPr>
          <a:xfrm>
            <a:off x="6400800" y="1225296"/>
            <a:ext cx="2331720" cy="566928"/>
          </a:xfrm>
          <a:prstGeom prst="rect">
            <a:avLst/>
          </a:prstGeom>
          <a:noFill/>
          <a:ln/>
        </p:spPr>
        <p:txBody>
          <a:bodyPr wrap="square" lIns="0" tIns="0" rIns="0" bIns="0" rtlCol="0" anchor="ctr"/>
          <a:lstStyle/>
          <a:p>
            <a:pPr indent="0" marL="0">
              <a:buNone/>
            </a:pPr>
            <a:r>
              <a:rPr lang="en-US" sz="2800" dirty="0">
                <a:solidFill>
                  <a:srgbClr val="B3261E"/>
                </a:solidFill>
                <a:latin typeface="Calibri" pitchFamily="34" charset="0"/>
                <a:ea typeface="Calibri" pitchFamily="34" charset="-122"/>
                <a:cs typeface="Calibri" pitchFamily="34" charset="-120"/>
              </a:rPr>
              <a:t>0.852</a:t>
            </a:r>
            <a:endParaRPr lang="en-US" sz="2800" dirty="0"/>
          </a:p>
        </p:txBody>
      </p:sp>
      <p:sp>
        <p:nvSpPr>
          <p:cNvPr id="15" name="Text 13"/>
          <p:cNvSpPr txBox="1"/>
          <p:nvPr/>
        </p:nvSpPr>
        <p:spPr>
          <a:xfrm>
            <a:off x="6400800" y="1792224"/>
            <a:ext cx="2331720" cy="292608"/>
          </a:xfrm>
          <a:prstGeom prst="rect">
            <a:avLst/>
          </a:prstGeom>
          <a:noFill/>
          <a:ln/>
        </p:spPr>
        <p:txBody>
          <a:bodyPr wrap="square" lIns="0" tIns="0" rIns="0" bIns="0" rtlCol="0" anchor="ctr"/>
          <a:lstStyle/>
          <a:p>
            <a:pPr indent="0" marL="0">
              <a:buNone/>
            </a:pPr>
            <a:r>
              <a:rPr lang="en-US" sz="1250" dirty="0">
                <a:solidFill>
                  <a:srgbClr val="141414"/>
                </a:solidFill>
                <a:latin typeface="Calibri" pitchFamily="34" charset="0"/>
                <a:ea typeface="Calibri" pitchFamily="34" charset="-122"/>
                <a:cs typeface="Calibri" pitchFamily="34" charset="-120"/>
              </a:rPr>
              <a:t>best yaw R² — control</a:t>
            </a:r>
            <a:endParaRPr lang="en-US" sz="1250" dirty="0"/>
          </a:p>
        </p:txBody>
      </p:sp>
      <p:sp>
        <p:nvSpPr>
          <p:cNvPr id="16" name="Text 14"/>
          <p:cNvSpPr txBox="1"/>
          <p:nvPr/>
        </p:nvSpPr>
        <p:spPr>
          <a:xfrm>
            <a:off x="6400800" y="2066544"/>
            <a:ext cx="2331720" cy="502920"/>
          </a:xfrm>
          <a:prstGeom prst="rect">
            <a:avLst/>
          </a:prstGeom>
          <a:noFill/>
          <a:ln/>
        </p:spPr>
        <p:txBody>
          <a:bodyPr wrap="square" lIns="0" tIns="0" rIns="0" bIns="0" rtlCol="0" anchor="t"/>
          <a:lstStyle/>
          <a:p>
            <a:pPr indent="0" marL="0">
              <a:lnSpc>
                <a:spcPts val="1400"/>
              </a:lnSpc>
              <a:buNone/>
            </a:pPr>
            <a:r>
              <a:rPr lang="en-US" sz="1100" dirty="0">
                <a:solidFill>
                  <a:srgbClr val="5A5A5A"/>
                </a:solidFill>
                <a:latin typeface="Calibri" pitchFamily="34" charset="0"/>
                <a:ea typeface="Calibri" pitchFamily="34" charset="-122"/>
                <a:cs typeface="Calibri" pitchFamily="34" charset="-120"/>
              </a:rPr>
              <a:t>the arm with no penalty at all</a:t>
            </a:r>
            <a:endParaRPr lang="en-US" sz="1100" dirty="0"/>
          </a:p>
        </p:txBody>
      </p:sp>
      <p:sp>
        <p:nvSpPr>
          <p:cNvPr id="17" name="Shape 15"/>
          <p:cNvSpPr/>
          <p:nvPr/>
        </p:nvSpPr>
        <p:spPr>
          <a:xfrm>
            <a:off x="9098280" y="1097280"/>
            <a:ext cx="2651760" cy="1481328"/>
          </a:xfrm>
          <a:prstGeom prst="rect">
            <a:avLst/>
          </a:prstGeom>
          <a:solidFill>
            <a:srgbClr val="FFFFFF"/>
          </a:solidFill>
          <a:ln w="9525">
            <a:solidFill>
              <a:srgbClr val="9AA3B8"/>
            </a:solidFill>
            <a:prstDash val="solid"/>
          </a:ln>
        </p:spPr>
      </p:sp>
      <p:sp>
        <p:nvSpPr>
          <p:cNvPr id="18" name="Text 16"/>
          <p:cNvSpPr txBox="1"/>
          <p:nvPr/>
        </p:nvSpPr>
        <p:spPr>
          <a:xfrm>
            <a:off x="9281160" y="1225296"/>
            <a:ext cx="2286000" cy="566928"/>
          </a:xfrm>
          <a:prstGeom prst="rect">
            <a:avLst/>
          </a:prstGeom>
          <a:noFill/>
          <a:ln/>
        </p:spPr>
        <p:txBody>
          <a:bodyPr wrap="square" lIns="0" tIns="0" rIns="0" bIns="0" rtlCol="0" anchor="ctr"/>
          <a:lstStyle/>
          <a:p>
            <a:pPr indent="0" marL="0">
              <a:buNone/>
            </a:pPr>
            <a:r>
              <a:rPr lang="en-US" sz="2800" dirty="0">
                <a:solidFill>
                  <a:srgbClr val="0000D6"/>
                </a:solidFill>
                <a:latin typeface="Calibri" pitchFamily="34" charset="0"/>
                <a:ea typeface="Calibri" pitchFamily="34" charset="-122"/>
                <a:cs typeface="Calibri" pitchFamily="34" charset="-120"/>
              </a:rPr>
              <a:t>0.847</a:t>
            </a:r>
            <a:endParaRPr lang="en-US" sz="2800" dirty="0"/>
          </a:p>
        </p:txBody>
      </p:sp>
      <p:sp>
        <p:nvSpPr>
          <p:cNvPr id="19" name="Text 17"/>
          <p:cNvSpPr txBox="1"/>
          <p:nvPr/>
        </p:nvSpPr>
        <p:spPr>
          <a:xfrm>
            <a:off x="9281160" y="1792224"/>
            <a:ext cx="2286000" cy="292608"/>
          </a:xfrm>
          <a:prstGeom prst="rect">
            <a:avLst/>
          </a:prstGeom>
          <a:noFill/>
          <a:ln/>
        </p:spPr>
        <p:txBody>
          <a:bodyPr wrap="square" lIns="0" tIns="0" rIns="0" bIns="0" rtlCol="0" anchor="ctr"/>
          <a:lstStyle/>
          <a:p>
            <a:pPr indent="0" marL="0">
              <a:buNone/>
            </a:pPr>
            <a:r>
              <a:rPr lang="en-US" sz="1250" dirty="0">
                <a:solidFill>
                  <a:srgbClr val="141414"/>
                </a:solidFill>
                <a:latin typeface="Calibri" pitchFamily="34" charset="0"/>
                <a:ea typeface="Calibri" pitchFamily="34" charset="-122"/>
                <a:cs typeface="Calibri" pitchFamily="34" charset="-120"/>
              </a:rPr>
              <a:t>guided</a:t>
            </a:r>
            <a:endParaRPr lang="en-US" sz="1250" dirty="0"/>
          </a:p>
        </p:txBody>
      </p:sp>
      <p:sp>
        <p:nvSpPr>
          <p:cNvPr id="20" name="Text 18"/>
          <p:cNvSpPr txBox="1"/>
          <p:nvPr/>
        </p:nvSpPr>
        <p:spPr>
          <a:xfrm>
            <a:off x="9281160" y="2066544"/>
            <a:ext cx="2286000" cy="502920"/>
          </a:xfrm>
          <a:prstGeom prst="rect">
            <a:avLst/>
          </a:prstGeom>
          <a:noFill/>
          <a:ln/>
        </p:spPr>
        <p:txBody>
          <a:bodyPr wrap="square" lIns="0" tIns="0" rIns="0" bIns="0" rtlCol="0" anchor="t"/>
          <a:lstStyle/>
          <a:p>
            <a:pPr indent="0" marL="0">
              <a:lnSpc>
                <a:spcPts val="1400"/>
              </a:lnSpc>
              <a:buNone/>
            </a:pPr>
            <a:r>
              <a:rPr lang="en-US" sz="1100" dirty="0">
                <a:solidFill>
                  <a:srgbClr val="5A5A5A"/>
                </a:solidFill>
                <a:latin typeface="Calibri" pitchFamily="34" charset="0"/>
                <a:ea typeface="Calibri" pitchFamily="34" charset="-122"/>
                <a:cs typeface="Calibri" pitchFamily="34" charset="-120"/>
              </a:rPr>
              <a:t>inside the noise</a:t>
            </a:r>
            <a:endParaRPr lang="en-US" sz="1100" dirty="0"/>
          </a:p>
        </p:txBody>
      </p:sp>
      <p:sp>
        <p:nvSpPr>
          <p:cNvPr id="21" name="Text 19"/>
          <p:cNvSpPr txBox="1"/>
          <p:nvPr/>
        </p:nvSpPr>
        <p:spPr>
          <a:xfrm>
            <a:off x="457200" y="3017520"/>
            <a:ext cx="5486400" cy="347472"/>
          </a:xfrm>
          <a:prstGeom prst="rect">
            <a:avLst/>
          </a:prstGeom>
          <a:noFill/>
          <a:ln/>
        </p:spPr>
        <p:txBody>
          <a:bodyPr wrap="square" lIns="0" tIns="0" rIns="0" bIns="0" rtlCol="0" anchor="ctr"/>
          <a:lstStyle/>
          <a:p>
            <a:pPr indent="0" marL="0">
              <a:buNone/>
            </a:pPr>
            <a:r>
              <a:rPr lang="en-US" sz="1800" dirty="0">
                <a:solidFill>
                  <a:srgbClr val="B3261E"/>
                </a:solidFill>
                <a:latin typeface="Calibri" pitchFamily="34" charset="0"/>
                <a:ea typeface="Calibri" pitchFamily="34" charset="-122"/>
                <a:cs typeface="Calibri" pitchFamily="34" charset="-120"/>
              </a:rPr>
              <a:t>What this rules out</a:t>
            </a:r>
            <a:endParaRPr lang="en-US" sz="1800" dirty="0"/>
          </a:p>
        </p:txBody>
      </p:sp>
      <p:sp>
        <p:nvSpPr>
          <p:cNvPr id="22" name="Text 20"/>
          <p:cNvSpPr txBox="1"/>
          <p:nvPr/>
        </p:nvSpPr>
        <p:spPr>
          <a:xfrm>
            <a:off x="457200" y="3456432"/>
            <a:ext cx="5486400" cy="201168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250" dirty="0">
                <a:solidFill>
                  <a:srgbClr val="141414"/>
                </a:solidFill>
                <a:latin typeface="Calibri" pitchFamily="34" charset="0"/>
                <a:ea typeface="Calibri" pitchFamily="34" charset="-122"/>
                <a:cs typeface="Calibri" pitchFamily="34" charset="-120"/>
              </a:rPr>
              <a:t>The v1 claim that attention guidance improves accuracy.</a:t>
            </a:r>
            <a:endParaRPr lang="en-US" sz="1250" dirty="0"/>
          </a:p>
          <a:p>
            <a:pPr marL="342900" indent="-342900">
              <a:lnSpc>
                <a:spcPts val="1900"/>
              </a:lnSpc>
              <a:spcAft>
                <a:spcPts val="800"/>
              </a:spcAft>
              <a:buSzPct val="100000"/>
              <a:buChar char="•"/>
            </a:pPr>
            <a:r>
              <a:rPr lang="en-US" sz="1250" dirty="0">
                <a:solidFill>
                  <a:srgbClr val="141414"/>
                </a:solidFill>
                <a:latin typeface="Calibri" pitchFamily="34" charset="0"/>
                <a:ea typeface="Calibri" pitchFamily="34" charset="-122"/>
                <a:cs typeface="Calibri" pitchFamily="34" charset="-120"/>
              </a:rPr>
              <a:t>Any reading in which the ranking of these arms by R² is meaningful — the whole span is smaller than the gap between two held-out runs.</a:t>
            </a:r>
            <a:endParaRPr lang="en-US" sz="1250" dirty="0"/>
          </a:p>
        </p:txBody>
      </p:sp>
      <p:sp>
        <p:nvSpPr>
          <p:cNvPr id="23" name="Text 21"/>
          <p:cNvSpPr txBox="1"/>
          <p:nvPr/>
        </p:nvSpPr>
        <p:spPr>
          <a:xfrm>
            <a:off x="6263640" y="3017520"/>
            <a:ext cx="5486400" cy="347472"/>
          </a:xfrm>
          <a:prstGeom prst="rect">
            <a:avLst/>
          </a:prstGeom>
          <a:noFill/>
          <a:ln/>
        </p:spPr>
        <p:txBody>
          <a:bodyPr wrap="square" lIns="0" tIns="0" rIns="0" bIns="0" rtlCol="0" anchor="ctr"/>
          <a:lstStyle/>
          <a:p>
            <a:pPr indent="0" marL="0">
              <a:buNone/>
            </a:pPr>
            <a:r>
              <a:rPr lang="en-US" sz="1800" dirty="0">
                <a:solidFill>
                  <a:srgbClr val="1B7A3D"/>
                </a:solidFill>
                <a:latin typeface="Calibri" pitchFamily="34" charset="0"/>
                <a:ea typeface="Calibri" pitchFamily="34" charset="-122"/>
                <a:cs typeface="Calibri" pitchFamily="34" charset="-120"/>
              </a:rPr>
              <a:t>What survives</a:t>
            </a:r>
            <a:endParaRPr lang="en-US" sz="1800" dirty="0"/>
          </a:p>
        </p:txBody>
      </p:sp>
      <p:sp>
        <p:nvSpPr>
          <p:cNvPr id="24" name="Text 22"/>
          <p:cNvSpPr txBox="1"/>
          <p:nvPr/>
        </p:nvSpPr>
        <p:spPr>
          <a:xfrm>
            <a:off x="6263640" y="3456432"/>
            <a:ext cx="5486400" cy="201168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250" dirty="0">
                <a:solidFill>
                  <a:srgbClr val="141414"/>
                </a:solidFill>
                <a:latin typeface="Calibri" pitchFamily="34" charset="0"/>
                <a:ea typeface="Calibri" pitchFamily="34" charset="-122"/>
                <a:cs typeface="Calibri" pitchFamily="34" charset="-120"/>
              </a:rPr>
              <a:t>The intervention is free: it redirects where the model looks without paying for it in accuracy.</a:t>
            </a:r>
            <a:endParaRPr lang="en-US" sz="1250" dirty="0"/>
          </a:p>
          <a:p>
            <a:pPr marL="342900" indent="-342900">
              <a:lnSpc>
                <a:spcPts val="1900"/>
              </a:lnSpc>
              <a:spcAft>
                <a:spcPts val="800"/>
              </a:spcAft>
              <a:buSzPct val="100000"/>
              <a:buChar char="•"/>
            </a:pPr>
            <a:r>
              <a:rPr lang="en-US" sz="1250" dirty="0">
                <a:solidFill>
                  <a:srgbClr val="141414"/>
                </a:solidFill>
                <a:latin typeface="Calibri" pitchFamily="34" charset="0"/>
                <a:ea typeface="Calibri" pitchFamily="34" charset="-122"/>
                <a:cs typeface="Calibri" pitchFamily="34" charset="-120"/>
              </a:rPr>
              <a:t>That is the claim an interpretability method should be making. Accuracy was never the mechanism it acts on.</a:t>
            </a:r>
            <a:endParaRPr lang="en-US" sz="1250" dirty="0"/>
          </a:p>
        </p:txBody>
      </p:sp>
      <p:sp>
        <p:nvSpPr>
          <p:cNvPr id="25" name="Shape 23"/>
          <p:cNvSpPr/>
          <p:nvPr/>
        </p:nvSpPr>
        <p:spPr>
          <a:xfrm>
            <a:off x="457200" y="5074920"/>
            <a:ext cx="11292840" cy="960120"/>
          </a:xfrm>
          <a:prstGeom prst="rect">
            <a:avLst/>
          </a:prstGeom>
          <a:solidFill>
            <a:srgbClr val="D5DAE8"/>
          </a:solidFill>
          <a:ln w="9525">
            <a:solidFill>
              <a:srgbClr val="9AA3B8"/>
            </a:solidFill>
            <a:prstDash val="solid"/>
          </a:ln>
        </p:spPr>
      </p:sp>
      <p:sp>
        <p:nvSpPr>
          <p:cNvPr id="26" name="Text 24"/>
          <p:cNvSpPr txBox="1"/>
          <p:nvPr/>
        </p:nvSpPr>
        <p:spPr>
          <a:xfrm>
            <a:off x="731520" y="5257800"/>
            <a:ext cx="10744200" cy="548640"/>
          </a:xfrm>
          <a:prstGeom prst="rect">
            <a:avLst/>
          </a:prstGeom>
          <a:noFill/>
          <a:ln/>
        </p:spPr>
        <p:txBody>
          <a:bodyPr wrap="square" lIns="0" tIns="0" rIns="0" bIns="0" rtlCol="0" anchor="t"/>
          <a:lstStyle/>
          <a:p>
            <a:pPr indent="0" marL="0">
              <a:lnSpc>
                <a:spcPts val="1700"/>
              </a:lnSpc>
              <a:buNone/>
            </a:pPr>
            <a:r>
              <a:rPr lang="en-US" sz="1300" dirty="0">
                <a:solidFill>
                  <a:srgbClr val="0000D6"/>
                </a:solidFill>
                <a:latin typeface="Calibri" pitchFamily="34" charset="0"/>
                <a:ea typeface="Calibri" pitchFamily="34" charset="-122"/>
                <a:cs typeface="Calibri" pitchFamily="34" charset="-120"/>
              </a:rPr>
              <a:t>The claim to make: the intervention moves WHERE the model looks, measurably and reproducibly, and costs nothing in accuracy. Not: it makes the model better.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The spread term is almost free, and λ is not a knife-edge</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lambda_sweep.png">    </p:cNvPr>
          <p:cNvPicPr>
            <a:picLocks noChangeAspect="1"/>
          </p:cNvPicPr>
          <p:nvPr/>
        </p:nvPicPr>
        <p:blipFill>
          <a:blip r:embed="rId1"/>
          <a:stretch>
            <a:fillRect/>
          </a:stretch>
        </p:blipFill>
        <p:spPr>
          <a:xfrm>
            <a:off x="777240" y="1097280"/>
            <a:ext cx="10607040" cy="4288536"/>
          </a:xfrm>
          <a:prstGeom prst="rect">
            <a:avLst/>
          </a:prstGeom>
        </p:spPr>
      </p:pic>
      <p:sp>
        <p:nvSpPr>
          <p:cNvPr id="6" name="Text 3"/>
          <p:cNvSpPr txBox="1"/>
          <p:nvPr/>
        </p:nvSpPr>
        <p:spPr>
          <a:xfrm>
            <a:off x="457200" y="5486400"/>
            <a:ext cx="11292840" cy="548640"/>
          </a:xfrm>
          <a:prstGeom prst="rect">
            <a:avLst/>
          </a:prstGeom>
          <a:noFill/>
          <a:ln/>
        </p:spPr>
        <p:txBody>
          <a:bodyPr wrap="square" lIns="0" tIns="0" rIns="0" bIns="0" rtlCol="0" anchor="t"/>
          <a:lstStyle/>
          <a:p>
            <a:pPr indent="0" marL="0">
              <a:lnSpc>
                <a:spcPts val="1600"/>
              </a:lnSpc>
              <a:buNone/>
            </a:pPr>
            <a:r>
              <a:rPr lang="en-US" sz="1250" dirty="0">
                <a:solidFill>
                  <a:srgbClr val="141414"/>
                </a:solidFill>
                <a:latin typeface="Calibri" pitchFamily="34" charset="0"/>
                <a:ea typeface="Calibri" pitchFamily="34" charset="-122"/>
                <a:cs typeface="Calibri" pitchFamily="34" charset="-120"/>
              </a:rPr>
              <a:t>λ_spread = 0.25 already recovers three quarters of the lost spread while the distractor share stays under 1.3%. A fourfold change in λ_rrr moves coverage by 0.10. Nothing here rests on a tuned constant.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What was checked, and what still limits the result</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Text 3"/>
          <p:cNvSpPr txBox="1"/>
          <p:nvPr/>
        </p:nvSpPr>
        <p:spPr>
          <a:xfrm>
            <a:off x="457200" y="1051560"/>
            <a:ext cx="5577840" cy="310896"/>
          </a:xfrm>
          <a:prstGeom prst="rect">
            <a:avLst/>
          </a:prstGeom>
          <a:noFill/>
          <a:ln/>
        </p:spPr>
        <p:txBody>
          <a:bodyPr wrap="square" lIns="0" tIns="0" rIns="0" bIns="0" rtlCol="0" anchor="ctr"/>
          <a:lstStyle/>
          <a:p>
            <a:pPr indent="0" marL="0">
              <a:buNone/>
            </a:pPr>
            <a:r>
              <a:rPr lang="en-US" sz="1350" dirty="0">
                <a:solidFill>
                  <a:srgbClr val="0000D6"/>
                </a:solidFill>
                <a:latin typeface="Calibri" pitchFamily="34" charset="0"/>
                <a:ea typeface="Calibri" pitchFamily="34" charset="-122"/>
                <a:cs typeface="Calibri" pitchFamily="34" charset="-120"/>
              </a:rPr>
              <a:t>The whole study was run twice, under two different definitions of “ground”</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5577840" cy="914400"/>
        </p:xfrm>
        <a:graphic>
          <a:graphicData uri="http://schemas.openxmlformats.org/drawingml/2006/table">
            <a:tbl>
              <a:tblPr/>
              <a:tblGrid>
                <a:gridCol w="1645920"/>
                <a:gridCol w="2057400"/>
                <a:gridCol w="1874520"/>
              </a:tblGrid>
              <a:tr h="402336">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coverage</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first mask (65.6%)</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corrected (68.2%)</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guided</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0.837</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0.869</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nonground</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0.182</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0.215</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v1_tophalf</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0.240</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Calibri" pitchFamily="34" charset="0"/>
                          <a:ea typeface="Calibri" pitchFamily="34" charset="-122"/>
                          <a:cs typeface="Calibri" pitchFamily="34" charset="-120"/>
                        </a:rPr>
                        <a:t>0.248</a:t>
                      </a:r>
                      <a:endParaRPr lang="en-US" sz="1200" dirty="0">
                        <a:latin typeface="Calibri" charset="0"/>
                        <a:ea typeface="Calibri" charset="0"/>
                        <a:cs typeface="Calibri" charset="0"/>
                      </a:endParaRPr>
                    </a:p>
                  </a:txBody>
                  <a:tcPr marL="91440" marR="91440" marT="45720" marB="45720"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3246120"/>
            <a:ext cx="5577840" cy="594360"/>
          </a:xfrm>
          <a:prstGeom prst="rect">
            <a:avLst/>
          </a:prstGeom>
          <a:noFill/>
          <a:ln/>
        </p:spPr>
        <p:txBody>
          <a:bodyPr wrap="square" lIns="0" tIns="0" rIns="0" bIns="0" rtlCol="0" anchor="t"/>
          <a:lstStyle/>
          <a:p>
            <a:pPr indent="0" marL="0">
              <a:lnSpc>
                <a:spcPts val="1600"/>
              </a:lnSpc>
              <a:buNone/>
            </a:pPr>
            <a:r>
              <a:rPr lang="en-US" sz="1200" i="1" dirty="0">
                <a:solidFill>
                  <a:srgbClr val="5A5A5A"/>
                </a:solidFill>
                <a:latin typeface="Calibri" pitchFamily="34" charset="0"/>
                <a:ea typeface="Calibri" pitchFamily="34" charset="-122"/>
                <a:cs typeface="Calibri" pitchFamily="34" charset="-120"/>
              </a:rPr>
              <a:t>The ordering is identical under both. The conclusion does not depend on where exactly the mud boundary is drawn.</a:t>
            </a:r>
            <a:endParaRPr lang="en-US" sz="1200" dirty="0"/>
          </a:p>
        </p:txBody>
      </p:sp>
      <p:sp>
        <p:nvSpPr>
          <p:cNvPr id="8" name="Shape 5"/>
          <p:cNvSpPr/>
          <p:nvPr/>
        </p:nvSpPr>
        <p:spPr>
          <a:xfrm>
            <a:off x="457200" y="3977640"/>
            <a:ext cx="5577840" cy="1691640"/>
          </a:xfrm>
          <a:prstGeom prst="rect">
            <a:avLst/>
          </a:prstGeom>
          <a:solidFill>
            <a:srgbClr val="FFFFFF"/>
          </a:solidFill>
          <a:ln w="9525">
            <a:solidFill>
              <a:srgbClr val="9AA3B8"/>
            </a:solidFill>
            <a:prstDash val="solid"/>
          </a:ln>
        </p:spPr>
      </p:sp>
      <p:sp>
        <p:nvSpPr>
          <p:cNvPr id="9" name="Text 6"/>
          <p:cNvSpPr txBox="1"/>
          <p:nvPr/>
        </p:nvSpPr>
        <p:spPr>
          <a:xfrm>
            <a:off x="713232" y="4114800"/>
            <a:ext cx="5029200" cy="310896"/>
          </a:xfrm>
          <a:prstGeom prst="rect">
            <a:avLst/>
          </a:prstGeom>
          <a:noFill/>
          <a:ln/>
        </p:spPr>
        <p:txBody>
          <a:bodyPr wrap="square" lIns="0" tIns="0" rIns="0" bIns="0" rtlCol="0" anchor="ctr"/>
          <a:lstStyle/>
          <a:p>
            <a:pPr indent="0" marL="0">
              <a:buNone/>
            </a:pPr>
            <a:r>
              <a:rPr lang="en-US" sz="1500" dirty="0">
                <a:solidFill>
                  <a:srgbClr val="1B7A3D"/>
                </a:solidFill>
                <a:latin typeface="Calibri" pitchFamily="34" charset="0"/>
                <a:ea typeface="Calibri" pitchFamily="34" charset="-122"/>
                <a:cs typeface="Calibri" pitchFamily="34" charset="-120"/>
              </a:rPr>
              <a:t>Also checked</a:t>
            </a:r>
            <a:endParaRPr lang="en-US" sz="1500" dirty="0"/>
          </a:p>
        </p:txBody>
      </p:sp>
      <p:sp>
        <p:nvSpPr>
          <p:cNvPr id="10" name="Text 7"/>
          <p:cNvSpPr txBox="1"/>
          <p:nvPr/>
        </p:nvSpPr>
        <p:spPr>
          <a:xfrm>
            <a:off x="713232" y="4462272"/>
            <a:ext cx="5029200" cy="109728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150" dirty="0">
                <a:solidFill>
                  <a:srgbClr val="141414"/>
                </a:solidFill>
                <a:latin typeface="Calibri" pitchFamily="34" charset="0"/>
                <a:ea typeface="Calibri" pitchFamily="34" charset="-122"/>
                <a:cs typeface="Calibri" pitchFamily="34" charset="-120"/>
              </a:rPr>
              <a:t>Depth audit of the sky mask: 98.6% containment, 0.01% leak into near ground.</a:t>
            </a:r>
            <a:endParaRPr lang="en-US" sz="1150" dirty="0"/>
          </a:p>
          <a:p>
            <a:pPr marL="342900" indent="-342900">
              <a:lnSpc>
                <a:spcPts val="1900"/>
              </a:lnSpc>
              <a:spcAft>
                <a:spcPts val="800"/>
              </a:spcAft>
              <a:buSzPct val="100000"/>
              <a:buChar char="•"/>
            </a:pPr>
            <a:r>
              <a:rPr lang="en-US" sz="1150" dirty="0">
                <a:solidFill>
                  <a:srgbClr val="141414"/>
                </a:solidFill>
                <a:latin typeface="Calibri" pitchFamily="34" charset="0"/>
                <a:ea typeface="Calibri" pitchFamily="34" charset="-122"/>
                <a:cs typeface="Calibri" pitchFamily="34" charset="-120"/>
              </a:rPr>
              <a:t>Image-quality screening of all 63 runs — none flagged.</a:t>
            </a:r>
            <a:endParaRPr lang="en-US" sz="1150" dirty="0"/>
          </a:p>
        </p:txBody>
      </p:sp>
      <p:sp>
        <p:nvSpPr>
          <p:cNvPr id="11" name="Shape 8"/>
          <p:cNvSpPr/>
          <p:nvPr/>
        </p:nvSpPr>
        <p:spPr>
          <a:xfrm>
            <a:off x="6446520" y="1051560"/>
            <a:ext cx="5303520" cy="4617720"/>
          </a:xfrm>
          <a:prstGeom prst="rect">
            <a:avLst/>
          </a:prstGeom>
          <a:solidFill>
            <a:srgbClr val="D5DAE8"/>
          </a:solidFill>
          <a:ln w="9525">
            <a:solidFill>
              <a:srgbClr val="9AA3B8"/>
            </a:solidFill>
            <a:prstDash val="solid"/>
          </a:ln>
        </p:spPr>
      </p:sp>
      <p:sp>
        <p:nvSpPr>
          <p:cNvPr id="12" name="Text 9"/>
          <p:cNvSpPr txBox="1"/>
          <p:nvPr/>
        </p:nvSpPr>
        <p:spPr>
          <a:xfrm>
            <a:off x="6720840" y="1216152"/>
            <a:ext cx="4754880" cy="347472"/>
          </a:xfrm>
          <a:prstGeom prst="rect">
            <a:avLst/>
          </a:prstGeom>
          <a:noFill/>
          <a:ln/>
        </p:spPr>
        <p:txBody>
          <a:bodyPr wrap="square" lIns="0" tIns="0" rIns="0" bIns="0" rtlCol="0" anchor="ctr"/>
          <a:lstStyle/>
          <a:p>
            <a:pPr indent="0" marL="0">
              <a:buNone/>
            </a:pPr>
            <a:r>
              <a:rPr lang="en-US" sz="1800" dirty="0">
                <a:solidFill>
                  <a:srgbClr val="B3261E"/>
                </a:solidFill>
                <a:latin typeface="Calibri" pitchFamily="34" charset="0"/>
                <a:ea typeface="Calibri" pitchFamily="34" charset="-122"/>
                <a:cs typeface="Calibri" pitchFamily="34" charset="-120"/>
              </a:rPr>
              <a:t>Limitations, stated up front</a:t>
            </a:r>
            <a:endParaRPr lang="en-US" sz="1800" dirty="0"/>
          </a:p>
        </p:txBody>
      </p:sp>
      <p:sp>
        <p:nvSpPr>
          <p:cNvPr id="13" name="Text 10"/>
          <p:cNvSpPr txBox="1"/>
          <p:nvPr/>
        </p:nvSpPr>
        <p:spPr>
          <a:xfrm>
            <a:off x="6720840" y="1664208"/>
            <a:ext cx="4754880" cy="379476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Every wet training row comes from one day — “wet” and that day cannot be told apart by this model.</a:t>
            </a:r>
            <a:endParaRPr lang="en-US" sz="1200" dirty="0"/>
          </a:p>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The collection is 82% wet. The dry numbers rest on 966 held-out rows and are never pooled into a headline.</a:t>
            </a:r>
            <a:endParaRPr lang="en-US" sz="1200" dirty="0"/>
          </a:p>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The ground mask still assigns ~2% of the terrain band to “plant”. It was deliberately not folded into ground: that class appears just as often at the horizon, where it really is vegetation.</a:t>
            </a:r>
            <a:endParaRPr lang="en-US" sz="1200" dirty="0"/>
          </a:p>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The base model stopped at epoch 10 with its best validation at epoch 6; epochs 7–12 were all worse.</a:t>
            </a:r>
            <a:endParaRPr lang="en-US" sz="1200" dirty="0"/>
          </a:p>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Three extra epochs is a short fine-tune. Nothing here says the effect would survive a full retrain from scratch.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sp>
      <p:sp>
        <p:nvSpPr>
          <p:cNvPr id="3" name="Text 1"/>
          <p:cNvSpPr txBox="1"/>
          <p:nvPr/>
        </p:nvSpPr>
        <p:spPr>
          <a:xfrm>
            <a:off x="411480" y="54864"/>
            <a:ext cx="11338560" cy="7315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Summary &amp; next steps</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algn="r" indent="0" marL="0">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548640" y="1143000"/>
            <a:ext cx="502920" cy="502920"/>
          </a:xfrm>
          <a:prstGeom prst="ellipse">
            <a:avLst/>
          </a:prstGeom>
          <a:solidFill>
            <a:srgbClr val="0000D6"/>
          </a:solidFill>
          <a:ln w="6350">
            <a:solidFill>
              <a:srgbClr val="0000D6"/>
            </a:solidFill>
            <a:prstDash val="solid"/>
          </a:ln>
        </p:spPr>
      </p:sp>
      <p:sp>
        <p:nvSpPr>
          <p:cNvPr id="6" name="Text 4"/>
          <p:cNvSpPr txBox="1"/>
          <p:nvPr/>
        </p:nvSpPr>
        <p:spPr>
          <a:xfrm>
            <a:off x="548640" y="1143000"/>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34440" y="1161288"/>
            <a:ext cx="2423160" cy="457200"/>
          </a:xfrm>
          <a:prstGeom prst="rect">
            <a:avLst/>
          </a:prstGeom>
          <a:noFill/>
          <a:ln/>
        </p:spPr>
        <p:txBody>
          <a:bodyPr wrap="square" lIns="0" tIns="0" rIns="0" bIns="0" rtlCol="0" anchor="t"/>
          <a:lstStyle/>
          <a:p>
            <a:pPr indent="0" marL="0">
              <a:buNone/>
            </a:pPr>
            <a:r>
              <a:rPr lang="en-US" sz="1600" dirty="0">
                <a:solidFill>
                  <a:srgbClr val="0000D6"/>
                </a:solidFill>
                <a:latin typeface="Calibri" pitchFamily="34" charset="0"/>
                <a:ea typeface="Calibri" pitchFamily="34" charset="-122"/>
                <a:cs typeface="Calibri" pitchFamily="34" charset="-120"/>
              </a:rPr>
              <a:t>The region</a:t>
            </a:r>
            <a:endParaRPr lang="en-US" sz="1600" dirty="0"/>
          </a:p>
        </p:txBody>
      </p:sp>
      <p:sp>
        <p:nvSpPr>
          <p:cNvPr id="8" name="Text 6"/>
          <p:cNvSpPr txBox="1"/>
          <p:nvPr/>
        </p:nvSpPr>
        <p:spPr>
          <a:xfrm>
            <a:off x="3749040" y="1161288"/>
            <a:ext cx="795528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A per-frame segmentation mask replaces “the top half”, audited against depth and diagnosed class by class.</a:t>
            </a:r>
            <a:endParaRPr lang="en-US" sz="1300" dirty="0"/>
          </a:p>
        </p:txBody>
      </p:sp>
      <p:sp>
        <p:nvSpPr>
          <p:cNvPr id="9" name="Shape 7"/>
          <p:cNvSpPr/>
          <p:nvPr/>
        </p:nvSpPr>
        <p:spPr>
          <a:xfrm>
            <a:off x="548640" y="2167128"/>
            <a:ext cx="502920" cy="502920"/>
          </a:xfrm>
          <a:prstGeom prst="ellipse">
            <a:avLst/>
          </a:prstGeom>
          <a:solidFill>
            <a:srgbClr val="0000D6"/>
          </a:solidFill>
          <a:ln w="6350">
            <a:solidFill>
              <a:srgbClr val="0000D6"/>
            </a:solidFill>
            <a:prstDash val="solid"/>
          </a:ln>
        </p:spPr>
      </p:sp>
      <p:sp>
        <p:nvSpPr>
          <p:cNvPr id="10" name="Text 8"/>
          <p:cNvSpPr txBox="1"/>
          <p:nvPr/>
        </p:nvSpPr>
        <p:spPr>
          <a:xfrm>
            <a:off x="548640" y="2167128"/>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34440" y="2185416"/>
            <a:ext cx="2423160" cy="457200"/>
          </a:xfrm>
          <a:prstGeom prst="rect">
            <a:avLst/>
          </a:prstGeom>
          <a:noFill/>
          <a:ln/>
        </p:spPr>
        <p:txBody>
          <a:bodyPr wrap="square" lIns="0" tIns="0" rIns="0" bIns="0" rtlCol="0" anchor="t"/>
          <a:lstStyle/>
          <a:p>
            <a:pPr indent="0" marL="0">
              <a:buNone/>
            </a:pPr>
            <a:r>
              <a:rPr lang="en-US" sz="1600" dirty="0">
                <a:solidFill>
                  <a:srgbClr val="0000D6"/>
                </a:solidFill>
                <a:latin typeface="Calibri" pitchFamily="34" charset="0"/>
                <a:ea typeface="Calibri" pitchFamily="34" charset="-122"/>
                <a:cs typeface="Calibri" pitchFamily="34" charset="-120"/>
              </a:rPr>
              <a:t>The missing term</a:t>
            </a:r>
            <a:endParaRPr lang="en-US" sz="1600" dirty="0"/>
          </a:p>
        </p:txBody>
      </p:sp>
      <p:sp>
        <p:nvSpPr>
          <p:cNvPr id="12" name="Text 10"/>
          <p:cNvSpPr txBox="1"/>
          <p:nvPr/>
        </p:nvSpPr>
        <p:spPr>
          <a:xfrm>
            <a:off x="3749040" y="2185416"/>
            <a:ext cx="795528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Penalizing the outside alone collapses the attention. The entropy term is what makes the intervention work.</a:t>
            </a:r>
            <a:endParaRPr lang="en-US" sz="1300" dirty="0"/>
          </a:p>
        </p:txBody>
      </p:sp>
      <p:sp>
        <p:nvSpPr>
          <p:cNvPr id="13" name="Shape 11"/>
          <p:cNvSpPr/>
          <p:nvPr/>
        </p:nvSpPr>
        <p:spPr>
          <a:xfrm>
            <a:off x="548640" y="3191256"/>
            <a:ext cx="502920" cy="502920"/>
          </a:xfrm>
          <a:prstGeom prst="ellipse">
            <a:avLst/>
          </a:prstGeom>
          <a:solidFill>
            <a:srgbClr val="0000D6"/>
          </a:solidFill>
          <a:ln w="6350">
            <a:solidFill>
              <a:srgbClr val="0000D6"/>
            </a:solidFill>
            <a:prstDash val="solid"/>
          </a:ln>
        </p:spPr>
      </p:sp>
      <p:sp>
        <p:nvSpPr>
          <p:cNvPr id="14" name="Text 12"/>
          <p:cNvSpPr txBox="1"/>
          <p:nvPr/>
        </p:nvSpPr>
        <p:spPr>
          <a:xfrm>
            <a:off x="548640" y="3191256"/>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234440" y="3209544"/>
            <a:ext cx="2423160" cy="457200"/>
          </a:xfrm>
          <a:prstGeom prst="rect">
            <a:avLst/>
          </a:prstGeom>
          <a:noFill/>
          <a:ln/>
        </p:spPr>
        <p:txBody>
          <a:bodyPr wrap="square" lIns="0" tIns="0" rIns="0" bIns="0" rtlCol="0" anchor="t"/>
          <a:lstStyle/>
          <a:p>
            <a:pPr indent="0" marL="0">
              <a:buNone/>
            </a:pPr>
            <a:r>
              <a:rPr lang="en-US" sz="1600" dirty="0">
                <a:solidFill>
                  <a:srgbClr val="0000D6"/>
                </a:solidFill>
                <a:latin typeface="Calibri" pitchFamily="34" charset="0"/>
                <a:ea typeface="Calibri" pitchFamily="34" charset="-122"/>
                <a:cs typeface="Calibri" pitchFamily="34" charset="-120"/>
              </a:rPr>
              <a:t>The honest result</a:t>
            </a:r>
            <a:endParaRPr lang="en-US" sz="1600" dirty="0"/>
          </a:p>
        </p:txBody>
      </p:sp>
      <p:sp>
        <p:nvSpPr>
          <p:cNvPr id="16" name="Text 14"/>
          <p:cNvSpPr txBox="1"/>
          <p:nvPr/>
        </p:nvSpPr>
        <p:spPr>
          <a:xfrm>
            <a:off x="3749040" y="3209544"/>
            <a:ext cx="795528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19× less attention on distractors, spread slightly wider than the unguided model, at no accuracy cost.</a:t>
            </a:r>
            <a:endParaRPr lang="en-US" sz="1300" dirty="0"/>
          </a:p>
        </p:txBody>
      </p:sp>
      <p:sp>
        <p:nvSpPr>
          <p:cNvPr id="17" name="Shape 15"/>
          <p:cNvSpPr/>
          <p:nvPr/>
        </p:nvSpPr>
        <p:spPr>
          <a:xfrm>
            <a:off x="548640" y="4215384"/>
            <a:ext cx="502920" cy="502920"/>
          </a:xfrm>
          <a:prstGeom prst="ellipse">
            <a:avLst/>
          </a:prstGeom>
          <a:solidFill>
            <a:srgbClr val="0000D6"/>
          </a:solidFill>
          <a:ln w="6350">
            <a:solidFill>
              <a:srgbClr val="0000D6"/>
            </a:solidFill>
            <a:prstDash val="solid"/>
          </a:ln>
        </p:spPr>
      </p:sp>
      <p:sp>
        <p:nvSpPr>
          <p:cNvPr id="18" name="Text 16"/>
          <p:cNvSpPr txBox="1"/>
          <p:nvPr/>
        </p:nvSpPr>
        <p:spPr>
          <a:xfrm>
            <a:off x="548640" y="4215384"/>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1234440" y="4233672"/>
            <a:ext cx="2423160" cy="457200"/>
          </a:xfrm>
          <a:prstGeom prst="rect">
            <a:avLst/>
          </a:prstGeom>
          <a:noFill/>
          <a:ln/>
        </p:spPr>
        <p:txBody>
          <a:bodyPr wrap="square" lIns="0" tIns="0" rIns="0" bIns="0" rtlCol="0" anchor="t"/>
          <a:lstStyle/>
          <a:p>
            <a:pPr indent="0" marL="0">
              <a:buNone/>
            </a:pPr>
            <a:r>
              <a:rPr lang="en-US" sz="1600" dirty="0">
                <a:solidFill>
                  <a:srgbClr val="0000D6"/>
                </a:solidFill>
                <a:latin typeface="Calibri" pitchFamily="34" charset="0"/>
                <a:ea typeface="Calibri" pitchFamily="34" charset="-122"/>
                <a:cs typeface="Calibri" pitchFamily="34" charset="-120"/>
              </a:rPr>
              <a:t>What is not claimed</a:t>
            </a:r>
            <a:endParaRPr lang="en-US" sz="1600" dirty="0"/>
          </a:p>
        </p:txBody>
      </p:sp>
      <p:sp>
        <p:nvSpPr>
          <p:cNvPr id="20" name="Text 18"/>
          <p:cNvSpPr txBox="1"/>
          <p:nvPr/>
        </p:nvSpPr>
        <p:spPr>
          <a:xfrm>
            <a:off x="3749040" y="4233672"/>
            <a:ext cx="7955280" cy="777240"/>
          </a:xfrm>
          <a:prstGeom prst="rect">
            <a:avLst/>
          </a:prstGeom>
          <a:noFill/>
          <a:ln/>
        </p:spPr>
        <p:txBody>
          <a:bodyPr wrap="square" lIns="0" tIns="0" rIns="0" bIns="0" rtlCol="0" anchor="t"/>
          <a:lstStyle/>
          <a:p>
            <a:pPr indent="0" marL="0">
              <a:lnSpc>
                <a:spcPts val="1700"/>
              </a:lnSpc>
              <a:buNone/>
            </a:pPr>
            <a:r>
              <a:rPr lang="en-US" sz="1300" dirty="0">
                <a:solidFill>
                  <a:srgbClr val="141414"/>
                </a:solidFill>
                <a:latin typeface="Calibri" pitchFamily="34" charset="0"/>
                <a:ea typeface="Calibri" pitchFamily="34" charset="-122"/>
                <a:cs typeface="Calibri" pitchFamily="34" charset="-120"/>
              </a:rPr>
              <a:t>Attention guidance does not improve accuracy here. The no-penalty control matches every guided arm.</a:t>
            </a:r>
            <a:endParaRPr lang="en-US" sz="1300" dirty="0"/>
          </a:p>
        </p:txBody>
      </p:sp>
      <p:sp>
        <p:nvSpPr>
          <p:cNvPr id="21" name="Shape 19"/>
          <p:cNvSpPr/>
          <p:nvPr/>
        </p:nvSpPr>
        <p:spPr>
          <a:xfrm>
            <a:off x="457200" y="5349240"/>
            <a:ext cx="11292840" cy="868680"/>
          </a:xfrm>
          <a:prstGeom prst="rect">
            <a:avLst/>
          </a:prstGeom>
          <a:solidFill>
            <a:srgbClr val="D5DAE8"/>
          </a:solidFill>
          <a:ln w="9525">
            <a:solidFill>
              <a:srgbClr val="9AA3B8"/>
            </a:solidFill>
            <a:prstDash val="solid"/>
          </a:ln>
        </p:spPr>
      </p:sp>
      <p:sp>
        <p:nvSpPr>
          <p:cNvPr id="22" name="Text 20"/>
          <p:cNvSpPr txBox="1"/>
          <p:nvPr/>
        </p:nvSpPr>
        <p:spPr>
          <a:xfrm>
            <a:off x="731520" y="5504688"/>
            <a:ext cx="10744200" cy="548640"/>
          </a:xfrm>
          <a:prstGeom prst="rect">
            <a:avLst/>
          </a:prstGeom>
          <a:noFill/>
          <a:ln/>
        </p:spPr>
        <p:txBody>
          <a:bodyPr wrap="square" lIns="0" tIns="0" rIns="0" bIns="0" rtlCol="0" anchor="t"/>
          <a:lstStyle/>
          <a:p>
            <a:pPr indent="0" marL="0">
              <a:lnSpc>
                <a:spcPts val="1600"/>
              </a:lnSpc>
              <a:buNone/>
            </a:pPr>
            <a:r>
              <a:rPr lang="en-US" sz="1200" dirty="0">
                <a:solidFill>
                  <a:srgbClr val="141414"/>
                </a:solidFill>
                <a:latin typeface="Calibri" pitchFamily="34" charset="0"/>
                <a:ea typeface="Calibri" pitchFamily="34" charset="-122"/>
                <a:cs typeface="Calibri" pitchFamily="34" charset="-120"/>
              </a:rPr>
              <a:t>Next:  collect dry data on a second day so “wet” and 20260827 can be separated  ·  repeat the sweep with multiple seeds  ·  test whether a model guided this way degrades more gracefully when the terrain changes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ViT-Motion v0.3 — region-guided attention</dc:title>
  <dc:subject>PptxGenJS Presentation</dc:subject>
  <dc:creator>Saman</dc:creator>
  <cp:lastModifiedBy>Saman</cp:lastModifiedBy>
  <cp:revision>1</cp:revision>
  <dcterms:created xsi:type="dcterms:W3CDTF">2026-09-01T04:08:19Z</dcterms:created>
  <dcterms:modified xsi:type="dcterms:W3CDTF">2026-09-01T04:08:19Z</dcterms:modified>
</cp:coreProperties>
</file>