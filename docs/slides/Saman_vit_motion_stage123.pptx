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9" r:id="rId9"/>
    <p:sldId id="262" r:id="rId10"/>
    <p:sldId id="270" r:id="rId11"/>
    <p:sldId id="271" r:id="rId12"/>
    <p:sldId id="272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552" autoAdjust="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0692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Today I'm presenting work on interpretable vision transformers for motion prediction. The model — we call it </a:t>
            </a:r>
            <a:r>
              <a:rPr lang="en-US" dirty="0" err="1"/>
              <a:t>vit_motion</a:t>
            </a:r>
            <a:r>
              <a:rPr lang="en-US" dirty="0"/>
              <a:t> — fuses a </a:t>
            </a:r>
            <a:r>
              <a:rPr lang="en-US" dirty="0" err="1"/>
              <a:t>ViT</a:t>
            </a:r>
            <a:r>
              <a:rPr lang="en-US" dirty="0"/>
              <a:t>-tiny visual encoder with numeric motion signals to predict how a tracked vehicle moves next. But the real story isn't just accuracy — it's a three-stage investigation: first we observe what the model actually looks at, then we quantify a weakness we find, and finally we fix it with a targeted intervention and measure the effect."</a:t>
            </a:r>
          </a:p>
          <a:p>
            <a:pPr rtl="0"/>
            <a:r>
              <a:rPr lang="en-US" b="1" dirty="0"/>
              <a:t>Transition:</a:t>
            </a:r>
            <a:r>
              <a:rPr lang="en-US" dirty="0"/>
              <a:t> "Let's start with what the data looks like."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BCE91-7608-8A5F-29A8-BC406A609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C6061-7F47-F4D1-391E-B4F1FC347B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505D26-6213-0592-176A-B8852E975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setup. The model gets one image token from the camera frame, plus six numeric tokens describing recent pose and speed. </a:t>
            </a:r>
            <a:r>
              <a:rPr lang="en-US" b="1" dirty="0"/>
              <a:t>Transition:</a:t>
            </a:r>
            <a:r>
              <a:rPr lang="en-US" dirty="0"/>
              <a:t> "To understand why, I need to explain how the model is actually built, and how we're able to look inside it."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6789A-A61D-1A75-5B5A-FAE790C391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5987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"This is a multimodal regression transformer, not a classifier — it outputs a continuous next-step motion: dx, </a:t>
            </a:r>
            <a:r>
              <a:rPr lang="en-US" dirty="0" err="1"/>
              <a:t>dy</a:t>
            </a:r>
            <a:r>
              <a:rPr lang="en-US" dirty="0"/>
              <a:t>, and yaw. The visual branch is a </a:t>
            </a:r>
            <a:r>
              <a:rPr lang="en-US" dirty="0" err="1"/>
              <a:t>ViT</a:t>
            </a:r>
            <a:r>
              <a:rPr lang="en-US" dirty="0"/>
              <a:t>-tiny encoder, average-pooled down to a single image token. The numeric branch takes six time steps of five signals — pose deltas and track speeds. Those seven tokens — one image, six numeric — get fused through a two-layer transformer.</a:t>
            </a:r>
          </a:p>
          <a:p>
            <a:pPr rtl="0"/>
            <a:r>
              <a:rPr lang="en-US" dirty="0"/>
              <a:t>Because there's no class label to explain, we can't just run standard classifier interpretability tools out of the box. So we use three complementary methods: Grad-CAM tells us </a:t>
            </a:r>
            <a:r>
              <a:rPr lang="en-US" i="1" dirty="0"/>
              <a:t>where in the image</a:t>
            </a:r>
            <a:r>
              <a:rPr lang="en-US" dirty="0"/>
              <a:t> the prediction is coming from; Integrated Gradients tells us which numeric channels matter; and Attention Rollout tells us how much weight goes to the image token versus the numeric tokens. Each one answers a different question, and each has to be adapted to a regression target — dx, </a:t>
            </a:r>
            <a:r>
              <a:rPr lang="en-US" dirty="0" err="1"/>
              <a:t>dy</a:t>
            </a:r>
            <a:r>
              <a:rPr lang="en-US" dirty="0"/>
              <a:t>, yaw, or their combined magnitude."</a:t>
            </a:r>
          </a:p>
          <a:p>
            <a:pPr rtl="0"/>
            <a:r>
              <a:rPr lang="en-US" b="1" dirty="0"/>
              <a:t>Transition:</a:t>
            </a:r>
            <a:r>
              <a:rPr lang="en-US" dirty="0"/>
              <a:t> "So — does the model actually perform well? Let's check accuracy first."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"On forward motion, dx, we get R² of 0.86, mean error under a centimeter. On turning, yaw, R² of 0.93. Lateral motion, </a:t>
            </a:r>
            <a:r>
              <a:rPr lang="en-US" dirty="0" err="1"/>
              <a:t>dy</a:t>
            </a:r>
            <a:r>
              <a:rPr lang="en-US" dirty="0"/>
              <a:t>, looks weak at R² 0.16 — but that's not a model failure. Lateral motion in this setup is essentially near-zero noise; there's barely any real signal to explain, and the model's 4mm error is already at the noise floor. So: dx and yaw, the motions that actually matter here, are predicted well."</a:t>
            </a:r>
          </a:p>
          <a:p>
            <a:pPr rtl="0"/>
            <a:r>
              <a:rPr lang="en-US" b="1" dirty="0"/>
              <a:t>Transition:</a:t>
            </a:r>
            <a:r>
              <a:rPr lang="en-US" dirty="0"/>
              <a:t> "Given that accuracy, the natural question is: how much is the model actually relying on the image to get there?"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"We already saw the number — about 24% of attention weight goes to the image token. Put in context: the most recent numeric step gets the most weight, which makes sense, the model is strongly autoregressive. But the image token is the </a:t>
            </a:r>
            <a:r>
              <a:rPr lang="en-US" i="1" dirty="0"/>
              <a:t>second</a:t>
            </a:r>
            <a:r>
              <a:rPr lang="en-US" dirty="0"/>
              <a:t>-heaviest single token in the whole fusion — heavier than any individual past numeric step. So this isn't a token the model ignores. It's genuinely multimodal."</a:t>
            </a:r>
          </a:p>
          <a:p>
            <a:pPr rtl="0"/>
            <a:r>
              <a:rPr lang="en-US" b="1" dirty="0"/>
              <a:t>Transition:</a:t>
            </a:r>
            <a:r>
              <a:rPr lang="en-US" dirty="0"/>
              <a:t> "Okay, so the model is looking at the image. The next question is the important one: </a:t>
            </a:r>
            <a:r>
              <a:rPr lang="en-US" i="1" dirty="0"/>
              <a:t>where</a:t>
            </a:r>
            <a:r>
              <a:rPr lang="en-US" dirty="0"/>
              <a:t> in the image is it looking?"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"This is where we use Grad-CAM to visualize the saliency map for yaw prediction. And here's the issue — the saliency is split between the man-made structure, the horizon and trees, and patches of open sky. For a ground vehicle, the actual motion cue should come from the ground and terrain. But a lot of attention is landing </a:t>
            </a:r>
            <a:r>
              <a:rPr lang="en-US" i="1" dirty="0"/>
              <a:t>above</a:t>
            </a:r>
            <a:r>
              <a:rPr lang="en-US" dirty="0"/>
              <a:t> the horizon, on sky that shouldn't tell us anything about how the vehicle is moving.</a:t>
            </a:r>
          </a:p>
          <a:p>
            <a:pPr rtl="0"/>
            <a:r>
              <a:rPr lang="en-US" dirty="0"/>
              <a:t>That gives us a hypothesis: if we can force the model to focus on the ground, we make it 'right for the right reasons' — and that should improve robustness."</a:t>
            </a:r>
          </a:p>
          <a:p>
            <a:pPr rtl="0"/>
            <a:r>
              <a:rPr lang="en-US" b="1" dirty="0"/>
              <a:t>Transition:</a:t>
            </a:r>
            <a:r>
              <a:rPr lang="en-US" dirty="0"/>
              <a:t> "That's a qualitative observation from looking at one image. Let's turn it into a number we can actually measure and defend."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"We measured the fraction of Grad-CAM saliency mass that falls above the horizon, averaged across 240 samples over six experiments. The result: 50%. And sky also happens to occupy 50% of the frame. So the ratio is exactly 1.0 — the model shows </a:t>
            </a:r>
            <a:r>
              <a:rPr lang="en-US" i="1" dirty="0"/>
              <a:t>zero</a:t>
            </a:r>
            <a:r>
              <a:rPr lang="en-US" dirty="0"/>
              <a:t> preference for the ground. It attends to sky exactly as much as sky's share of the image, no more, no less. That's the quantified weakness: the visual attention is essentially indifferent to what's actually task-relevant."</a:t>
            </a:r>
          </a:p>
          <a:p>
            <a:pPr rtl="0"/>
            <a:r>
              <a:rPr lang="en-US" b="1" dirty="0"/>
              <a:t>Transition:</a:t>
            </a:r>
            <a:r>
              <a:rPr lang="en-US" dirty="0"/>
              <a:t> "Now that we have a number to target, we can design an intervention that directly minimizes it."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earlier inconsistency came from penalizing one quantity and visualizing another; here they are aligned.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"We fine-tuned the trained model with an added penalty on exactly that sky-saliency fraction we just measured — this is the </a:t>
            </a:r>
            <a:r>
              <a:rPr lang="en-US" dirty="0" err="1"/>
              <a:t>RobustViT</a:t>
            </a:r>
            <a:r>
              <a:rPr lang="en-US" dirty="0"/>
              <a:t> approach, 'right for the right reasons,' from </a:t>
            </a:r>
            <a:r>
              <a:rPr lang="en-US" dirty="0" err="1"/>
              <a:t>Chefer</a:t>
            </a:r>
            <a:r>
              <a:rPr lang="en-US" dirty="0"/>
              <a:t> et al., </a:t>
            </a:r>
            <a:r>
              <a:rPr lang="en-US" dirty="0" err="1"/>
              <a:t>NeurIPS</a:t>
            </a:r>
            <a:r>
              <a:rPr lang="en-US" dirty="0"/>
              <a:t> 2022. We minimize the sky fraction directly through differentiable input-saliency, over just three short epochs. Training sky-fraction dropped from 0.042 down to 0.006, down to 0.003 — and the resulting saliency distribution visibly shifts toward the ground."</a:t>
            </a:r>
          </a:p>
          <a:p>
            <a:pPr rtl="0"/>
            <a:r>
              <a:rPr lang="en-US" b="1" dirty="0"/>
              <a:t>Transition:</a:t>
            </a:r>
            <a:r>
              <a:rPr lang="en-US" dirty="0"/>
              <a:t> "So the training-time penalty clearly worked during training. Did it actually change the model's real-world behavior and accuracy?"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Definitive result. Measuring the optimized quantity gives a clean, consistent shift; accuracy improves.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no sky-fraction number here, to avoid clashing with the input-grad ~0 on the previous slide. The sky claim lives on slide 8 under one measure. Sky reduction also holds across all lambda under an independent Grad-CAM check (talking point, not shown to keep numbers clean).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 -&gt; quantify -&gt; intervene, all with one consistent set of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011680"/>
            <a:ext cx="10332720" cy="1554480"/>
          </a:xfrm>
          <a:prstGeom prst="rect">
            <a:avLst/>
          </a:prstGeom>
          <a:solidFill>
            <a:srgbClr val="0000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97280" y="210312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Vision Transformers for Motion Analysis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60120" y="3749040"/>
            <a:ext cx="10058400" cy="21991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Saman</a:t>
            </a:r>
          </a:p>
          <a:p>
            <a:pPr marL="0" indent="0">
              <a:buNone/>
            </a:pPr>
            <a:endParaRPr lang="en-US" b="1" dirty="0">
              <a:solidFill>
                <a:srgbClr val="14141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20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→ 3 — Observation, Quantification, and an Attention-Guided Intervention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vit_motion · ViT-tiny + temporal fusion · tracked-vehicle motion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589520" y="64739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Photonics Lab, NCTU</a:t>
            </a:r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C4564A-2BBC-553F-C282-28365FE45DD1}"/>
              </a:ext>
            </a:extLst>
          </p:cNvPr>
          <p:cNvSpPr txBox="1"/>
          <p:nvPr/>
        </p:nvSpPr>
        <p:spPr>
          <a:xfrm>
            <a:off x="1422400" y="4572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B6B43E-75DC-D15F-768A-62BB9DFF7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1669E0F-4466-BE09-3914-86F766CB4D96}"/>
              </a:ext>
            </a:extLst>
          </p:cNvPr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0000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073D544-42A3-668A-5DDA-C086A4DAE8D3}"/>
              </a:ext>
            </a:extLst>
          </p:cNvPr>
          <p:cNvSpPr/>
          <p:nvPr/>
        </p:nvSpPr>
        <p:spPr>
          <a:xfrm>
            <a:off x="411480" y="5486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1C43E39-806E-406F-94EA-3E1EB6F891B8}"/>
              </a:ext>
            </a:extLst>
          </p:cNvPr>
          <p:cNvSpPr/>
          <p:nvPr/>
        </p:nvSpPr>
        <p:spPr>
          <a:xfrm>
            <a:off x="7589520" y="64739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Photonics Lab, NCTU</a:t>
            </a:r>
            <a:endParaRPr lang="en-US" sz="11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3B24DC0-8658-C3CD-0E26-53C6228671A4}"/>
              </a:ext>
            </a:extLst>
          </p:cNvPr>
          <p:cNvSpPr/>
          <p:nvPr/>
        </p:nvSpPr>
        <p:spPr>
          <a:xfrm>
            <a:off x="8321040" y="178308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~24%</a:t>
            </a:r>
            <a:endParaRPr lang="en-US" sz="46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B59B025-65BF-39DE-98C1-2029976F11FC}"/>
              </a:ext>
            </a:extLst>
          </p:cNvPr>
          <p:cNvSpPr/>
          <p:nvPr/>
        </p:nvSpPr>
        <p:spPr>
          <a:xfrm>
            <a:off x="502920" y="4160520"/>
            <a:ext cx="11155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endParaRPr lang="en-US" sz="15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3E145E-DBA7-46EB-424E-C03FAB8C5D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73"/>
          <a:stretch>
            <a:fillRect/>
          </a:stretch>
        </p:blipFill>
        <p:spPr>
          <a:xfrm>
            <a:off x="878711" y="2078644"/>
            <a:ext cx="10779889" cy="38977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D1877D-AA00-932F-4A05-62B127899689}"/>
              </a:ext>
            </a:extLst>
          </p:cNvPr>
          <p:cNvSpPr txBox="1"/>
          <p:nvPr/>
        </p:nvSpPr>
        <p:spPr>
          <a:xfrm>
            <a:off x="502920" y="1177173"/>
            <a:ext cx="6223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Adding some visualization for a better understanding of the data</a:t>
            </a:r>
          </a:p>
        </p:txBody>
      </p:sp>
    </p:spTree>
    <p:extLst>
      <p:ext uri="{BB962C8B-B14F-4D97-AF65-F5344CB8AC3E}">
        <p14:creationId xmlns:p14="http://schemas.microsoft.com/office/powerpoint/2010/main" val="1803391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0000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model, and how we open it up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589520" y="64739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Photonics Lab, NCTU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5486400" cy="5029200"/>
          </a:xfrm>
          <a:prstGeom prst="roundRect">
            <a:avLst>
              <a:gd name="adj" fmla="val 1273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blurRad="63500" dist="25400" dir="5400000" algn="bl" rotWithShape="0">
              <a:srgbClr val="9A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0700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multimodal regression transformer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1572768"/>
            <a:ext cx="4983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branch</a:t>
            </a: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ViT-tiny encoder (avg-pooled) → 1 image token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branch</a:t>
            </a: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5 signals (pose deltas + track speeds)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2-layer Transformer over [1 image + 6 numeric] tokens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regression of next-step motion [dx, dy, dyaw] — no class logit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7680" y="5805055"/>
            <a:ext cx="4983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 is multimodal regression (not classification), every explanation is reduced to a scalar target: dx / dy / yaw / ‖·‖.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062182"/>
            <a:ext cx="55778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blurRad="63500" dist="25400" dir="5400000" algn="bl" rotWithShape="0">
              <a:srgbClr val="9A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55080" y="1554480"/>
            <a:ext cx="548640" cy="548640"/>
          </a:xfrm>
          <a:prstGeom prst="ellipse">
            <a:avLst/>
          </a:prstGeom>
          <a:solidFill>
            <a:srgbClr val="0000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5508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40880" y="12344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0" y="165506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 the </a:t>
            </a:r>
            <a:r>
              <a:rPr lang="en-US" sz="125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frame </a:t>
            </a: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prediction comes from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40880" y="21671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0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Selvaraju 2017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743200"/>
            <a:ext cx="55778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blurRad="63500" dist="25400" dir="5400000" algn="bl" rotWithShape="0">
              <a:srgbClr val="9A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55080" y="3246120"/>
            <a:ext cx="548640" cy="548640"/>
          </a:xfrm>
          <a:prstGeom prst="ellipse">
            <a:avLst/>
          </a:prstGeom>
          <a:solidFill>
            <a:srgbClr val="0000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5508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40880" y="2926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Gradients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334670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 attribution over the </a:t>
            </a:r>
            <a:r>
              <a:rPr lang="en-US" sz="125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sequence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040880" y="3858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0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Sundararajan 2017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4434840"/>
            <a:ext cx="55778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blurRad="63500" dist="25400" dir="5400000" algn="bl" rotWithShape="0">
              <a:srgbClr val="9A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355080" y="4937760"/>
            <a:ext cx="548640" cy="548640"/>
          </a:xfrm>
          <a:prstGeom prst="ellipse">
            <a:avLst/>
          </a:prstGeom>
          <a:solidFill>
            <a:srgbClr val="0000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55080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40880" y="46177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Rollout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0880" y="503834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token vs. the 6 numeric tokens in fusion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040880" y="55504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0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Abnar &amp; Zuidema 2020</a:t>
            </a:r>
            <a:endParaRPr lang="en-US" sz="11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B2501B4-3312-1625-0AE1-1D5B87D740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376"/>
          <a:stretch>
            <a:fillRect/>
          </a:stretch>
        </p:blipFill>
        <p:spPr>
          <a:xfrm>
            <a:off x="1554480" y="3560431"/>
            <a:ext cx="3673302" cy="25203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0000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— accurate on forward motion and turning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589520" y="64739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Photonics Lab, NCTU</a:t>
            </a:r>
            <a:endParaRPr lang="en-US" sz="1100" dirty="0"/>
          </a:p>
        </p:txBody>
      </p:sp>
      <p:pic>
        <p:nvPicPr>
          <p:cNvPr id="5" name="Image 0" descr="/home/claude/deck/img/p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7772400" cy="4297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5394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experiment · 473 samples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366760" y="1143000"/>
            <a:ext cx="333756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blurRad="63500" dist="25400" dir="5400000" algn="bl" rotWithShape="0">
              <a:srgbClr val="9A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49640" y="12527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(forward)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549640" y="154533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50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</a:t>
            </a:r>
            <a:r>
              <a:rPr lang="en-US" sz="280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0.857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10195560" y="165506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9.9 mm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366760" y="2606040"/>
            <a:ext cx="333756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blurRad="63500" dist="25400" dir="5400000" algn="bl" rotWithShape="0">
              <a:srgbClr val="9A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549640" y="27157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 (turning)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549640" y="300837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50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</a:t>
            </a:r>
            <a:r>
              <a:rPr lang="en-US" sz="280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0.928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10195560" y="311810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0.20°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366760" y="4069080"/>
            <a:ext cx="333756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blurRad="63500" dist="25400" dir="5400000" algn="bl" rotWithShape="0">
              <a:srgbClr val="9A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549640" y="41788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 (lateral)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549640" y="447141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0.16</a:t>
            </a:r>
            <a:endParaRPr lang="en-US" sz="2500" dirty="0"/>
          </a:p>
        </p:txBody>
      </p:sp>
      <p:sp>
        <p:nvSpPr>
          <p:cNvPr id="18" name="Text 15"/>
          <p:cNvSpPr/>
          <p:nvPr/>
        </p:nvSpPr>
        <p:spPr>
          <a:xfrm>
            <a:off x="10195560" y="45811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4.0 mm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366760" y="55778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 has low R² because lateral body-frame motion here is near-zero noise (little variance to explain) — its 4 mm error is already at the noise floor, not a model failure.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0000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— the vision branch is genuinely used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589520" y="64739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Photonics Lab, NCTU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321040" y="1554480"/>
            <a:ext cx="3429000" cy="2286000"/>
          </a:xfrm>
          <a:prstGeom prst="roundRect">
            <a:avLst>
              <a:gd name="adj" fmla="val 2800"/>
            </a:avLst>
          </a:prstGeom>
          <a:solidFill>
            <a:srgbClr val="0000D6"/>
          </a:solidFill>
          <a:ln w="12700">
            <a:solidFill>
              <a:srgbClr val="D5DAE8"/>
            </a:solidFill>
            <a:prstDash val="solid"/>
          </a:ln>
          <a:effectLst>
            <a:outerShdw blurRad="63500" dist="25400" dir="5400000" algn="bl" rotWithShape="0">
              <a:srgbClr val="9A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321040" y="178308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~24%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485632" y="26974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D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decision weight goes to the image token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4160520"/>
            <a:ext cx="11155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recent numeric step (t-0) carries the most weight — the model is strongly autoregressive.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image is the 2nd-heaviest token, not a passenger — the model is genuinely multimodal.</a:t>
            </a:r>
            <a:endParaRPr lang="en-US" sz="15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FBCC9-FE04-BF5D-659E-58DEE3F02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2361"/>
            <a:ext cx="8233096" cy="2818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0000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— but WHERE does it look? (Grad-CAM, yaw)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589520" y="64739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Photonics Lab, NCTU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6309360" y="1188720"/>
            <a:ext cx="539496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blurRad="63500" dist="25400" dir="5400000" algn="bl" rotWithShape="0">
              <a:srgbClr val="9A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537960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observation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583680" y="18745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Saliency is split between the man-made structure, the horizon/trees, and patches of sky.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ground vehicle the motion cue is the ground/terrain — yet much attention lands above the horizon.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forcing focus onto the ground makes the model "right for the right reasons" and should help robustness.</a:t>
            </a:r>
            <a:endParaRPr lang="en-US" sz="14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85543F-DF69-27B5-C4BA-84A15B86AD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8"/>
          <a:stretch>
            <a:fillRect/>
          </a:stretch>
        </p:blipFill>
        <p:spPr>
          <a:xfrm>
            <a:off x="466780" y="3429000"/>
            <a:ext cx="5787280" cy="19870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238419-9F34-C244-50E5-D4B57A0E1E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780" y="1188720"/>
            <a:ext cx="5787280" cy="19692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0000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quantify: half the visual attention is wasted on sky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589520" y="64739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Photonics Lab, NCTU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635240" y="1280160"/>
            <a:ext cx="4114800" cy="2011680"/>
          </a:xfrm>
          <a:prstGeom prst="roundRect">
            <a:avLst>
              <a:gd name="adj" fmla="val 3182"/>
            </a:avLst>
          </a:prstGeom>
          <a:solidFill>
            <a:srgbClr val="F1F3F9"/>
          </a:solidFill>
          <a:ln w="12700">
            <a:solidFill>
              <a:srgbClr val="D5DAE8"/>
            </a:solidFill>
            <a:prstDash val="solid"/>
          </a:ln>
          <a:effectLst>
            <a:outerShdw blurRad="63500" dist="25400" dir="5400000" algn="bl" rotWithShape="0">
              <a:srgbClr val="9A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635240" y="14173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7863840" y="22860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visual saliency falls on the sky — which is 50% of the frame (ratio 0.96×)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35240" y="347472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fraction of Grad-CAM mass above the horizon, averaged over 240 samples across 6 experiments.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shows NO preference for the ground — it attends to sky exactly as much as its area share.</a:t>
            </a:r>
            <a:endParaRPr lang="en-US" sz="1350" dirty="0"/>
          </a:p>
        </p:txBody>
      </p:sp>
      <p:pic>
        <p:nvPicPr>
          <p:cNvPr id="11" name="Image 0" descr="/home/claude/deck/img/sky_base_ig.png">
            <a:extLst>
              <a:ext uri="{FF2B5EF4-FFF2-40B4-BE49-F238E27FC236}">
                <a16:creationId xmlns:a16="http://schemas.microsoft.com/office/drawing/2014/main" id="{B7C31BA3-9571-B176-F26C-9371E3723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43000"/>
            <a:ext cx="70408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0000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intervention: attention-guided fine-tuning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589520" y="64739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Photonics Lab, NCTU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6492240" cy="4389120"/>
          </a:xfrm>
          <a:prstGeom prst="roundRect">
            <a:avLst>
              <a:gd name="adj" fmla="val 1458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blurRad="63500" dist="25400" dir="5400000" algn="bl" rotWithShape="0">
              <a:srgbClr val="9A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5989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from the trained model with a penalty on the sky saliency fraction (RobustViT / Right-for-Right-Reasons).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fix: we penalize, measure, AND visualize the SAME quantity — input-gradient saliency of the yaw target — so the number and the picture agree.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short epochs, penalty weight λ = 1.0. Training sky-fraction fell 0.037 → 0.002.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49834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0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Chefer et al., RobustViT, NeurIPS 2022  ·  Ross et al., Right for the Right Reasons, IJCAI 2017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223760" y="1737360"/>
            <a:ext cx="4480560" cy="3108960"/>
          </a:xfrm>
          <a:prstGeom prst="roundRect">
            <a:avLst>
              <a:gd name="adj" fmla="val 2059"/>
            </a:avLst>
          </a:prstGeom>
          <a:solidFill>
            <a:srgbClr val="0000D6"/>
          </a:solidFill>
          <a:ln w="12700">
            <a:solidFill>
              <a:srgbClr val="D5DAE8"/>
            </a:solidFill>
            <a:prstDash val="solid"/>
          </a:ln>
          <a:effectLst>
            <a:outerShdw blurRad="63500" dist="25400" dir="5400000" algn="bl" rotWithShape="0">
              <a:srgbClr val="9A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223760" y="19659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D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06640" y="25146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loss  +  λ · (sky saliency fraction)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406640" y="38404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DD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exactly the number measured in Stage 2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0000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intervention: attention-guided fine-tuning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589520" y="64739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Photonics Lab, NCTU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DB6D9C-7871-DD07-795D-398B2F14C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725" y="1147342"/>
            <a:ext cx="7772300" cy="45719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0000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— attention moves to the ground, accuracy improves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589520" y="64739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Photonics Lab, NCTU</a:t>
            </a:r>
            <a:endParaRPr lang="en-US" sz="1100" dirty="0"/>
          </a:p>
        </p:txBody>
      </p:sp>
      <p:pic>
        <p:nvPicPr>
          <p:cNvPr id="5" name="Image 0" descr="/home/claude/deck/img/before_after_alig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5212080" cy="4818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58521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Input-gradient saliency (the quantity optimized), target = yaw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52160" y="1143000"/>
            <a:ext cx="58521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blurRad="63500" dist="25400" dir="5400000" algn="bl" rotWithShape="0">
              <a:srgbClr val="9A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035040" y="1234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 saliency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0" y="1234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  →  </a:t>
            </a:r>
            <a:r>
              <a:rPr lang="en-US" sz="2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515600" y="1280160"/>
            <a:ext cx="1143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ground now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52160" y="2514600"/>
            <a:ext cx="58521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blurRad="63500" dist="25400" dir="5400000" algn="bl" rotWithShape="0">
              <a:srgbClr val="9A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0350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 R²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0" y="2606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0.857  →  </a:t>
            </a:r>
            <a:r>
              <a:rPr lang="en-US" sz="260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0.870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0515600" y="2651760"/>
            <a:ext cx="1143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motion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852160" y="3886200"/>
            <a:ext cx="58521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blurRad="63500" dist="25400" dir="5400000" algn="bl" rotWithShape="0">
              <a:srgbClr val="9A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035040" y="3977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  R²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229600" y="3977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0.928  →  </a:t>
            </a:r>
            <a:r>
              <a:rPr lang="en-US" sz="260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0.938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0515600" y="4023360"/>
            <a:ext cx="1143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852160" y="544068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read: </a:t>
            </a: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sky→0 is the directly-optimized quantity, so its drop is expected. The independent wins: accuracy improved and the effect is consistent across 240 samples (variance 0.12 → 0.001).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0000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across λ — and causal (the control)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589520" y="64739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Photonics Lab, NCTU</a:t>
            </a:r>
            <a:endParaRPr lang="en-US" sz="1100" dirty="0"/>
          </a:p>
        </p:txBody>
      </p:sp>
      <p:pic>
        <p:nvPicPr>
          <p:cNvPr id="5" name="Image 0" descr="/home/claude/deck/img/lambda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7040880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80960" y="1280160"/>
            <a:ext cx="4023360" cy="4206240"/>
          </a:xfrm>
          <a:prstGeom prst="roundRect">
            <a:avLst>
              <a:gd name="adj" fmla="val 1591"/>
            </a:avLst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  <a:effectLst>
            <a:outerShdw blurRad="63500" dist="25400" dir="5400000" algn="bl" rotWithShape="0">
              <a:srgbClr val="9A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90956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sweep shows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909560" y="192024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holds or improves for every λ: yaw R² peaks at λ=1 (0.934 ≥ baseline 0.928), dx R² 0.863 ≥ 0.857.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(λ=0, no penalty) gives the lowest yaw R² and no focus gain — so the improvement needs the penalty, it is not just extra training.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1.0 is the operating point used for the result on the previous slide.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0000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54864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589520" y="647395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Photonics Lab, NCTU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502920" cy="502920"/>
          </a:xfrm>
          <a:prstGeom prst="ellipse">
            <a:avLst/>
          </a:prstGeom>
          <a:solidFill>
            <a:srgbClr val="0000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3258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0" y="13258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on dx (R² 0.857) &amp; yaw (0.928); image carries ~24% of the decision; attention leaks onto the sky.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2468880"/>
            <a:ext cx="502920" cy="502920"/>
          </a:xfrm>
          <a:prstGeom prst="ellipse">
            <a:avLst/>
          </a:prstGeom>
          <a:solidFill>
            <a:srgbClr val="0000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4231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242316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 saliency = 48% (≈ its 50% area) over 240 samples — a measurable weakness.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3566160"/>
            <a:ext cx="502920" cy="502920"/>
          </a:xfrm>
          <a:prstGeom prst="ellipse">
            <a:avLst/>
          </a:prstGeom>
          <a:solidFill>
            <a:srgbClr val="0000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520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0" y="35204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fine-tune (λ=1) → sky saliency 48% → ~0% (consistent); dx R² 0.857→0.870, yaw 0.928→0.938; control confirms causality.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4663440"/>
            <a:ext cx="502920" cy="502920"/>
          </a:xfrm>
          <a:prstGeom prst="ellipse">
            <a:avLst/>
          </a:prstGeom>
          <a:solidFill>
            <a:srgbClr val="B326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4663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46177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57600" y="46177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shift on unoptimized views, reduce per-frame variance (multi-seed), better sky mask, test held-out (wet / afternoon).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9436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Grad-CAM · Integrated Gradients · Attention Rollout · RobustViT (Chefer, NeurIPS 2022) · RRR (Ross, IJCAI 2017)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</TotalTime>
  <Words>1996</Words>
  <Application>Microsoft Office PowerPoint</Application>
  <PresentationFormat>Widescreen</PresentationFormat>
  <Paragraphs>141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Saman 2C</cp:lastModifiedBy>
  <cp:revision>16</cp:revision>
  <dcterms:created xsi:type="dcterms:W3CDTF">2026-08-17T07:48:11Z</dcterms:created>
  <dcterms:modified xsi:type="dcterms:W3CDTF">2026-08-21T07:27:08Z</dcterms:modified>
</cp:coreProperties>
</file>