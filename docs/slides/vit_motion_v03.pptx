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collection, 63 runs, 31,864 rows. Everything in this deck is measured on 4,927 held-out rows the model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alignment point matters: penalize, measure and visualize the same scalar. Everything downstream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An advisor trusts the rest of the deck more once the previous claim has been retracted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are reported apart because they fail for different reasons: a new day tests appearance shift, new runs test trajectory variety.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half_recall_of_sky = 1.00 with IoU 0.19 means the top half contains all the sky and is five times too big. 24% of it is the surface the vehicle drives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bias test is the control: tree scores 0.0 and building 0.0 because they belong at the top of the frame. plant scores 1.3 and was deliberately NOT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ran before training: mean ground area, untrusted share, per-day trusted fraction. All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two-term split is the contribution. Everything else is machinery to make it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start from the same base checkpoint, 3 epochs, 200 steps, target = yaw. The base model never sees a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left panel first. Lowering the distractor share is not the finding — a penalty on a region always does that. The finding is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samples per arm, 8 held-out experiments, 30 frames each. Untrusted frames are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frame, same saliency, same mask, four models. The collapse in the middle two panels is visible without reading a caption.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one out loud rather than letting the advisor find it. A negative result reported deliberately is stronger than a positive one that a control would have killed.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"where did that number come from?"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the limitations is what makes the positive claims credible. Each one has a number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negative result, not away from it. The next step that matters most is a second dry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622"/>
        </a:solidFill>
      </p:bgPr>
    </p:bg>
    <p:spTree>
      <p:nvGrpSpPr>
        <p:cNvPr id="1" name=""/>
        <p:cNvGrpSpPr/>
        <p:nvPr/>
      </p:nvGrpSpPr>
      <p:grpSpPr>
        <a:xfrm>
          <a:off x="0" y="0"/>
          <a:ext cx="0" cy="0"/>
          <a:chOff x="0" y="0"/>
          <a:chExt cx="0" cy="0"/>
        </a:xfrm>
      </p:grpSpPr>
      <p:sp>
        <p:nvSpPr>
          <p:cNvPr id="2" name="Text 0"/>
          <p:cNvSpPr txBox="1"/>
          <p:nvPr/>
        </p:nvSpPr>
        <p:spPr>
          <a:xfrm>
            <a:off x="822960" y="1600200"/>
            <a:ext cx="10515600" cy="173736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Making a motion transformer</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look at the ground</a:t>
            </a:r>
            <a:endParaRPr lang="en-US" sz="4200" dirty="0"/>
          </a:p>
        </p:txBody>
      </p:sp>
      <p:sp>
        <p:nvSpPr>
          <p:cNvPr id="3" name="Text 1"/>
          <p:cNvSpPr txBox="1"/>
          <p:nvPr/>
        </p:nvSpPr>
        <p:spPr>
          <a:xfrm>
            <a:off x="822960" y="3429000"/>
            <a:ext cx="10058400" cy="457200"/>
          </a:xfrm>
          <a:prstGeom prst="rect">
            <a:avLst/>
          </a:prstGeom>
          <a:noFill/>
          <a:ln/>
        </p:spPr>
        <p:txBody>
          <a:bodyPr wrap="square" lIns="0" tIns="0" rIns="0" bIns="0" rtlCol="0" anchor="ctr"/>
          <a:lstStyle/>
          <a:p>
            <a:pPr indent="0" marL="0">
              <a:buNone/>
            </a:pPr>
            <a:r>
              <a:rPr lang="en-US" sz="1700" dirty="0">
                <a:solidFill>
                  <a:srgbClr val="D8CFC6"/>
                </a:solidFill>
                <a:latin typeface="Calibri" pitchFamily="34" charset="0"/>
                <a:ea typeface="Calibri" pitchFamily="34" charset="-122"/>
                <a:cs typeface="Calibri" pitchFamily="34" charset="-120"/>
              </a:rPr>
              <a:t>Region-guided attention with a spread constraint — and an honest re-test of v1</a:t>
            </a:r>
            <a:endParaRPr lang="en-US" sz="1700" dirty="0"/>
          </a:p>
        </p:txBody>
      </p:sp>
      <p:sp>
        <p:nvSpPr>
          <p:cNvPr id="4" name="Shape 2"/>
          <p:cNvSpPr/>
          <p:nvPr/>
        </p:nvSpPr>
        <p:spPr>
          <a:xfrm>
            <a:off x="822960" y="4206240"/>
            <a:ext cx="109728" cy="109728"/>
          </a:xfrm>
          <a:prstGeom prst="ellipse">
            <a:avLst/>
          </a:prstGeom>
          <a:solidFill>
            <a:srgbClr val="B85042"/>
          </a:solidFill>
          <a:ln w="6350">
            <a:solidFill>
              <a:srgbClr val="B85042"/>
            </a:solidFill>
            <a:prstDash val="solid"/>
          </a:ln>
        </p:spPr>
      </p:sp>
      <p:sp>
        <p:nvSpPr>
          <p:cNvPr id="5" name="Text 3"/>
          <p:cNvSpPr txBox="1"/>
          <p:nvPr/>
        </p:nvSpPr>
        <p:spPr>
          <a:xfrm>
            <a:off x="1097280" y="4096512"/>
            <a:ext cx="10058400" cy="365760"/>
          </a:xfrm>
          <a:prstGeom prst="rect">
            <a:avLst/>
          </a:prstGeom>
          <a:noFill/>
          <a:ln/>
        </p:spPr>
        <p:txBody>
          <a:bodyPr wrap="square" lIns="0" tIns="0" rIns="0" bIns="0" rtlCol="0" anchor="ctr"/>
          <a:lstStyle/>
          <a:p>
            <a:pPr indent="0" marL="0">
              <a:buNone/>
            </a:pPr>
            <a:r>
              <a:rPr lang="en-US" sz="1300" dirty="0">
                <a:solidFill>
                  <a:srgbClr val="B8AEA5"/>
                </a:solidFill>
                <a:latin typeface="Calibri" pitchFamily="34" charset="0"/>
                <a:ea typeface="Calibri" pitchFamily="34" charset="-122"/>
                <a:cs typeface="Calibri" pitchFamily="34" charset="-120"/>
              </a:rPr>
              <a:t>Saman  ·  vit_motion v0.3  ·  ViT-tiny + temporal fusion  ·  tracked-vehicle motion</a:t>
            </a:r>
            <a:endParaRPr lang="en-US" sz="1300" dirty="0"/>
          </a:p>
        </p:txBody>
      </p:sp>
      <p:sp>
        <p:nvSpPr>
          <p:cNvPr id="6" name="Text 4"/>
          <p:cNvSpPr txBox="1"/>
          <p:nvPr/>
        </p:nvSpPr>
        <p:spPr>
          <a:xfrm>
            <a:off x="822960" y="5806440"/>
            <a:ext cx="5486400" cy="320040"/>
          </a:xfrm>
          <a:prstGeom prst="rect">
            <a:avLst/>
          </a:prstGeom>
          <a:noFill/>
          <a:ln/>
        </p:spPr>
        <p:txBody>
          <a:bodyPr wrap="square" lIns="0" tIns="0" rIns="0" bIns="0" rtlCol="0" anchor="ctr"/>
          <a:lstStyle/>
          <a:p>
            <a:pPr indent="0" marL="0">
              <a:buNone/>
            </a:pPr>
            <a:r>
              <a:rPr lang="en-US" sz="1200" dirty="0">
                <a:solidFill>
                  <a:srgbClr val="B8AEA5"/>
                </a:solidFill>
                <a:latin typeface="Calibri" pitchFamily="34" charset="0"/>
                <a:ea typeface="Calibri" pitchFamily="34" charset="-122"/>
                <a:cs typeface="Calibri" pitchFamily="34" charset="-120"/>
              </a:rPr>
              <a:t>Adaptive Photonics Lab, NCTU</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The model, and the one quantity we probe it with</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sp>
        <p:nvSpPr>
          <p:cNvPr id="5" name="Shape 3"/>
          <p:cNvSpPr/>
          <p:nvPr/>
        </p:nvSpPr>
        <p:spPr>
          <a:xfrm>
            <a:off x="566928" y="1554480"/>
            <a:ext cx="384048" cy="384048"/>
          </a:xfrm>
          <a:prstGeom prst="ellipse">
            <a:avLst/>
          </a:prstGeom>
          <a:solidFill>
            <a:srgbClr val="6B8F71"/>
          </a:solidFill>
          <a:ln w="6350">
            <a:solidFill>
              <a:srgbClr val="6B8F71"/>
            </a:solidFill>
            <a:prstDash val="solid"/>
          </a:ln>
        </p:spPr>
      </p:sp>
      <p:sp>
        <p:nvSpPr>
          <p:cNvPr id="6" name="Text 4"/>
          <p:cNvSpPr txBox="1"/>
          <p:nvPr/>
        </p:nvSpPr>
        <p:spPr>
          <a:xfrm>
            <a:off x="566928"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15568" y="1536192"/>
            <a:ext cx="5120640" cy="292608"/>
          </a:xfrm>
          <a:prstGeom prst="rect">
            <a:avLst/>
          </a:prstGeom>
          <a:noFill/>
          <a:ln/>
        </p:spPr>
        <p:txBody>
          <a:bodyPr wrap="square" lIns="0" tIns="0" rIns="0" bIns="0" rtlCol="0" anchor="ctr"/>
          <a:lstStyle/>
          <a:p>
            <a:pPr indent="0" marL="0">
              <a:buNone/>
            </a:pPr>
            <a:r>
              <a:rPr lang="en-US" sz="1400" b="1" dirty="0">
                <a:solidFill>
                  <a:srgbClr val="1C1B19"/>
                </a:solidFill>
                <a:latin typeface="Calibri" pitchFamily="34" charset="0"/>
                <a:ea typeface="Calibri" pitchFamily="34" charset="-122"/>
                <a:cs typeface="Calibri" pitchFamily="34" charset="-120"/>
              </a:rPr>
              <a:t>Visual branch</a:t>
            </a:r>
            <a:endParaRPr lang="en-US" sz="1400" dirty="0"/>
          </a:p>
        </p:txBody>
      </p:sp>
      <p:sp>
        <p:nvSpPr>
          <p:cNvPr id="8" name="Text 6"/>
          <p:cNvSpPr txBox="1"/>
          <p:nvPr/>
        </p:nvSpPr>
        <p:spPr>
          <a:xfrm>
            <a:off x="1115568" y="1847088"/>
            <a:ext cx="5120640" cy="603504"/>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ViT-tiny encoder, average-pooled to a single image token. Refreshed every 4th step.</a:t>
            </a:r>
            <a:endParaRPr lang="en-US" sz="1200" dirty="0"/>
          </a:p>
        </p:txBody>
      </p:sp>
      <p:sp>
        <p:nvSpPr>
          <p:cNvPr id="9" name="Shape 7"/>
          <p:cNvSpPr/>
          <p:nvPr/>
        </p:nvSpPr>
        <p:spPr>
          <a:xfrm>
            <a:off x="566928" y="2578608"/>
            <a:ext cx="384048" cy="384048"/>
          </a:xfrm>
          <a:prstGeom prst="ellipse">
            <a:avLst/>
          </a:prstGeom>
          <a:solidFill>
            <a:srgbClr val="6B8F71"/>
          </a:solidFill>
          <a:ln w="6350">
            <a:solidFill>
              <a:srgbClr val="6B8F71"/>
            </a:solidFill>
            <a:prstDash val="solid"/>
          </a:ln>
        </p:spPr>
      </p:sp>
      <p:sp>
        <p:nvSpPr>
          <p:cNvPr id="10" name="Text 8"/>
          <p:cNvSpPr txBox="1"/>
          <p:nvPr/>
        </p:nvSpPr>
        <p:spPr>
          <a:xfrm>
            <a:off x="566928" y="2578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560320"/>
            <a:ext cx="5120640" cy="292608"/>
          </a:xfrm>
          <a:prstGeom prst="rect">
            <a:avLst/>
          </a:prstGeom>
          <a:noFill/>
          <a:ln/>
        </p:spPr>
        <p:txBody>
          <a:bodyPr wrap="square" lIns="0" tIns="0" rIns="0" bIns="0" rtlCol="0" anchor="ctr"/>
          <a:lstStyle/>
          <a:p>
            <a:pPr indent="0" marL="0">
              <a:buNone/>
            </a:pPr>
            <a:r>
              <a:rPr lang="en-US" sz="1400" b="1" dirty="0">
                <a:solidFill>
                  <a:srgbClr val="1C1B19"/>
                </a:solidFill>
                <a:latin typeface="Calibri" pitchFamily="34" charset="0"/>
                <a:ea typeface="Calibri" pitchFamily="34" charset="-122"/>
                <a:cs typeface="Calibri" pitchFamily="34" charset="-120"/>
              </a:rPr>
              <a:t>Numeric branch</a:t>
            </a:r>
            <a:endParaRPr lang="en-US" sz="1400" dirty="0"/>
          </a:p>
        </p:txBody>
      </p:sp>
      <p:sp>
        <p:nvSpPr>
          <p:cNvPr id="12" name="Text 10"/>
          <p:cNvSpPr txBox="1"/>
          <p:nvPr/>
        </p:nvSpPr>
        <p:spPr>
          <a:xfrm>
            <a:off x="1115568" y="2871216"/>
            <a:ext cx="5120640" cy="603504"/>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K = 6 past steps × 5 signals — pose deltas and track speeds.</a:t>
            </a:r>
            <a:endParaRPr lang="en-US" sz="1200" dirty="0"/>
          </a:p>
        </p:txBody>
      </p:sp>
      <p:sp>
        <p:nvSpPr>
          <p:cNvPr id="13" name="Shape 11"/>
          <p:cNvSpPr/>
          <p:nvPr/>
        </p:nvSpPr>
        <p:spPr>
          <a:xfrm>
            <a:off x="566928" y="3602736"/>
            <a:ext cx="384048" cy="384048"/>
          </a:xfrm>
          <a:prstGeom prst="ellipse">
            <a:avLst/>
          </a:prstGeom>
          <a:solidFill>
            <a:srgbClr val="2A78D6"/>
          </a:solidFill>
          <a:ln w="6350">
            <a:solidFill>
              <a:srgbClr val="2A78D6"/>
            </a:solidFill>
            <a:prstDash val="solid"/>
          </a:ln>
        </p:spPr>
      </p:sp>
      <p:sp>
        <p:nvSpPr>
          <p:cNvPr id="14" name="Text 12"/>
          <p:cNvSpPr txBox="1"/>
          <p:nvPr/>
        </p:nvSpPr>
        <p:spPr>
          <a:xfrm>
            <a:off x="566928" y="3602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15568" y="3584448"/>
            <a:ext cx="5120640" cy="292608"/>
          </a:xfrm>
          <a:prstGeom prst="rect">
            <a:avLst/>
          </a:prstGeom>
          <a:noFill/>
          <a:ln/>
        </p:spPr>
        <p:txBody>
          <a:bodyPr wrap="square" lIns="0" tIns="0" rIns="0" bIns="0" rtlCol="0" anchor="ctr"/>
          <a:lstStyle/>
          <a:p>
            <a:pPr indent="0" marL="0">
              <a:buNone/>
            </a:pPr>
            <a:r>
              <a:rPr lang="en-US" sz="1400" b="1" dirty="0">
                <a:solidFill>
                  <a:srgbClr val="1C1B19"/>
                </a:solidFill>
                <a:latin typeface="Calibri" pitchFamily="34" charset="0"/>
                <a:ea typeface="Calibri" pitchFamily="34" charset="-122"/>
                <a:cs typeface="Calibri" pitchFamily="34" charset="-120"/>
              </a:rPr>
              <a:t>Fusion &amp; head</a:t>
            </a:r>
            <a:endParaRPr lang="en-US" sz="1400" dirty="0"/>
          </a:p>
        </p:txBody>
      </p:sp>
      <p:sp>
        <p:nvSpPr>
          <p:cNvPr id="16" name="Text 14"/>
          <p:cNvSpPr txBox="1"/>
          <p:nvPr/>
        </p:nvSpPr>
        <p:spPr>
          <a:xfrm>
            <a:off x="1115568" y="3895344"/>
            <a:ext cx="5120640" cy="603504"/>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2-layer transformer over [1 image + 6 numeric] tokens → regression of [dx, dy, dyaw].</a:t>
            </a:r>
            <a:endParaRPr lang="en-US" sz="1200" dirty="0"/>
          </a:p>
        </p:txBody>
      </p:sp>
      <p:sp>
        <p:nvSpPr>
          <p:cNvPr id="17" name="Shape 15"/>
          <p:cNvSpPr/>
          <p:nvPr/>
        </p:nvSpPr>
        <p:spPr>
          <a:xfrm>
            <a:off x="6583680" y="1481328"/>
            <a:ext cx="5029200" cy="2999232"/>
          </a:xfrm>
          <a:prstGeom prst="roundRect">
            <a:avLst>
              <a:gd name="adj" fmla="val 2439"/>
            </a:avLst>
          </a:prstGeom>
          <a:solidFill>
            <a:srgbClr val="F4F1ED"/>
          </a:solidFill>
          <a:ln w="6350">
            <a:solidFill>
              <a:srgbClr val="F4F1ED"/>
            </a:solidFill>
            <a:prstDash val="solid"/>
          </a:ln>
        </p:spPr>
      </p:sp>
      <p:sp>
        <p:nvSpPr>
          <p:cNvPr id="18" name="Text 16"/>
          <p:cNvSpPr txBox="1"/>
          <p:nvPr/>
        </p:nvSpPr>
        <p:spPr>
          <a:xfrm>
            <a:off x="6858000" y="1664208"/>
            <a:ext cx="4480560" cy="310896"/>
          </a:xfrm>
          <a:prstGeom prst="rect">
            <a:avLst/>
          </a:prstGeom>
          <a:noFill/>
          <a:ln/>
        </p:spPr>
        <p:txBody>
          <a:bodyPr wrap="square" lIns="0" tIns="0" rIns="0" bIns="0" rtlCol="0" anchor="ctr"/>
          <a:lstStyle/>
          <a:p>
            <a:pPr indent="0" marL="0">
              <a:buNone/>
            </a:pPr>
            <a:r>
              <a:rPr lang="en-US" sz="1700" b="1" dirty="0">
                <a:solidFill>
                  <a:srgbClr val="B85042"/>
                </a:solidFill>
                <a:latin typeface="Cambria" pitchFamily="34" charset="0"/>
                <a:ea typeface="Cambria" pitchFamily="34" charset="-122"/>
                <a:cs typeface="Cambria" pitchFamily="34" charset="-120"/>
              </a:rPr>
              <a:t>The probe</a:t>
            </a:r>
            <a:endParaRPr lang="en-US" sz="1700" dirty="0"/>
          </a:p>
        </p:txBody>
      </p:sp>
      <p:sp>
        <p:nvSpPr>
          <p:cNvPr id="19" name="Text 17"/>
          <p:cNvSpPr txBox="1"/>
          <p:nvPr/>
        </p:nvSpPr>
        <p:spPr>
          <a:xfrm>
            <a:off x="6858000" y="2048256"/>
            <a:ext cx="4480560" cy="329184"/>
          </a:xfrm>
          <a:prstGeom prst="rect">
            <a:avLst/>
          </a:prstGeom>
          <a:noFill/>
          <a:ln/>
        </p:spPr>
        <p:txBody>
          <a:bodyPr wrap="square" lIns="0" tIns="0" rIns="0" bIns="0" rtlCol="0" anchor="ctr"/>
          <a:lstStyle/>
          <a:p>
            <a:pPr indent="0" marL="0">
              <a:buNone/>
            </a:pPr>
            <a:r>
              <a:rPr lang="en-US" sz="1400" b="1" dirty="0">
                <a:solidFill>
                  <a:srgbClr val="1C1B19"/>
                </a:solidFill>
                <a:latin typeface="Courier New" pitchFamily="34" charset="0"/>
                <a:ea typeface="Courier New" pitchFamily="34" charset="-122"/>
                <a:cs typeface="Courier New" pitchFamily="34" charset="-120"/>
              </a:rPr>
              <a:t>saliency  =  | ∂ target / ∂ image |</a:t>
            </a:r>
            <a:endParaRPr lang="en-US" sz="1400" dirty="0"/>
          </a:p>
        </p:txBody>
      </p:sp>
      <p:sp>
        <p:nvSpPr>
          <p:cNvPr id="20" name="Text 18"/>
          <p:cNvSpPr txBox="1"/>
          <p:nvPr/>
        </p:nvSpPr>
        <p:spPr>
          <a:xfrm>
            <a:off x="6858000" y="2432304"/>
            <a:ext cx="4480560" cy="1920240"/>
          </a:xfrm>
          <a:prstGeom prst="rect">
            <a:avLst/>
          </a:prstGeom>
          <a:noFill/>
          <a:ln/>
        </p:spPr>
        <p:txBody>
          <a:bodyPr wrap="square" lIns="0" tIns="0" rIns="0" bIns="0" rtlCol="0" anchor="ctr"/>
          <a:lstStyle/>
          <a:p>
            <a:pPr indent="0" marL="0">
              <a:lnSpc>
                <a:spcPts val="1700"/>
              </a:lnSpc>
              <a:buNone/>
            </a:pPr>
            <a:r>
              <a:rPr lang="en-US" sz="1200" dirty="0">
                <a:solidFill>
                  <a:srgbClr val="6B6560"/>
                </a:solidFill>
                <a:latin typeface="Calibri" pitchFamily="34" charset="0"/>
                <a:ea typeface="Calibri" pitchFamily="34" charset="-122"/>
                <a:cs typeface="Calibri" pitchFamily="34" charset="-120"/>
              </a:rPr>
              <a:t>summed over colour channels, target = yaw.</a:t>
            </a:r>
            <a:endParaRPr lang="en-US" sz="1200" dirty="0"/>
          </a:p>
          <a:p>
            <a:pPr indent="0" marL="0">
              <a:lnSpc>
                <a:spcPts val="1700"/>
              </a:lnSpc>
              <a:buNone/>
            </a:pPr>
            <a:endParaRPr lang="en-US" sz="1200" dirty="0"/>
          </a:p>
          <a:p>
            <a:pPr indent="0" marL="0">
              <a:lnSpc>
                <a:spcPts val="1700"/>
              </a:lnSpc>
              <a:buNone/>
            </a:pPr>
            <a:r>
              <a:rPr lang="en-US" sz="1200" dirty="0">
                <a:solidFill>
                  <a:srgbClr val="6B6560"/>
                </a:solidFill>
                <a:latin typeface="Calibri" pitchFamily="34" charset="0"/>
                <a:ea typeface="Calibri" pitchFamily="34" charset="-122"/>
                <a:cs typeface="Calibri" pitchFamily="34" charset="-120"/>
              </a:rPr>
              <a:t>This is the SAME quantity we penalize, measure and draw. In v1 the penalty and the picture were different quantities, so the number and the heatmap could disagree without either being wrong.</a:t>
            </a:r>
            <a:endParaRPr lang="en-US" sz="1200" dirty="0"/>
          </a:p>
        </p:txBody>
      </p:sp>
      <p:sp>
        <p:nvSpPr>
          <p:cNvPr id="21" name="Text 19"/>
          <p:cNvSpPr txBox="1"/>
          <p:nvPr/>
        </p:nvSpPr>
        <p:spPr>
          <a:xfrm>
            <a:off x="566928" y="4892040"/>
            <a:ext cx="11064240" cy="731520"/>
          </a:xfrm>
          <a:prstGeom prst="rect">
            <a:avLst/>
          </a:prstGeom>
          <a:noFill/>
          <a:ln/>
        </p:spPr>
        <p:txBody>
          <a:bodyPr wrap="square" lIns="0" tIns="0" rIns="0" bIns="0" rtlCol="0" anchor="ctr"/>
          <a:lstStyle/>
          <a:p>
            <a:pPr indent="0" marL="0">
              <a:buNone/>
            </a:pPr>
            <a:r>
              <a:rPr lang="en-US" sz="1100" i="1" dirty="0">
                <a:solidFill>
                  <a:srgbClr val="6B6560"/>
                </a:solidFill>
                <a:latin typeface="Calibri" pitchFamily="34" charset="0"/>
                <a:ea typeface="Calibri" pitchFamily="34" charset="-122"/>
                <a:cs typeface="Calibri" pitchFamily="34" charset="-120"/>
              </a:rPr>
              <a:t>Because this is multimodal regression, not classification, every explanation is reduced to one scalar target.  ·  Grad-CAM (Selvaraju 2017) · Integrated Gradients (Sundararajan 2017) · Attention Rollout (Abnar &amp; Zuidema 2020)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THE HONEST RESET</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What v1 claimed, and what the re-test found</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sp>
        <p:nvSpPr>
          <p:cNvPr id="5" name="Shape 3"/>
          <p:cNvSpPr/>
          <p:nvPr/>
        </p:nvSpPr>
        <p:spPr>
          <a:xfrm>
            <a:off x="566928" y="1463040"/>
            <a:ext cx="5349240" cy="3977640"/>
          </a:xfrm>
          <a:prstGeom prst="roundRect">
            <a:avLst>
              <a:gd name="adj" fmla="val 1839"/>
            </a:avLst>
          </a:prstGeom>
          <a:solidFill>
            <a:srgbClr val="F4F1ED"/>
          </a:solidFill>
          <a:ln w="6350">
            <a:solidFill>
              <a:srgbClr val="F4F1ED"/>
            </a:solidFill>
            <a:prstDash val="solid"/>
          </a:ln>
        </p:spPr>
      </p:sp>
      <p:sp>
        <p:nvSpPr>
          <p:cNvPr id="6" name="Shape 4"/>
          <p:cNvSpPr/>
          <p:nvPr/>
        </p:nvSpPr>
        <p:spPr>
          <a:xfrm>
            <a:off x="6263640" y="1463040"/>
            <a:ext cx="5349240" cy="3977640"/>
          </a:xfrm>
          <a:prstGeom prst="roundRect">
            <a:avLst>
              <a:gd name="adj" fmla="val 1839"/>
            </a:avLst>
          </a:prstGeom>
          <a:solidFill>
            <a:srgbClr val="EAF1FB"/>
          </a:solidFill>
          <a:ln w="6350">
            <a:solidFill>
              <a:srgbClr val="EAF1FB"/>
            </a:solidFill>
            <a:prstDash val="solid"/>
          </a:ln>
        </p:spPr>
      </p:sp>
      <p:sp>
        <p:nvSpPr>
          <p:cNvPr id="7" name="Text 5"/>
          <p:cNvSpPr txBox="1"/>
          <p:nvPr/>
        </p:nvSpPr>
        <p:spPr>
          <a:xfrm>
            <a:off x="868680" y="1664208"/>
            <a:ext cx="4754880" cy="329184"/>
          </a:xfrm>
          <a:prstGeom prst="rect">
            <a:avLst/>
          </a:prstGeom>
          <a:noFill/>
          <a:ln/>
        </p:spPr>
        <p:txBody>
          <a:bodyPr wrap="square" lIns="0" tIns="0" rIns="0" bIns="0" rtlCol="0" anchor="ctr"/>
          <a:lstStyle/>
          <a:p>
            <a:pPr indent="0" marL="0">
              <a:buNone/>
            </a:pPr>
            <a:r>
              <a:rPr lang="en-US" sz="1800" b="1" dirty="0">
                <a:solidFill>
                  <a:srgbClr val="B85042"/>
                </a:solidFill>
                <a:latin typeface="Cambria" pitchFamily="34" charset="0"/>
                <a:ea typeface="Cambria" pitchFamily="34" charset="-122"/>
                <a:cs typeface="Cambria" pitchFamily="34" charset="-120"/>
              </a:rPr>
              <a:t>v1 claimed</a:t>
            </a:r>
            <a:endParaRPr lang="en-US" sz="1800" dirty="0"/>
          </a:p>
        </p:txBody>
      </p:sp>
      <p:sp>
        <p:nvSpPr>
          <p:cNvPr id="8" name="Text 6"/>
          <p:cNvSpPr txBox="1"/>
          <p:nvPr/>
        </p:nvSpPr>
        <p:spPr>
          <a:xfrm>
            <a:off x="6565392" y="1664208"/>
            <a:ext cx="4754880" cy="329184"/>
          </a:xfrm>
          <a:prstGeom prst="rect">
            <a:avLst/>
          </a:prstGeom>
          <a:noFill/>
          <a:ln/>
        </p:spPr>
        <p:txBody>
          <a:bodyPr wrap="square" lIns="0" tIns="0" rIns="0" bIns="0" rtlCol="0" anchor="ctr"/>
          <a:lstStyle/>
          <a:p>
            <a:pPr indent="0" marL="0">
              <a:buNone/>
            </a:pPr>
            <a:r>
              <a:rPr lang="en-US" sz="1800" b="1" dirty="0">
                <a:solidFill>
                  <a:srgbClr val="2A78D6"/>
                </a:solidFill>
                <a:latin typeface="Cambria" pitchFamily="34" charset="0"/>
                <a:ea typeface="Cambria" pitchFamily="34" charset="-122"/>
                <a:cs typeface="Cambria" pitchFamily="34" charset="-120"/>
              </a:rPr>
              <a:t>v0.3 finds</a:t>
            </a:r>
            <a:endParaRPr lang="en-US" sz="1800" dirty="0"/>
          </a:p>
        </p:txBody>
      </p:sp>
      <p:sp>
        <p:nvSpPr>
          <p:cNvPr id="9" name="Text 7"/>
          <p:cNvSpPr txBox="1"/>
          <p:nvPr/>
        </p:nvSpPr>
        <p:spPr>
          <a:xfrm>
            <a:off x="868680" y="2148840"/>
            <a:ext cx="4754880" cy="749808"/>
          </a:xfrm>
          <a:prstGeom prst="rect">
            <a:avLst/>
          </a:prstGeom>
          <a:noFill/>
          <a:ln/>
        </p:spPr>
        <p:txBody>
          <a:bodyPr wrap="square" lIns="0" tIns="0" rIns="0" bIns="0" rtlCol="0" anchor="t"/>
          <a:lstStyle/>
          <a:p>
            <a:pPr indent="0" marL="0">
              <a:lnSpc>
                <a:spcPts val="1600"/>
              </a:lnSpc>
              <a:buNone/>
            </a:pPr>
            <a:r>
              <a:rPr lang="en-US" sz="1250" dirty="0">
                <a:solidFill>
                  <a:srgbClr val="1C1B19"/>
                </a:solidFill>
                <a:latin typeface="Calibri" pitchFamily="34" charset="0"/>
                <a:ea typeface="Calibri" pitchFamily="34" charset="-122"/>
                <a:cs typeface="Calibri" pitchFamily="34" charset="-120"/>
              </a:rPr>
              <a:t>Sky saliency 48% → ~0%</a:t>
            </a:r>
            <a:endParaRPr lang="en-US" sz="1250" dirty="0"/>
          </a:p>
        </p:txBody>
      </p:sp>
      <p:sp>
        <p:nvSpPr>
          <p:cNvPr id="10" name="Text 8"/>
          <p:cNvSpPr txBox="1"/>
          <p:nvPr/>
        </p:nvSpPr>
        <p:spPr>
          <a:xfrm>
            <a:off x="6565392" y="2148840"/>
            <a:ext cx="4754880" cy="749808"/>
          </a:xfrm>
          <a:prstGeom prst="rect">
            <a:avLst/>
          </a:prstGeom>
          <a:noFill/>
          <a:ln/>
        </p:spPr>
        <p:txBody>
          <a:bodyPr wrap="square" lIns="0" tIns="0" rIns="0" bIns="0" rtlCol="0" anchor="t"/>
          <a:lstStyle/>
          <a:p>
            <a:pPr indent="0" marL="0">
              <a:lnSpc>
                <a:spcPts val="1600"/>
              </a:lnSpc>
              <a:buNone/>
            </a:pPr>
            <a:r>
              <a:rPr lang="en-US" sz="1250" dirty="0">
                <a:solidFill>
                  <a:srgbClr val="1C1B19"/>
                </a:solidFill>
                <a:latin typeface="Calibri" pitchFamily="34" charset="0"/>
                <a:ea typeface="Calibri" pitchFamily="34" charset="-122"/>
                <a:cs typeface="Calibri" pitchFamily="34" charset="-120"/>
              </a:rPr>
              <a:t>True — but that region was never the ground</a:t>
            </a:r>
            <a:endParaRPr lang="en-US" sz="1250" dirty="0"/>
          </a:p>
        </p:txBody>
      </p:sp>
      <p:sp>
        <p:nvSpPr>
          <p:cNvPr id="11" name="Text 9"/>
          <p:cNvSpPr txBox="1"/>
          <p:nvPr/>
        </p:nvSpPr>
        <p:spPr>
          <a:xfrm>
            <a:off x="868680" y="2990088"/>
            <a:ext cx="4754880" cy="749808"/>
          </a:xfrm>
          <a:prstGeom prst="rect">
            <a:avLst/>
          </a:prstGeom>
          <a:noFill/>
          <a:ln/>
        </p:spPr>
        <p:txBody>
          <a:bodyPr wrap="square" lIns="0" tIns="0" rIns="0" bIns="0" rtlCol="0" anchor="t"/>
          <a:lstStyle/>
          <a:p>
            <a:pPr indent="0" marL="0">
              <a:lnSpc>
                <a:spcPts val="1600"/>
              </a:lnSpc>
              <a:buNone/>
            </a:pPr>
            <a:r>
              <a:rPr lang="en-US" sz="1250" dirty="0">
                <a:solidFill>
                  <a:srgbClr val="1C1B19"/>
                </a:solidFill>
                <a:latin typeface="Calibri" pitchFamily="34" charset="0"/>
                <a:ea typeface="Calibri" pitchFamily="34" charset="-122"/>
                <a:cs typeface="Calibri" pitchFamily="34" charset="-120"/>
              </a:rPr>
              <a:t>Accuracy improves: yaw R² 0.928 → 0.938</a:t>
            </a:r>
            <a:endParaRPr lang="en-US" sz="1250" dirty="0"/>
          </a:p>
        </p:txBody>
      </p:sp>
      <p:sp>
        <p:nvSpPr>
          <p:cNvPr id="12" name="Text 10"/>
          <p:cNvSpPr txBox="1"/>
          <p:nvPr/>
        </p:nvSpPr>
        <p:spPr>
          <a:xfrm>
            <a:off x="6565392" y="2990088"/>
            <a:ext cx="4754880" cy="749808"/>
          </a:xfrm>
          <a:prstGeom prst="rect">
            <a:avLst/>
          </a:prstGeom>
          <a:noFill/>
          <a:ln/>
        </p:spPr>
        <p:txBody>
          <a:bodyPr wrap="square" lIns="0" tIns="0" rIns="0" bIns="0" rtlCol="0" anchor="t"/>
          <a:lstStyle/>
          <a:p>
            <a:pPr indent="0" marL="0">
              <a:lnSpc>
                <a:spcPts val="1600"/>
              </a:lnSpc>
              <a:buNone/>
            </a:pPr>
            <a:r>
              <a:rPr lang="en-US" sz="1250" dirty="0">
                <a:solidFill>
                  <a:srgbClr val="1C1B19"/>
                </a:solidFill>
                <a:latin typeface="Calibri" pitchFamily="34" charset="0"/>
                <a:ea typeface="Calibri" pitchFamily="34" charset="-122"/>
                <a:cs typeface="Calibri" pitchFamily="34" charset="-120"/>
              </a:rPr>
              <a:t>Does not survive. A no-penalty control with the same extra epochs scores 0.852, the best of six arms</a:t>
            </a:r>
            <a:endParaRPr lang="en-US" sz="1250" dirty="0"/>
          </a:p>
        </p:txBody>
      </p:sp>
      <p:sp>
        <p:nvSpPr>
          <p:cNvPr id="13" name="Text 11"/>
          <p:cNvSpPr txBox="1"/>
          <p:nvPr/>
        </p:nvSpPr>
        <p:spPr>
          <a:xfrm>
            <a:off x="868680" y="3831336"/>
            <a:ext cx="4754880" cy="749808"/>
          </a:xfrm>
          <a:prstGeom prst="rect">
            <a:avLst/>
          </a:prstGeom>
          <a:noFill/>
          <a:ln/>
        </p:spPr>
        <p:txBody>
          <a:bodyPr wrap="square" lIns="0" tIns="0" rIns="0" bIns="0" rtlCol="0" anchor="t"/>
          <a:lstStyle/>
          <a:p>
            <a:pPr indent="0" marL="0">
              <a:lnSpc>
                <a:spcPts val="1600"/>
              </a:lnSpc>
              <a:buNone/>
            </a:pPr>
            <a:r>
              <a:rPr lang="en-US" sz="1250" dirty="0">
                <a:solidFill>
                  <a:srgbClr val="1C1B19"/>
                </a:solidFill>
                <a:latin typeface="Calibri" pitchFamily="34" charset="0"/>
                <a:ea typeface="Calibri" pitchFamily="34" charset="-122"/>
                <a:cs typeface="Calibri" pitchFamily="34" charset="-120"/>
              </a:rPr>
              <a:t>The control confirms the penalty caused it</a:t>
            </a:r>
            <a:endParaRPr lang="en-US" sz="1250" dirty="0"/>
          </a:p>
        </p:txBody>
      </p:sp>
      <p:sp>
        <p:nvSpPr>
          <p:cNvPr id="14" name="Text 12"/>
          <p:cNvSpPr txBox="1"/>
          <p:nvPr/>
        </p:nvSpPr>
        <p:spPr>
          <a:xfrm>
            <a:off x="6565392" y="3831336"/>
            <a:ext cx="4754880" cy="749808"/>
          </a:xfrm>
          <a:prstGeom prst="rect">
            <a:avLst/>
          </a:prstGeom>
          <a:noFill/>
          <a:ln/>
        </p:spPr>
        <p:txBody>
          <a:bodyPr wrap="square" lIns="0" tIns="0" rIns="0" bIns="0" rtlCol="0" anchor="t"/>
          <a:lstStyle/>
          <a:p>
            <a:pPr indent="0" marL="0">
              <a:lnSpc>
                <a:spcPts val="1600"/>
              </a:lnSpc>
              <a:buNone/>
            </a:pPr>
            <a:r>
              <a:rPr lang="en-US" sz="1250" dirty="0">
                <a:solidFill>
                  <a:srgbClr val="1C1B19"/>
                </a:solidFill>
                <a:latin typeface="Calibri" pitchFamily="34" charset="0"/>
                <a:ea typeface="Calibri" pitchFamily="34" charset="-122"/>
                <a:cs typeface="Calibri" pitchFamily="34" charset="-120"/>
              </a:rPr>
              <a:t>The control confirms the opposite: the movement is from the extra epochs</a:t>
            </a:r>
            <a:endParaRPr lang="en-US" sz="1250" dirty="0"/>
          </a:p>
        </p:txBody>
      </p:sp>
      <p:sp>
        <p:nvSpPr>
          <p:cNvPr id="15" name="Text 13"/>
          <p:cNvSpPr txBox="1"/>
          <p:nvPr/>
        </p:nvSpPr>
        <p:spPr>
          <a:xfrm>
            <a:off x="868680" y="4672584"/>
            <a:ext cx="4754880" cy="749808"/>
          </a:xfrm>
          <a:prstGeom prst="rect">
            <a:avLst/>
          </a:prstGeom>
          <a:noFill/>
          <a:ln/>
        </p:spPr>
        <p:txBody>
          <a:bodyPr wrap="square" lIns="0" tIns="0" rIns="0" bIns="0" rtlCol="0" anchor="t"/>
          <a:lstStyle/>
          <a:p>
            <a:pPr indent="0" marL="0">
              <a:lnSpc>
                <a:spcPts val="1600"/>
              </a:lnSpc>
              <a:buNone/>
            </a:pPr>
            <a:r>
              <a:rPr lang="en-US" sz="1250" dirty="0">
                <a:solidFill>
                  <a:srgbClr val="1C1B19"/>
                </a:solidFill>
                <a:latin typeface="Calibri" pitchFamily="34" charset="0"/>
                <a:ea typeface="Calibri" pitchFamily="34" charset="-122"/>
                <a:cs typeface="Calibri" pitchFamily="34" charset="-120"/>
              </a:rPr>
              <a:t>"the top half of the frame" ≈ the useless region</a:t>
            </a:r>
            <a:endParaRPr lang="en-US" sz="1250" dirty="0"/>
          </a:p>
        </p:txBody>
      </p:sp>
      <p:sp>
        <p:nvSpPr>
          <p:cNvPr id="16" name="Text 14"/>
          <p:cNvSpPr txBox="1"/>
          <p:nvPr/>
        </p:nvSpPr>
        <p:spPr>
          <a:xfrm>
            <a:off x="6565392" y="4672584"/>
            <a:ext cx="4754880" cy="749808"/>
          </a:xfrm>
          <a:prstGeom prst="rect">
            <a:avLst/>
          </a:prstGeom>
          <a:noFill/>
          <a:ln/>
        </p:spPr>
        <p:txBody>
          <a:bodyPr wrap="square" lIns="0" tIns="0" rIns="0" bIns="0" rtlCol="0" anchor="t"/>
          <a:lstStyle/>
          <a:p>
            <a:pPr indent="0" marL="0">
              <a:lnSpc>
                <a:spcPts val="1600"/>
              </a:lnSpc>
              <a:buNone/>
            </a:pPr>
            <a:r>
              <a:rPr lang="en-US" sz="1250" dirty="0">
                <a:solidFill>
                  <a:srgbClr val="1C1B19"/>
                </a:solidFill>
                <a:latin typeface="Calibri" pitchFamily="34" charset="0"/>
                <a:ea typeface="Calibri" pitchFamily="34" charset="-122"/>
                <a:cs typeface="Calibri" pitchFamily="34" charset="-120"/>
              </a:rPr>
              <a:t>Audited against depth: 24% of that half is near ground, and its IoU with the sky is 0.19</a:t>
            </a:r>
            <a:endParaRPr lang="en-US" sz="1250" dirty="0"/>
          </a:p>
        </p:txBody>
      </p:sp>
      <p:sp>
        <p:nvSpPr>
          <p:cNvPr id="17" name="Text 15"/>
          <p:cNvSpPr txBox="1"/>
          <p:nvPr/>
        </p:nvSpPr>
        <p:spPr>
          <a:xfrm>
            <a:off x="566928" y="5623560"/>
            <a:ext cx="11064240" cy="457200"/>
          </a:xfrm>
          <a:prstGeom prst="rect">
            <a:avLst/>
          </a:prstGeom>
          <a:noFill/>
          <a:ln/>
        </p:spPr>
        <p:txBody>
          <a:bodyPr wrap="square" lIns="0" tIns="0" rIns="0" bIns="0" rtlCol="0" anchor="ctr"/>
          <a:lstStyle/>
          <a:p>
            <a:pPr indent="0" marL="0">
              <a:buNone/>
            </a:pPr>
            <a:r>
              <a:rPr lang="en-US" sz="1250" b="1" dirty="0">
                <a:solidFill>
                  <a:srgbClr val="B85042"/>
                </a:solidFill>
                <a:latin typeface="Calibri" pitchFamily="34" charset="0"/>
                <a:ea typeface="Calibri" pitchFamily="34" charset="-122"/>
                <a:cs typeface="Calibri" pitchFamily="34" charset="-120"/>
              </a:rPr>
              <a:t>And one failure v1 never measured: driving the sky share to zero collapsed the attention onto a handful of ground pixels — coverage 0.89 → 0.25.</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DATA</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One collection, and a held-out design that names its runs</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sp>
        <p:nvSpPr>
          <p:cNvPr id="5" name="Text 3"/>
          <p:cNvSpPr txBox="1"/>
          <p:nvPr/>
        </p:nvSpPr>
        <p:spPr>
          <a:xfrm>
            <a:off x="566928" y="1371600"/>
            <a:ext cx="3383280" cy="786384"/>
          </a:xfrm>
          <a:prstGeom prst="rect">
            <a:avLst/>
          </a:prstGeom>
          <a:noFill/>
          <a:ln/>
        </p:spPr>
        <p:txBody>
          <a:bodyPr wrap="square" lIns="0" tIns="0" rIns="0" bIns="0" rtlCol="0" anchor="ctr"/>
          <a:lstStyle/>
          <a:p>
            <a:pPr indent="0" marL="0">
              <a:buNone/>
            </a:pPr>
            <a:r>
              <a:rPr lang="en-US" sz="4000" b="1" dirty="0">
                <a:solidFill>
                  <a:srgbClr val="B85042"/>
                </a:solidFill>
                <a:latin typeface="Cambria" pitchFamily="34" charset="0"/>
                <a:ea typeface="Cambria" pitchFamily="34" charset="-122"/>
                <a:cs typeface="Cambria" pitchFamily="34" charset="-120"/>
              </a:rPr>
              <a:t>63</a:t>
            </a:r>
            <a:endParaRPr lang="en-US" sz="4000" dirty="0"/>
          </a:p>
        </p:txBody>
      </p:sp>
      <p:sp>
        <p:nvSpPr>
          <p:cNvPr id="6" name="Text 4"/>
          <p:cNvSpPr txBox="1"/>
          <p:nvPr/>
        </p:nvSpPr>
        <p:spPr>
          <a:xfrm>
            <a:off x="566928" y="2139696"/>
            <a:ext cx="3383280" cy="310896"/>
          </a:xfrm>
          <a:prstGeom prst="rect">
            <a:avLst/>
          </a:prstGeom>
          <a:noFill/>
          <a:ln/>
        </p:spPr>
        <p:txBody>
          <a:bodyPr wrap="square" lIns="0" tIns="0" rIns="0" bIns="0" rtlCol="0" anchor="ctr"/>
          <a:lstStyle/>
          <a:p>
            <a:pPr indent="0" marL="0">
              <a:buNone/>
            </a:pPr>
            <a:r>
              <a:rPr lang="en-US" sz="1250" b="1" dirty="0">
                <a:solidFill>
                  <a:srgbClr val="1C1B19"/>
                </a:solidFill>
                <a:latin typeface="Calibri" pitchFamily="34" charset="0"/>
                <a:ea typeface="Calibri" pitchFamily="34" charset="-122"/>
                <a:cs typeface="Calibri" pitchFamily="34" charset="-120"/>
              </a:rPr>
              <a:t>runs / 31,864 rows</a:t>
            </a:r>
            <a:endParaRPr lang="en-US" sz="1250" dirty="0"/>
          </a:p>
        </p:txBody>
      </p:sp>
      <p:sp>
        <p:nvSpPr>
          <p:cNvPr id="7" name="Text 5"/>
          <p:cNvSpPr txBox="1"/>
          <p:nvPr/>
        </p:nvSpPr>
        <p:spPr>
          <a:xfrm>
            <a:off x="566928" y="2432304"/>
            <a:ext cx="3383280" cy="548640"/>
          </a:xfrm>
          <a:prstGeom prst="rect">
            <a:avLst/>
          </a:prstGeom>
          <a:noFill/>
          <a:ln/>
        </p:spPr>
        <p:txBody>
          <a:bodyPr wrap="square" lIns="0" tIns="0" rIns="0" bIns="0" rtlCol="0" anchor="ctr"/>
          <a:lstStyle/>
          <a:p>
            <a:pPr indent="0" marL="0">
              <a:buNone/>
            </a:pPr>
            <a:r>
              <a:rPr lang="en-US" sz="1050" dirty="0">
                <a:solidFill>
                  <a:srgbClr val="6B6560"/>
                </a:solidFill>
                <a:latin typeface="Calibri" pitchFamily="34" charset="0"/>
                <a:ea typeface="Calibri" pitchFamily="34" charset="-122"/>
                <a:cs typeface="Calibri" pitchFamily="34" charset="-120"/>
              </a:rPr>
              <a:t>four days, every run with aligned depth</a:t>
            </a:r>
            <a:endParaRPr lang="en-US" sz="1050" dirty="0"/>
          </a:p>
        </p:txBody>
      </p:sp>
      <p:sp>
        <p:nvSpPr>
          <p:cNvPr id="8" name="Text 6"/>
          <p:cNvSpPr txBox="1"/>
          <p:nvPr/>
        </p:nvSpPr>
        <p:spPr>
          <a:xfrm>
            <a:off x="4434840" y="1371600"/>
            <a:ext cx="3383280" cy="786384"/>
          </a:xfrm>
          <a:prstGeom prst="rect">
            <a:avLst/>
          </a:prstGeom>
          <a:noFill/>
          <a:ln/>
        </p:spPr>
        <p:txBody>
          <a:bodyPr wrap="square" lIns="0" tIns="0" rIns="0" bIns="0" rtlCol="0" anchor="ctr"/>
          <a:lstStyle/>
          <a:p>
            <a:pPr indent="0" marL="0">
              <a:buNone/>
            </a:pPr>
            <a:r>
              <a:rPr lang="en-US" sz="4000" b="1" dirty="0">
                <a:solidFill>
                  <a:srgbClr val="B85042"/>
                </a:solidFill>
                <a:latin typeface="Cambria" pitchFamily="34" charset="0"/>
                <a:ea typeface="Cambria" pitchFamily="34" charset="-122"/>
                <a:cs typeface="Cambria" pitchFamily="34" charset="-120"/>
              </a:rPr>
              <a:t>82 / 18</a:t>
            </a:r>
            <a:endParaRPr lang="en-US" sz="4000" dirty="0"/>
          </a:p>
        </p:txBody>
      </p:sp>
      <p:sp>
        <p:nvSpPr>
          <p:cNvPr id="9" name="Text 7"/>
          <p:cNvSpPr txBox="1"/>
          <p:nvPr/>
        </p:nvSpPr>
        <p:spPr>
          <a:xfrm>
            <a:off x="4434840" y="2139696"/>
            <a:ext cx="3383280" cy="310896"/>
          </a:xfrm>
          <a:prstGeom prst="rect">
            <a:avLst/>
          </a:prstGeom>
          <a:noFill/>
          <a:ln/>
        </p:spPr>
        <p:txBody>
          <a:bodyPr wrap="square" lIns="0" tIns="0" rIns="0" bIns="0" rtlCol="0" anchor="ctr"/>
          <a:lstStyle/>
          <a:p>
            <a:pPr indent="0" marL="0">
              <a:buNone/>
            </a:pPr>
            <a:r>
              <a:rPr lang="en-US" sz="1250" b="1" dirty="0">
                <a:solidFill>
                  <a:srgbClr val="1C1B19"/>
                </a:solidFill>
                <a:latin typeface="Calibri" pitchFamily="34" charset="0"/>
                <a:ea typeface="Calibri" pitchFamily="34" charset="-122"/>
                <a:cs typeface="Calibri" pitchFamily="34" charset="-120"/>
              </a:rPr>
              <a:t>wet / dry split</a:t>
            </a:r>
            <a:endParaRPr lang="en-US" sz="1250" dirty="0"/>
          </a:p>
        </p:txBody>
      </p:sp>
      <p:sp>
        <p:nvSpPr>
          <p:cNvPr id="10" name="Text 8"/>
          <p:cNvSpPr txBox="1"/>
          <p:nvPr/>
        </p:nvSpPr>
        <p:spPr>
          <a:xfrm>
            <a:off x="4434840" y="2432304"/>
            <a:ext cx="3383280" cy="548640"/>
          </a:xfrm>
          <a:prstGeom prst="rect">
            <a:avLst/>
          </a:prstGeom>
          <a:noFill/>
          <a:ln/>
        </p:spPr>
        <p:txBody>
          <a:bodyPr wrap="square" lIns="0" tIns="0" rIns="0" bIns="0" rtlCol="0" anchor="ctr"/>
          <a:lstStyle/>
          <a:p>
            <a:pPr indent="0" marL="0">
              <a:buNone/>
            </a:pPr>
            <a:r>
              <a:rPr lang="en-US" sz="1050" dirty="0">
                <a:solidFill>
                  <a:srgbClr val="6B6560"/>
                </a:solidFill>
                <a:latin typeface="Calibri" pitchFamily="34" charset="0"/>
                <a:ea typeface="Calibri" pitchFamily="34" charset="-122"/>
                <a:cs typeface="Calibri" pitchFamily="34" charset="-120"/>
              </a:rPr>
              <a:t>dry numbers reported apart, never pooled into a headline</a:t>
            </a:r>
            <a:endParaRPr lang="en-US" sz="1050" dirty="0"/>
          </a:p>
        </p:txBody>
      </p:sp>
      <p:sp>
        <p:nvSpPr>
          <p:cNvPr id="11" name="Text 9"/>
          <p:cNvSpPr txBox="1"/>
          <p:nvPr/>
        </p:nvSpPr>
        <p:spPr>
          <a:xfrm>
            <a:off x="8275320" y="1371600"/>
            <a:ext cx="3383280" cy="786384"/>
          </a:xfrm>
          <a:prstGeom prst="rect">
            <a:avLst/>
          </a:prstGeom>
          <a:noFill/>
          <a:ln/>
        </p:spPr>
        <p:txBody>
          <a:bodyPr wrap="square" lIns="0" tIns="0" rIns="0" bIns="0" rtlCol="0" anchor="ctr"/>
          <a:lstStyle/>
          <a:p>
            <a:pPr indent="0" marL="0">
              <a:buNone/>
            </a:pPr>
            <a:r>
              <a:rPr lang="en-US" sz="4000" b="1" dirty="0">
                <a:solidFill>
                  <a:srgbClr val="6B8F71"/>
                </a:solidFill>
                <a:latin typeface="Cambria" pitchFamily="34" charset="0"/>
                <a:ea typeface="Cambria" pitchFamily="34" charset="-122"/>
                <a:cs typeface="Cambria" pitchFamily="34" charset="-120"/>
              </a:rPr>
              <a:t>45 / 55</a:t>
            </a:r>
            <a:endParaRPr lang="en-US" sz="4000" dirty="0"/>
          </a:p>
        </p:txBody>
      </p:sp>
      <p:sp>
        <p:nvSpPr>
          <p:cNvPr id="12" name="Text 10"/>
          <p:cNvSpPr txBox="1"/>
          <p:nvPr/>
        </p:nvSpPr>
        <p:spPr>
          <a:xfrm>
            <a:off x="8275320" y="2139696"/>
            <a:ext cx="3383280" cy="310896"/>
          </a:xfrm>
          <a:prstGeom prst="rect">
            <a:avLst/>
          </a:prstGeom>
          <a:noFill/>
          <a:ln/>
        </p:spPr>
        <p:txBody>
          <a:bodyPr wrap="square" lIns="0" tIns="0" rIns="0" bIns="0" rtlCol="0" anchor="ctr"/>
          <a:lstStyle/>
          <a:p>
            <a:pPr indent="0" marL="0">
              <a:buNone/>
            </a:pPr>
            <a:r>
              <a:rPr lang="en-US" sz="1250" b="1" dirty="0">
                <a:solidFill>
                  <a:srgbClr val="1C1B19"/>
                </a:solidFill>
                <a:latin typeface="Calibri" pitchFamily="34" charset="0"/>
                <a:ea typeface="Calibri" pitchFamily="34" charset="-122"/>
                <a:cs typeface="Calibri" pitchFamily="34" charset="-120"/>
              </a:rPr>
              <a:t>dry / wet per epoch</a:t>
            </a:r>
            <a:endParaRPr lang="en-US" sz="1250" dirty="0"/>
          </a:p>
        </p:txBody>
      </p:sp>
      <p:sp>
        <p:nvSpPr>
          <p:cNvPr id="13" name="Text 11"/>
          <p:cNvSpPr txBox="1"/>
          <p:nvPr/>
        </p:nvSpPr>
        <p:spPr>
          <a:xfrm>
            <a:off x="8275320" y="2432304"/>
            <a:ext cx="3383280" cy="548640"/>
          </a:xfrm>
          <a:prstGeom prst="rect">
            <a:avLst/>
          </a:prstGeom>
          <a:noFill/>
          <a:ln/>
        </p:spPr>
        <p:txBody>
          <a:bodyPr wrap="square" lIns="0" tIns="0" rIns="0" bIns="0" rtlCol="0" anchor="ctr"/>
          <a:lstStyle/>
          <a:p>
            <a:pPr indent="0" marL="0">
              <a:buNone/>
            </a:pPr>
            <a:r>
              <a:rPr lang="en-US" sz="1050" dirty="0">
                <a:solidFill>
                  <a:srgbClr val="6B6560"/>
                </a:solidFill>
                <a:latin typeface="Calibri" pitchFamily="34" charset="0"/>
                <a:ea typeface="Calibri" pitchFamily="34" charset="-122"/>
                <a:cs typeface="Calibri" pitchFamily="34" charset="-120"/>
              </a:rPr>
              <a:t>hierarchical balanced sampling — no runs deleted</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3246120"/>
          <a:ext cx="11064240" cy="914400"/>
        </p:xfrm>
        <a:graphic>
          <a:graphicData uri="http://schemas.openxmlformats.org/drawingml/2006/table">
            <a:tbl>
              <a:tblPr/>
              <a:tblGrid>
                <a:gridCol w="2377440"/>
                <a:gridCol w="822960"/>
                <a:gridCol w="1097280"/>
                <a:gridCol w="6766560"/>
              </a:tblGrid>
              <a:tr h="329184">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held-out group</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runs</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rows</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what it tests</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unseen_day_wet</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1,947</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a whole wet day the model never saw</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unseen_runs_dry</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966</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dry runs from days it did train on</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unseen_runs_wet</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2,014</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the same for wet</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3,016</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train</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23,871</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bl>
          </a:graphicData>
        </a:graphic>
      </p:graphicFrame>
      <p:sp>
        <p:nvSpPr>
          <p:cNvPr id="15" name="Text 12"/>
          <p:cNvSpPr txBox="1"/>
          <p:nvPr/>
        </p:nvSpPr>
        <p:spPr>
          <a:xfrm>
            <a:off x="566928" y="5596128"/>
            <a:ext cx="11064240" cy="411480"/>
          </a:xfrm>
          <a:prstGeom prst="rect">
            <a:avLst/>
          </a:prstGeom>
          <a:noFill/>
          <a:ln/>
        </p:spPr>
        <p:txBody>
          <a:bodyPr wrap="square" lIns="0" tIns="0" rIns="0" bIns="0" rtlCol="0" anchor="ctr"/>
          <a:lstStyle/>
          <a:p>
            <a:pPr indent="0" marL="0">
              <a:buNone/>
            </a:pPr>
            <a:r>
              <a:rPr lang="en-US" sz="1200" i="1" dirty="0">
                <a:solidFill>
                  <a:srgbClr val="6B6560"/>
                </a:solidFill>
                <a:latin typeface="Calibri" pitchFamily="34" charset="0"/>
                <a:ea typeface="Calibri" pitchFamily="34" charset="-122"/>
                <a:cs typeface="Calibri" pitchFamily="34" charset="-120"/>
              </a:rPr>
              <a:t>No whole dry day is held out: the only pure dry day carries 75% of all the dry data, and removing it would leave 1.5k dry rows to train 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WHY V1’S REGION WAS WRONG</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“The top half” was never “the useless part”</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pic>
        <p:nvPicPr>
          <p:cNvPr id="5" name="Image 0" descr="img/f_region_audit.png">    </p:cNvPr>
          <p:cNvPicPr>
            <a:picLocks noChangeAspect="1"/>
          </p:cNvPicPr>
          <p:nvPr/>
        </p:nvPicPr>
        <p:blipFill>
          <a:blip r:embed="rId1"/>
          <a:stretch>
            <a:fillRect/>
          </a:stretch>
        </p:blipFill>
        <p:spPr>
          <a:xfrm>
            <a:off x="685800" y="1371600"/>
            <a:ext cx="10881360" cy="3063240"/>
          </a:xfrm>
          <a:prstGeom prst="rect">
            <a:avLst/>
          </a:prstGeom>
        </p:spPr>
      </p:pic>
      <p:sp>
        <p:nvSpPr>
          <p:cNvPr id="6" name="Shape 3"/>
          <p:cNvSpPr/>
          <p:nvPr/>
        </p:nvSpPr>
        <p:spPr>
          <a:xfrm>
            <a:off x="566928" y="4617720"/>
            <a:ext cx="2606040" cy="1234440"/>
          </a:xfrm>
          <a:prstGeom prst="roundRect">
            <a:avLst>
              <a:gd name="adj" fmla="val 5926"/>
            </a:avLst>
          </a:prstGeom>
          <a:solidFill>
            <a:srgbClr val="F4F1ED"/>
          </a:solidFill>
          <a:ln w="6350">
            <a:solidFill>
              <a:srgbClr val="F4F1ED"/>
            </a:solidFill>
            <a:prstDash val="solid"/>
          </a:ln>
        </p:spPr>
      </p:sp>
      <p:sp>
        <p:nvSpPr>
          <p:cNvPr id="7" name="Text 4"/>
          <p:cNvSpPr txBox="1"/>
          <p:nvPr/>
        </p:nvSpPr>
        <p:spPr>
          <a:xfrm>
            <a:off x="768096" y="4709160"/>
            <a:ext cx="2194560" cy="530352"/>
          </a:xfrm>
          <a:prstGeom prst="rect">
            <a:avLst/>
          </a:prstGeom>
          <a:noFill/>
          <a:ln/>
        </p:spPr>
        <p:txBody>
          <a:bodyPr wrap="square" lIns="0" tIns="0" rIns="0" bIns="0" rtlCol="0" anchor="ctr"/>
          <a:lstStyle/>
          <a:p>
            <a:pPr indent="0" marL="0">
              <a:buNone/>
            </a:pPr>
            <a:r>
              <a:rPr lang="en-US" sz="2800" b="1" dirty="0">
                <a:solidFill>
                  <a:srgbClr val="6B8F71"/>
                </a:solidFill>
                <a:latin typeface="Cambria" pitchFamily="34" charset="0"/>
                <a:ea typeface="Cambria" pitchFamily="34" charset="-122"/>
                <a:cs typeface="Cambria" pitchFamily="34" charset="-120"/>
              </a:rPr>
              <a:t>1.00</a:t>
            </a:r>
            <a:endParaRPr lang="en-US" sz="2800" dirty="0"/>
          </a:p>
        </p:txBody>
      </p:sp>
      <p:sp>
        <p:nvSpPr>
          <p:cNvPr id="8" name="Text 5"/>
          <p:cNvSpPr txBox="1"/>
          <p:nvPr/>
        </p:nvSpPr>
        <p:spPr>
          <a:xfrm>
            <a:off x="768096" y="5230368"/>
            <a:ext cx="2240280" cy="566928"/>
          </a:xfrm>
          <a:prstGeom prst="rect">
            <a:avLst/>
          </a:prstGeom>
          <a:noFill/>
          <a:ln/>
        </p:spPr>
        <p:txBody>
          <a:bodyPr wrap="square" lIns="0" tIns="0" rIns="0" bIns="0" rtlCol="0" anchor="ctr"/>
          <a:lstStyle/>
          <a:p>
            <a:pPr indent="0" marL="0">
              <a:lnSpc>
                <a:spcPts val="1400"/>
              </a:lnSpc>
              <a:buNone/>
            </a:pPr>
            <a:r>
              <a:rPr lang="en-US" sz="1100" dirty="0">
                <a:solidFill>
                  <a:srgbClr val="6B6560"/>
                </a:solidFill>
                <a:latin typeface="Calibri" pitchFamily="34" charset="0"/>
                <a:ea typeface="Calibri" pitchFamily="34" charset="-122"/>
                <a:cs typeface="Calibri" pitchFamily="34" charset="-120"/>
              </a:rPr>
              <a:t>of the sky is inside the top half</a:t>
            </a:r>
            <a:endParaRPr lang="en-US" sz="1100" dirty="0"/>
          </a:p>
        </p:txBody>
      </p:sp>
      <p:sp>
        <p:nvSpPr>
          <p:cNvPr id="9" name="Shape 6"/>
          <p:cNvSpPr/>
          <p:nvPr/>
        </p:nvSpPr>
        <p:spPr>
          <a:xfrm>
            <a:off x="3392424" y="4617720"/>
            <a:ext cx="2606040" cy="1234440"/>
          </a:xfrm>
          <a:prstGeom prst="roundRect">
            <a:avLst>
              <a:gd name="adj" fmla="val 5926"/>
            </a:avLst>
          </a:prstGeom>
          <a:solidFill>
            <a:srgbClr val="F4F1ED"/>
          </a:solidFill>
          <a:ln w="6350">
            <a:solidFill>
              <a:srgbClr val="F4F1ED"/>
            </a:solidFill>
            <a:prstDash val="solid"/>
          </a:ln>
        </p:spPr>
      </p:sp>
      <p:sp>
        <p:nvSpPr>
          <p:cNvPr id="10" name="Text 7"/>
          <p:cNvSpPr txBox="1"/>
          <p:nvPr/>
        </p:nvSpPr>
        <p:spPr>
          <a:xfrm>
            <a:off x="3593592" y="4709160"/>
            <a:ext cx="2194560" cy="530352"/>
          </a:xfrm>
          <a:prstGeom prst="rect">
            <a:avLst/>
          </a:prstGeom>
          <a:noFill/>
          <a:ln/>
        </p:spPr>
        <p:txBody>
          <a:bodyPr wrap="square" lIns="0" tIns="0" rIns="0" bIns="0" rtlCol="0" anchor="ctr"/>
          <a:lstStyle/>
          <a:p>
            <a:pPr indent="0" marL="0">
              <a:buNone/>
            </a:pPr>
            <a:r>
              <a:rPr lang="en-US" sz="2800" b="1" dirty="0">
                <a:solidFill>
                  <a:srgbClr val="B85042"/>
                </a:solidFill>
                <a:latin typeface="Cambria" pitchFamily="34" charset="0"/>
                <a:ea typeface="Cambria" pitchFamily="34" charset="-122"/>
                <a:cs typeface="Cambria" pitchFamily="34" charset="-120"/>
              </a:rPr>
              <a:t>0.19</a:t>
            </a:r>
            <a:endParaRPr lang="en-US" sz="2800" dirty="0"/>
          </a:p>
        </p:txBody>
      </p:sp>
      <p:sp>
        <p:nvSpPr>
          <p:cNvPr id="11" name="Text 8"/>
          <p:cNvSpPr txBox="1"/>
          <p:nvPr/>
        </p:nvSpPr>
        <p:spPr>
          <a:xfrm>
            <a:off x="3593592" y="5230368"/>
            <a:ext cx="2240280" cy="566928"/>
          </a:xfrm>
          <a:prstGeom prst="rect">
            <a:avLst/>
          </a:prstGeom>
          <a:noFill/>
          <a:ln/>
        </p:spPr>
        <p:txBody>
          <a:bodyPr wrap="square" lIns="0" tIns="0" rIns="0" bIns="0" rtlCol="0" anchor="ctr"/>
          <a:lstStyle/>
          <a:p>
            <a:pPr indent="0" marL="0">
              <a:lnSpc>
                <a:spcPts val="1400"/>
              </a:lnSpc>
              <a:buNone/>
            </a:pPr>
            <a:r>
              <a:rPr lang="en-US" sz="1100" dirty="0">
                <a:solidFill>
                  <a:srgbClr val="6B6560"/>
                </a:solidFill>
                <a:latin typeface="Calibri" pitchFamily="34" charset="0"/>
                <a:ea typeface="Calibri" pitchFamily="34" charset="-122"/>
                <a:cs typeface="Calibri" pitchFamily="34" charset="-120"/>
              </a:rPr>
              <a:t>IoU between the top half and the sky</a:t>
            </a:r>
            <a:endParaRPr lang="en-US" sz="1100" dirty="0"/>
          </a:p>
        </p:txBody>
      </p:sp>
      <p:sp>
        <p:nvSpPr>
          <p:cNvPr id="12" name="Shape 9"/>
          <p:cNvSpPr/>
          <p:nvPr/>
        </p:nvSpPr>
        <p:spPr>
          <a:xfrm>
            <a:off x="6217920" y="4617720"/>
            <a:ext cx="2606040" cy="1234440"/>
          </a:xfrm>
          <a:prstGeom prst="roundRect">
            <a:avLst>
              <a:gd name="adj" fmla="val 5926"/>
            </a:avLst>
          </a:prstGeom>
          <a:solidFill>
            <a:srgbClr val="F4F1ED"/>
          </a:solidFill>
          <a:ln w="6350">
            <a:solidFill>
              <a:srgbClr val="F4F1ED"/>
            </a:solidFill>
            <a:prstDash val="solid"/>
          </a:ln>
        </p:spPr>
      </p:sp>
      <p:sp>
        <p:nvSpPr>
          <p:cNvPr id="13" name="Text 10"/>
          <p:cNvSpPr txBox="1"/>
          <p:nvPr/>
        </p:nvSpPr>
        <p:spPr>
          <a:xfrm>
            <a:off x="6419088" y="4709160"/>
            <a:ext cx="2194560" cy="530352"/>
          </a:xfrm>
          <a:prstGeom prst="rect">
            <a:avLst/>
          </a:prstGeom>
          <a:noFill/>
          <a:ln/>
        </p:spPr>
        <p:txBody>
          <a:bodyPr wrap="square" lIns="0" tIns="0" rIns="0" bIns="0" rtlCol="0" anchor="ctr"/>
          <a:lstStyle/>
          <a:p>
            <a:pPr indent="0" marL="0">
              <a:buNone/>
            </a:pPr>
            <a:r>
              <a:rPr lang="en-US" sz="2800" b="1" dirty="0">
                <a:solidFill>
                  <a:srgbClr val="B85042"/>
                </a:solidFill>
                <a:latin typeface="Cambria" pitchFamily="34" charset="0"/>
                <a:ea typeface="Cambria" pitchFamily="34" charset="-122"/>
                <a:cs typeface="Cambria" pitchFamily="34" charset="-120"/>
              </a:rPr>
              <a:t>24%</a:t>
            </a:r>
            <a:endParaRPr lang="en-US" sz="2800" dirty="0"/>
          </a:p>
        </p:txBody>
      </p:sp>
      <p:sp>
        <p:nvSpPr>
          <p:cNvPr id="14" name="Text 11"/>
          <p:cNvSpPr txBox="1"/>
          <p:nvPr/>
        </p:nvSpPr>
        <p:spPr>
          <a:xfrm>
            <a:off x="6419088" y="5230368"/>
            <a:ext cx="2240280" cy="566928"/>
          </a:xfrm>
          <a:prstGeom prst="rect">
            <a:avLst/>
          </a:prstGeom>
          <a:noFill/>
          <a:ln/>
        </p:spPr>
        <p:txBody>
          <a:bodyPr wrap="square" lIns="0" tIns="0" rIns="0" bIns="0" rtlCol="0" anchor="ctr"/>
          <a:lstStyle/>
          <a:p>
            <a:pPr indent="0" marL="0">
              <a:lnSpc>
                <a:spcPts val="1400"/>
              </a:lnSpc>
              <a:buNone/>
            </a:pPr>
            <a:r>
              <a:rPr lang="en-US" sz="1100" dirty="0">
                <a:solidFill>
                  <a:srgbClr val="6B6560"/>
                </a:solidFill>
                <a:latin typeface="Calibri" pitchFamily="34" charset="0"/>
                <a:ea typeface="Calibri" pitchFamily="34" charset="-122"/>
                <a:cs typeface="Calibri" pitchFamily="34" charset="-120"/>
              </a:rPr>
              <a:t>of the top half is NEAR GROUND</a:t>
            </a:r>
            <a:endParaRPr lang="en-US" sz="1100" dirty="0"/>
          </a:p>
        </p:txBody>
      </p:sp>
      <p:sp>
        <p:nvSpPr>
          <p:cNvPr id="15" name="Shape 12"/>
          <p:cNvSpPr/>
          <p:nvPr/>
        </p:nvSpPr>
        <p:spPr>
          <a:xfrm>
            <a:off x="9043416" y="4617720"/>
            <a:ext cx="2606040" cy="1234440"/>
          </a:xfrm>
          <a:prstGeom prst="roundRect">
            <a:avLst>
              <a:gd name="adj" fmla="val 5926"/>
            </a:avLst>
          </a:prstGeom>
          <a:solidFill>
            <a:srgbClr val="F4F1ED"/>
          </a:solidFill>
          <a:ln w="6350">
            <a:solidFill>
              <a:srgbClr val="F4F1ED"/>
            </a:solidFill>
            <a:prstDash val="solid"/>
          </a:ln>
        </p:spPr>
      </p:sp>
      <p:sp>
        <p:nvSpPr>
          <p:cNvPr id="16" name="Text 13"/>
          <p:cNvSpPr txBox="1"/>
          <p:nvPr/>
        </p:nvSpPr>
        <p:spPr>
          <a:xfrm>
            <a:off x="9244584" y="4709160"/>
            <a:ext cx="2194560" cy="530352"/>
          </a:xfrm>
          <a:prstGeom prst="rect">
            <a:avLst/>
          </a:prstGeom>
          <a:noFill/>
          <a:ln/>
        </p:spPr>
        <p:txBody>
          <a:bodyPr wrap="square" lIns="0" tIns="0" rIns="0" bIns="0" rtlCol="0" anchor="ctr"/>
          <a:lstStyle/>
          <a:p>
            <a:pPr indent="0" marL="0">
              <a:buNone/>
            </a:pPr>
            <a:r>
              <a:rPr lang="en-US" sz="2800" b="1" dirty="0">
                <a:solidFill>
                  <a:srgbClr val="6B8F71"/>
                </a:solidFill>
                <a:latin typeface="Cambria" pitchFamily="34" charset="0"/>
                <a:ea typeface="Cambria" pitchFamily="34" charset="-122"/>
                <a:cs typeface="Cambria" pitchFamily="34" charset="-120"/>
              </a:rPr>
              <a:t>0.986</a:t>
            </a:r>
            <a:endParaRPr lang="en-US" sz="2800" dirty="0"/>
          </a:p>
        </p:txBody>
      </p:sp>
      <p:sp>
        <p:nvSpPr>
          <p:cNvPr id="17" name="Text 14"/>
          <p:cNvSpPr txBox="1"/>
          <p:nvPr/>
        </p:nvSpPr>
        <p:spPr>
          <a:xfrm>
            <a:off x="9244584" y="5230368"/>
            <a:ext cx="2240280" cy="566928"/>
          </a:xfrm>
          <a:prstGeom prst="rect">
            <a:avLst/>
          </a:prstGeom>
          <a:noFill/>
          <a:ln/>
        </p:spPr>
        <p:txBody>
          <a:bodyPr wrap="square" lIns="0" tIns="0" rIns="0" bIns="0" rtlCol="0" anchor="ctr"/>
          <a:lstStyle/>
          <a:p>
            <a:pPr indent="0" marL="0">
              <a:lnSpc>
                <a:spcPts val="1400"/>
              </a:lnSpc>
              <a:buNone/>
            </a:pPr>
            <a:r>
              <a:rPr lang="en-US" sz="1100" dirty="0">
                <a:solidFill>
                  <a:srgbClr val="6B6560"/>
                </a:solidFill>
                <a:latin typeface="Calibri" pitchFamily="34" charset="0"/>
                <a:ea typeface="Calibri" pitchFamily="34" charset="-122"/>
                <a:cs typeface="Calibri" pitchFamily="34" charset="-120"/>
              </a:rPr>
              <a:t>of our sky mask is beyond sensor range</a:t>
            </a:r>
            <a:endParaRPr lang="en-US" sz="1100" dirty="0"/>
          </a:p>
        </p:txBody>
      </p:sp>
      <p:sp>
        <p:nvSpPr>
          <p:cNvPr id="18" name="Text 15"/>
          <p:cNvSpPr txBox="1"/>
          <p:nvPr/>
        </p:nvSpPr>
        <p:spPr>
          <a:xfrm>
            <a:off x="566928" y="6035040"/>
            <a:ext cx="11064240" cy="365760"/>
          </a:xfrm>
          <a:prstGeom prst="rect">
            <a:avLst/>
          </a:prstGeom>
          <a:noFill/>
          <a:ln/>
        </p:spPr>
        <p:txBody>
          <a:bodyPr wrap="square" lIns="0" tIns="0" rIns="0" bIns="0" rtlCol="0" anchor="ctr"/>
          <a:lstStyle/>
          <a:p>
            <a:pPr indent="0" marL="0">
              <a:buNone/>
            </a:pPr>
            <a:r>
              <a:rPr lang="en-US" sz="1150" i="1" dirty="0">
                <a:solidFill>
                  <a:srgbClr val="6B6560"/>
                </a:solidFill>
                <a:latin typeface="Calibri" pitchFamily="34" charset="0"/>
                <a:ea typeface="Calibri" pitchFamily="34" charset="-122"/>
                <a:cs typeface="Calibri" pitchFamily="34" charset="-120"/>
              </a:rPr>
              <a:t>Depth gives a check no learned mask can give itself: real sky must return nothing. It cannot separate sky from a distant tower — so it is used as an upper bound, not a label.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REGION MASKS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The ground class list is diagnosed, not guessed</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pic>
        <p:nvPicPr>
          <p:cNvPr id="5" name="Image 0" descr="img/f_mask_fix.png">    </p:cNvPr>
          <p:cNvPicPr>
            <a:picLocks noChangeAspect="1"/>
          </p:cNvPicPr>
          <p:nvPr/>
        </p:nvPicPr>
        <p:blipFill>
          <a:blip r:embed="rId1"/>
          <a:stretch>
            <a:fillRect/>
          </a:stretch>
        </p:blipFill>
        <p:spPr>
          <a:xfrm>
            <a:off x="6035040" y="1463040"/>
            <a:ext cx="5596128" cy="4041648"/>
          </a:xfrm>
          <a:prstGeom prst="rect">
            <a:avLst/>
          </a:prstGeom>
        </p:spPr>
      </p:pic>
      <p:sp>
        <p:nvSpPr>
          <p:cNvPr id="6" name="Text 3"/>
          <p:cNvSpPr txBox="1"/>
          <p:nvPr/>
        </p:nvSpPr>
        <p:spPr>
          <a:xfrm>
            <a:off x="566928" y="1481328"/>
            <a:ext cx="5212080" cy="2286000"/>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300" dirty="0">
                <a:solidFill>
                  <a:srgbClr val="1C1B19"/>
                </a:solidFill>
                <a:latin typeface="Calibri" pitchFamily="34" charset="0"/>
                <a:ea typeface="Calibri" pitchFamily="34" charset="-122"/>
                <a:cs typeface="Calibri" pitchFamily="34" charset="-120"/>
              </a:rPr>
              <a:t>SegFormer-b0 on ADE20K → sky / ground / other, cached once per frame at 224×224.</a:t>
            </a:r>
            <a:endParaRPr lang="en-US" sz="1300" dirty="0"/>
          </a:p>
          <a:p>
            <a:pPr marL="342900" indent="-342900">
              <a:lnSpc>
                <a:spcPts val="2000"/>
              </a:lnSpc>
              <a:spcAft>
                <a:spcPts val="700"/>
              </a:spcAft>
              <a:buSzPct val="100000"/>
              <a:buChar char="•"/>
            </a:pPr>
            <a:r>
              <a:rPr lang="en-US" sz="1300" dirty="0">
                <a:solidFill>
                  <a:srgbClr val="1C1B19"/>
                </a:solidFill>
                <a:latin typeface="Calibri" pitchFamily="34" charset="0"/>
                <a:ea typeface="Calibri" pitchFamily="34" charset="-122"/>
                <a:cs typeface="Calibri" pitchFamily="34" charset="-120"/>
              </a:rPr>
              <a:t>Only a semantic segmenter can say “this is drivable terrain”. A sky detector can only say “this is not sky”, which lumps trees and buildings in with the grass.</a:t>
            </a:r>
            <a:endParaRPr lang="en-US" sz="1300" dirty="0"/>
          </a:p>
          <a:p>
            <a:pPr marL="342900" indent="-342900">
              <a:lnSpc>
                <a:spcPts val="2000"/>
              </a:lnSpc>
              <a:spcAft>
                <a:spcPts val="700"/>
              </a:spcAft>
              <a:buSzPct val="100000"/>
              <a:buChar char="•"/>
            </a:pPr>
            <a:r>
              <a:rPr lang="en-US" sz="1300" dirty="0">
                <a:solidFill>
                  <a:srgbClr val="1C1B19"/>
                </a:solidFill>
                <a:latin typeface="Calibri" pitchFamily="34" charset="0"/>
                <a:ea typeface="Calibri" pitchFamily="34" charset="-122"/>
                <a:cs typeface="Calibri" pitchFamily="34" charset="-120"/>
              </a:rPr>
              <a:t>The code refuses a non-ground penalty on a cache without a real ground channel.</a:t>
            </a:r>
            <a:endParaRPr lang="en-US" sz="1300" dirty="0"/>
          </a:p>
        </p:txBody>
      </p:sp>
      <p:sp>
        <p:nvSpPr>
          <p:cNvPr id="7" name="Shape 4"/>
          <p:cNvSpPr/>
          <p:nvPr/>
        </p:nvSpPr>
        <p:spPr>
          <a:xfrm>
            <a:off x="566928" y="3840480"/>
            <a:ext cx="5212080" cy="1664208"/>
          </a:xfrm>
          <a:prstGeom prst="roundRect">
            <a:avLst>
              <a:gd name="adj" fmla="val 4396"/>
            </a:avLst>
          </a:prstGeom>
          <a:solidFill>
            <a:srgbClr val="FBEEEB"/>
          </a:solidFill>
          <a:ln w="6350">
            <a:solidFill>
              <a:srgbClr val="FBEEEB"/>
            </a:solidFill>
            <a:prstDash val="solid"/>
          </a:ln>
        </p:spPr>
      </p:sp>
      <p:sp>
        <p:nvSpPr>
          <p:cNvPr id="8" name="Text 5"/>
          <p:cNvSpPr txBox="1"/>
          <p:nvPr/>
        </p:nvSpPr>
        <p:spPr>
          <a:xfrm>
            <a:off x="841248" y="4023360"/>
            <a:ext cx="4709160" cy="310896"/>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The class list is measured, not guessed.</a:t>
            </a:r>
            <a:endParaRPr lang="en-US" sz="1300" dirty="0"/>
          </a:p>
        </p:txBody>
      </p:sp>
      <p:sp>
        <p:nvSpPr>
          <p:cNvPr id="9" name="Text 6"/>
          <p:cNvSpPr txBox="1"/>
          <p:nvPr/>
        </p:nvSpPr>
        <p:spPr>
          <a:xfrm>
            <a:off x="841248" y="4352544"/>
            <a:ext cx="4709160" cy="1051560"/>
          </a:xfrm>
          <a:prstGeom prst="rect">
            <a:avLst/>
          </a:prstGeom>
          <a:noFill/>
          <a:ln/>
        </p:spPr>
        <p:txBody>
          <a:bodyPr wrap="square" lIns="0" tIns="0" rIns="0" bIns="0" rtlCol="0" anchor="ctr"/>
          <a:lstStyle/>
          <a:p>
            <a:pPr indent="0" marL="0">
              <a:lnSpc>
                <a:spcPts val="1500"/>
              </a:lnSpc>
              <a:buNone/>
            </a:pPr>
            <a:r>
              <a:rPr lang="en-US" sz="1150" dirty="0">
                <a:solidFill>
                  <a:srgbClr val="6B6560"/>
                </a:solidFill>
                <a:latin typeface="Calibri" pitchFamily="34" charset="0"/>
                <a:ea typeface="Calibri" pitchFamily="34" charset="-122"/>
                <a:cs typeface="Calibri" pitchFamily="34" charset="-120"/>
              </a:rPr>
              <a:t>Sampling 189 frames and asking the segmenter what it calls the terrain band: mountain and rock fire on the ruts in front of the vehicle — 2.0% and 1.5% of the lower band, and 0.06% / 0.04% of the upper band. There is no mountain in these scenes.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QUALITY</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The mask is gated before any GPU time is spent</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pic>
        <p:nvPicPr>
          <p:cNvPr id="5" name="Image 0" descr="img/f_mask_regions.png">    </p:cNvPr>
          <p:cNvPicPr>
            <a:picLocks noChangeAspect="1"/>
          </p:cNvPicPr>
          <p:nvPr/>
        </p:nvPicPr>
        <p:blipFill>
          <a:blip r:embed="rId1"/>
          <a:stretch>
            <a:fillRect/>
          </a:stretch>
        </p:blipFill>
        <p:spPr>
          <a:xfrm>
            <a:off x="7360920" y="1417320"/>
            <a:ext cx="4261104" cy="4389120"/>
          </a:xfrm>
          <a:prstGeom prst="rect">
            <a:avLst/>
          </a:prstGeom>
        </p:spPr>
      </p:pic>
      <p:sp>
        <p:nvSpPr>
          <p:cNvPr id="6" name="Shape 3"/>
          <p:cNvSpPr/>
          <p:nvPr/>
        </p:nvSpPr>
        <p:spPr>
          <a:xfrm>
            <a:off x="566928" y="1463040"/>
            <a:ext cx="6400800" cy="1298448"/>
          </a:xfrm>
          <a:prstGeom prst="roundRect">
            <a:avLst>
              <a:gd name="adj" fmla="val 5634"/>
            </a:avLst>
          </a:prstGeom>
          <a:solidFill>
            <a:srgbClr val="F4F1ED"/>
          </a:solidFill>
          <a:ln w="6350">
            <a:solidFill>
              <a:srgbClr val="F4F1ED"/>
            </a:solidFill>
            <a:prstDash val="solid"/>
          </a:ln>
        </p:spPr>
      </p:sp>
      <p:sp>
        <p:nvSpPr>
          <p:cNvPr id="7" name="Text 4"/>
          <p:cNvSpPr txBox="1"/>
          <p:nvPr/>
        </p:nvSpPr>
        <p:spPr>
          <a:xfrm>
            <a:off x="841248" y="1609344"/>
            <a:ext cx="1737360" cy="548640"/>
          </a:xfrm>
          <a:prstGeom prst="rect">
            <a:avLst/>
          </a:prstGeom>
          <a:noFill/>
          <a:ln/>
        </p:spPr>
        <p:txBody>
          <a:bodyPr wrap="square" lIns="0" tIns="0" rIns="0" bIns="0" rtlCol="0" anchor="ctr"/>
          <a:lstStyle/>
          <a:p>
            <a:pPr indent="0" marL="0">
              <a:buNone/>
            </a:pPr>
            <a:r>
              <a:rPr lang="en-US" sz="2700" b="1" dirty="0">
                <a:solidFill>
                  <a:srgbClr val="B85042"/>
                </a:solidFill>
                <a:latin typeface="Cambria" pitchFamily="34" charset="0"/>
                <a:ea typeface="Cambria" pitchFamily="34" charset="-122"/>
                <a:cs typeface="Cambria" pitchFamily="34" charset="-120"/>
              </a:rPr>
              <a:t>1.2%</a:t>
            </a:r>
            <a:endParaRPr lang="en-US" sz="2700" dirty="0"/>
          </a:p>
        </p:txBody>
      </p:sp>
      <p:sp>
        <p:nvSpPr>
          <p:cNvPr id="8" name="Text 5"/>
          <p:cNvSpPr txBox="1"/>
          <p:nvPr/>
        </p:nvSpPr>
        <p:spPr>
          <a:xfrm>
            <a:off x="2697480" y="1645920"/>
            <a:ext cx="3566160" cy="292608"/>
          </a:xfrm>
          <a:prstGeom prst="rect">
            <a:avLst/>
          </a:prstGeom>
          <a:noFill/>
          <a:ln/>
        </p:spPr>
        <p:txBody>
          <a:bodyPr wrap="square" lIns="0" tIns="0" rIns="0" bIns="0" rtlCol="0" anchor="ctr"/>
          <a:lstStyle/>
          <a:p>
            <a:pPr indent="0" marL="0">
              <a:buNone/>
            </a:pPr>
            <a:r>
              <a:rPr lang="en-US" sz="1350" b="1" dirty="0">
                <a:solidFill>
                  <a:srgbClr val="1C1B19"/>
                </a:solidFill>
                <a:latin typeface="Calibri" pitchFamily="34" charset="0"/>
                <a:ea typeface="Calibri" pitchFamily="34" charset="-122"/>
                <a:cs typeface="Calibri" pitchFamily="34" charset="-120"/>
              </a:rPr>
              <a:t>of frames untrusted</a:t>
            </a:r>
            <a:endParaRPr lang="en-US" sz="1350" dirty="0"/>
          </a:p>
        </p:txBody>
      </p:sp>
      <p:sp>
        <p:nvSpPr>
          <p:cNvPr id="9" name="Text 6"/>
          <p:cNvSpPr txBox="1"/>
          <p:nvPr/>
        </p:nvSpPr>
        <p:spPr>
          <a:xfrm>
            <a:off x="2697480" y="1965960"/>
            <a:ext cx="3611880" cy="658368"/>
          </a:xfrm>
          <a:prstGeom prst="rect">
            <a:avLst/>
          </a:prstGeom>
          <a:noFill/>
          <a:ln/>
        </p:spPr>
        <p:txBody>
          <a:bodyPr wrap="square" lIns="0" tIns="0" rIns="0" bIns="0" rtlCol="0" anchor="ctr"/>
          <a:lstStyle/>
          <a:p>
            <a:pPr indent="0" marL="0">
              <a:lnSpc>
                <a:spcPts val="1500"/>
              </a:lnSpc>
              <a:buNone/>
            </a:pPr>
            <a:r>
              <a:rPr lang="en-US" sz="1150" dirty="0">
                <a:solidFill>
                  <a:srgbClr val="6B6560"/>
                </a:solidFill>
                <a:latin typeface="Calibri" pitchFamily="34" charset="0"/>
                <a:ea typeface="Calibri" pitchFamily="34" charset="-122"/>
                <a:cs typeface="Calibri" pitchFamily="34" charset="-120"/>
              </a:rPr>
              <a:t>excluded from the guidance — never from training</a:t>
            </a:r>
            <a:endParaRPr lang="en-US" sz="1150" dirty="0"/>
          </a:p>
        </p:txBody>
      </p:sp>
      <p:sp>
        <p:nvSpPr>
          <p:cNvPr id="10" name="Shape 7"/>
          <p:cNvSpPr/>
          <p:nvPr/>
        </p:nvSpPr>
        <p:spPr>
          <a:xfrm>
            <a:off x="566928" y="2944368"/>
            <a:ext cx="6400800" cy="1298448"/>
          </a:xfrm>
          <a:prstGeom prst="roundRect">
            <a:avLst>
              <a:gd name="adj" fmla="val 5634"/>
            </a:avLst>
          </a:prstGeom>
          <a:solidFill>
            <a:srgbClr val="F4F1ED"/>
          </a:solidFill>
          <a:ln w="6350">
            <a:solidFill>
              <a:srgbClr val="F4F1ED"/>
            </a:solidFill>
            <a:prstDash val="solid"/>
          </a:ln>
        </p:spPr>
      </p:sp>
      <p:sp>
        <p:nvSpPr>
          <p:cNvPr id="11" name="Text 8"/>
          <p:cNvSpPr txBox="1"/>
          <p:nvPr/>
        </p:nvSpPr>
        <p:spPr>
          <a:xfrm>
            <a:off x="841248" y="3090672"/>
            <a:ext cx="1737360" cy="548640"/>
          </a:xfrm>
          <a:prstGeom prst="rect">
            <a:avLst/>
          </a:prstGeom>
          <a:noFill/>
          <a:ln/>
        </p:spPr>
        <p:txBody>
          <a:bodyPr wrap="square" lIns="0" tIns="0" rIns="0" bIns="0" rtlCol="0" anchor="ctr"/>
          <a:lstStyle/>
          <a:p>
            <a:pPr indent="0" marL="0">
              <a:buNone/>
            </a:pPr>
            <a:r>
              <a:rPr lang="en-US" sz="2700" b="1" dirty="0">
                <a:solidFill>
                  <a:srgbClr val="B85042"/>
                </a:solidFill>
                <a:latin typeface="Cambria" pitchFamily="34" charset="0"/>
                <a:ea typeface="Cambria" pitchFamily="34" charset="-122"/>
                <a:cs typeface="Cambria" pitchFamily="34" charset="-120"/>
              </a:rPr>
              <a:t>52</a:t>
            </a:r>
            <a:endParaRPr lang="en-US" sz="2700" dirty="0"/>
          </a:p>
        </p:txBody>
      </p:sp>
      <p:sp>
        <p:nvSpPr>
          <p:cNvPr id="12" name="Text 9"/>
          <p:cNvSpPr txBox="1"/>
          <p:nvPr/>
        </p:nvSpPr>
        <p:spPr>
          <a:xfrm>
            <a:off x="2697480" y="3127248"/>
            <a:ext cx="3566160" cy="292608"/>
          </a:xfrm>
          <a:prstGeom prst="rect">
            <a:avLst/>
          </a:prstGeom>
          <a:noFill/>
          <a:ln/>
        </p:spPr>
        <p:txBody>
          <a:bodyPr wrap="square" lIns="0" tIns="0" rIns="0" bIns="0" rtlCol="0" anchor="ctr"/>
          <a:lstStyle/>
          <a:p>
            <a:pPr indent="0" marL="0">
              <a:buNone/>
            </a:pPr>
            <a:r>
              <a:rPr lang="en-US" sz="1350" b="1" dirty="0">
                <a:solidFill>
                  <a:srgbClr val="1C1B19"/>
                </a:solidFill>
                <a:latin typeface="Calibri" pitchFamily="34" charset="0"/>
                <a:ea typeface="Calibri" pitchFamily="34" charset="-122"/>
                <a:cs typeface="Calibri" pitchFamily="34" charset="-120"/>
              </a:rPr>
              <a:t>frames rescued</a:t>
            </a:r>
            <a:endParaRPr lang="en-US" sz="1350" dirty="0"/>
          </a:p>
        </p:txBody>
      </p:sp>
      <p:sp>
        <p:nvSpPr>
          <p:cNvPr id="13" name="Text 10"/>
          <p:cNvSpPr txBox="1"/>
          <p:nvPr/>
        </p:nvSpPr>
        <p:spPr>
          <a:xfrm>
            <a:off x="2697480" y="3447288"/>
            <a:ext cx="3611880" cy="658368"/>
          </a:xfrm>
          <a:prstGeom prst="rect">
            <a:avLst/>
          </a:prstGeom>
          <a:noFill/>
          <a:ln/>
        </p:spPr>
        <p:txBody>
          <a:bodyPr wrap="square" lIns="0" tIns="0" rIns="0" bIns="0" rtlCol="0" anchor="ctr"/>
          <a:lstStyle/>
          <a:p>
            <a:pPr indent="0" marL="0">
              <a:lnSpc>
                <a:spcPts val="1500"/>
              </a:lnSpc>
              <a:buNone/>
            </a:pPr>
            <a:r>
              <a:rPr lang="en-US" sz="1150" dirty="0">
                <a:solidFill>
                  <a:srgbClr val="6B6560"/>
                </a:solidFill>
                <a:latin typeface="Calibri" pitchFamily="34" charset="0"/>
                <a:ea typeface="Calibri" pitchFamily="34" charset="-122"/>
                <a:cs typeface="Calibri" pitchFamily="34" charset="-120"/>
              </a:rPr>
              <a:t>white-balanced and contrast-equalised, then re-masked</a:t>
            </a:r>
            <a:endParaRPr lang="en-US" sz="1150" dirty="0"/>
          </a:p>
        </p:txBody>
      </p:sp>
      <p:sp>
        <p:nvSpPr>
          <p:cNvPr id="14" name="Shape 11"/>
          <p:cNvSpPr/>
          <p:nvPr/>
        </p:nvSpPr>
        <p:spPr>
          <a:xfrm>
            <a:off x="566928" y="4425696"/>
            <a:ext cx="6400800" cy="1298448"/>
          </a:xfrm>
          <a:prstGeom prst="roundRect">
            <a:avLst>
              <a:gd name="adj" fmla="val 5634"/>
            </a:avLst>
          </a:prstGeom>
          <a:solidFill>
            <a:srgbClr val="F4F1ED"/>
          </a:solidFill>
          <a:ln w="6350">
            <a:solidFill>
              <a:srgbClr val="F4F1ED"/>
            </a:solidFill>
            <a:prstDash val="solid"/>
          </a:ln>
        </p:spPr>
      </p:sp>
      <p:sp>
        <p:nvSpPr>
          <p:cNvPr id="15" name="Text 12"/>
          <p:cNvSpPr txBox="1"/>
          <p:nvPr/>
        </p:nvSpPr>
        <p:spPr>
          <a:xfrm>
            <a:off x="841248" y="4572000"/>
            <a:ext cx="1737360" cy="548640"/>
          </a:xfrm>
          <a:prstGeom prst="rect">
            <a:avLst/>
          </a:prstGeom>
          <a:noFill/>
          <a:ln/>
        </p:spPr>
        <p:txBody>
          <a:bodyPr wrap="square" lIns="0" tIns="0" rIns="0" bIns="0" rtlCol="0" anchor="ctr"/>
          <a:lstStyle/>
          <a:p>
            <a:pPr indent="0" marL="0">
              <a:buNone/>
            </a:pPr>
            <a:r>
              <a:rPr lang="en-US" sz="2700" b="1" dirty="0">
                <a:solidFill>
                  <a:srgbClr val="6B8F71"/>
                </a:solidFill>
                <a:latin typeface="Cambria" pitchFamily="34" charset="0"/>
                <a:ea typeface="Cambria" pitchFamily="34" charset="-122"/>
                <a:cs typeface="Cambria" pitchFamily="34" charset="-120"/>
              </a:rPr>
              <a:t>68.2%</a:t>
            </a:r>
            <a:endParaRPr lang="en-US" sz="2700" dirty="0"/>
          </a:p>
        </p:txBody>
      </p:sp>
      <p:sp>
        <p:nvSpPr>
          <p:cNvPr id="16" name="Text 13"/>
          <p:cNvSpPr txBox="1"/>
          <p:nvPr/>
        </p:nvSpPr>
        <p:spPr>
          <a:xfrm>
            <a:off x="2697480" y="4608576"/>
            <a:ext cx="3566160" cy="292608"/>
          </a:xfrm>
          <a:prstGeom prst="rect">
            <a:avLst/>
          </a:prstGeom>
          <a:noFill/>
          <a:ln/>
        </p:spPr>
        <p:txBody>
          <a:bodyPr wrap="square" lIns="0" tIns="0" rIns="0" bIns="0" rtlCol="0" anchor="ctr"/>
          <a:lstStyle/>
          <a:p>
            <a:pPr indent="0" marL="0">
              <a:buNone/>
            </a:pPr>
            <a:r>
              <a:rPr lang="en-US" sz="1350" b="1" dirty="0">
                <a:solidFill>
                  <a:srgbClr val="1C1B19"/>
                </a:solidFill>
                <a:latin typeface="Calibri" pitchFamily="34" charset="0"/>
                <a:ea typeface="Calibri" pitchFamily="34" charset="-122"/>
                <a:cs typeface="Calibri" pitchFamily="34" charset="-120"/>
              </a:rPr>
              <a:t>of a frame is ground</a:t>
            </a:r>
            <a:endParaRPr lang="en-US" sz="1350" dirty="0"/>
          </a:p>
        </p:txBody>
      </p:sp>
      <p:sp>
        <p:nvSpPr>
          <p:cNvPr id="17" name="Text 14"/>
          <p:cNvSpPr txBox="1"/>
          <p:nvPr/>
        </p:nvSpPr>
        <p:spPr>
          <a:xfrm>
            <a:off x="2697480" y="4928616"/>
            <a:ext cx="3611880" cy="658368"/>
          </a:xfrm>
          <a:prstGeom prst="rect">
            <a:avLst/>
          </a:prstGeom>
          <a:noFill/>
          <a:ln/>
        </p:spPr>
        <p:txBody>
          <a:bodyPr wrap="square" lIns="0" tIns="0" rIns="0" bIns="0" rtlCol="0" anchor="ctr"/>
          <a:lstStyle/>
          <a:p>
            <a:pPr indent="0" marL="0">
              <a:lnSpc>
                <a:spcPts val="1500"/>
              </a:lnSpc>
              <a:buNone/>
            </a:pPr>
            <a:r>
              <a:rPr lang="en-US" sz="1150" dirty="0">
                <a:solidFill>
                  <a:srgbClr val="6B6560"/>
                </a:solidFill>
                <a:latin typeface="Calibri" pitchFamily="34" charset="0"/>
                <a:ea typeface="Calibri" pitchFamily="34" charset="-122"/>
                <a:cs typeface="Calibri" pitchFamily="34" charset="-120"/>
              </a:rPr>
              <a:t>predicted 0.68 from the class diagnosis, before measuring</a:t>
            </a:r>
            <a:endParaRPr lang="en-US" sz="1150" dirty="0"/>
          </a:p>
        </p:txBody>
      </p:sp>
      <p:sp>
        <p:nvSpPr>
          <p:cNvPr id="18" name="Text 15"/>
          <p:cNvSpPr txBox="1"/>
          <p:nvPr/>
        </p:nvSpPr>
        <p:spPr>
          <a:xfrm>
            <a:off x="566928" y="5943600"/>
            <a:ext cx="6400800" cy="457200"/>
          </a:xfrm>
          <a:prstGeom prst="rect">
            <a:avLst/>
          </a:prstGeom>
          <a:noFill/>
          <a:ln/>
        </p:spPr>
        <p:txBody>
          <a:bodyPr wrap="square" lIns="0" tIns="0" rIns="0" bIns="0" rtlCol="0" anchor="ctr"/>
          <a:lstStyle/>
          <a:p>
            <a:pPr indent="0" marL="0">
              <a:buNone/>
            </a:pPr>
            <a:r>
              <a:rPr lang="en-US" sz="1100" i="1" dirty="0">
                <a:solidFill>
                  <a:srgbClr val="6B6560"/>
                </a:solidFill>
                <a:latin typeface="Calibri" pitchFamily="34" charset="0"/>
                <a:ea typeface="Calibri" pitchFamily="34" charset="-122"/>
                <a:cs typeface="Calibri" pitchFamily="34" charset="-120"/>
              </a:rPr>
              <a:t>Penalizing “everything except this 4% sliver” is worse than not guiding that frame at all — so implausible masks are marked and skipped, and the count is reported.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METHOD</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Two terms: where to look, and how widely</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sp>
        <p:nvSpPr>
          <p:cNvPr id="5" name="Shape 3"/>
          <p:cNvSpPr/>
          <p:nvPr/>
        </p:nvSpPr>
        <p:spPr>
          <a:xfrm>
            <a:off x="566928" y="1417320"/>
            <a:ext cx="11064240" cy="1143000"/>
          </a:xfrm>
          <a:prstGeom prst="roundRect">
            <a:avLst>
              <a:gd name="adj" fmla="val 6400"/>
            </a:avLst>
          </a:prstGeom>
          <a:solidFill>
            <a:srgbClr val="F4F1ED"/>
          </a:solidFill>
          <a:ln w="6350">
            <a:solidFill>
              <a:srgbClr val="F4F1ED"/>
            </a:solidFill>
            <a:prstDash val="solid"/>
          </a:ln>
        </p:spPr>
      </p:sp>
      <p:sp>
        <p:nvSpPr>
          <p:cNvPr id="6" name="Text 4"/>
          <p:cNvSpPr txBox="1"/>
          <p:nvPr/>
        </p:nvSpPr>
        <p:spPr>
          <a:xfrm>
            <a:off x="566928" y="1691640"/>
            <a:ext cx="11064240" cy="548640"/>
          </a:xfrm>
          <a:prstGeom prst="rect">
            <a:avLst/>
          </a:prstGeom>
          <a:noFill/>
          <a:ln/>
        </p:spPr>
        <p:txBody>
          <a:bodyPr wrap="square" lIns="0" tIns="0" rIns="0" bIns="0" rtlCol="0" anchor="ctr"/>
          <a:lstStyle/>
          <a:p>
            <a:pPr algn="ctr" indent="0" marL="0">
              <a:buNone/>
            </a:pPr>
            <a:r>
              <a:rPr lang="en-US" sz="1700" b="1" dirty="0">
                <a:solidFill>
                  <a:srgbClr val="1C1B19"/>
                </a:solidFill>
                <a:latin typeface="Courier New" pitchFamily="34" charset="0"/>
                <a:ea typeface="Courier New" pitchFamily="34" charset="-122"/>
                <a:cs typeface="Courier New" pitchFamily="34" charset="-120"/>
              </a:rPr>
              <a:t>total loss   =   task loss   +   λ_rrr · placement   +   λ_spread · spread</a:t>
            </a:r>
            <a:endParaRPr lang="en-US" sz="1700" dirty="0"/>
          </a:p>
        </p:txBody>
      </p:sp>
      <p:sp>
        <p:nvSpPr>
          <p:cNvPr id="7" name="Shape 5"/>
          <p:cNvSpPr/>
          <p:nvPr/>
        </p:nvSpPr>
        <p:spPr>
          <a:xfrm>
            <a:off x="566928" y="2834640"/>
            <a:ext cx="5349240" cy="2148840"/>
          </a:xfrm>
          <a:prstGeom prst="roundRect">
            <a:avLst>
              <a:gd name="adj" fmla="val 3404"/>
            </a:avLst>
          </a:prstGeom>
          <a:solidFill>
            <a:srgbClr val="F4F1ED"/>
          </a:solidFill>
          <a:ln w="6350">
            <a:solidFill>
              <a:srgbClr val="F4F1ED"/>
            </a:solidFill>
            <a:prstDash val="solid"/>
          </a:ln>
        </p:spPr>
      </p:sp>
      <p:sp>
        <p:nvSpPr>
          <p:cNvPr id="8" name="Text 6"/>
          <p:cNvSpPr txBox="1"/>
          <p:nvPr/>
        </p:nvSpPr>
        <p:spPr>
          <a:xfrm>
            <a:off x="841248" y="3017520"/>
            <a:ext cx="4754880" cy="329184"/>
          </a:xfrm>
          <a:prstGeom prst="rect">
            <a:avLst/>
          </a:prstGeom>
          <a:noFill/>
          <a:ln/>
        </p:spPr>
        <p:txBody>
          <a:bodyPr wrap="square" lIns="0" tIns="0" rIns="0" bIns="0" rtlCol="0" anchor="ctr"/>
          <a:lstStyle/>
          <a:p>
            <a:pPr indent="0" marL="0">
              <a:buNone/>
            </a:pPr>
            <a:r>
              <a:rPr lang="en-US" sz="1800" b="1" dirty="0">
                <a:solidFill>
                  <a:srgbClr val="B85042"/>
                </a:solidFill>
                <a:latin typeface="Cambria" pitchFamily="34" charset="0"/>
                <a:ea typeface="Cambria" pitchFamily="34" charset="-122"/>
                <a:cs typeface="Cambria" pitchFamily="34" charset="-120"/>
              </a:rPr>
              <a:t>placement</a:t>
            </a:r>
            <a:endParaRPr lang="en-US" sz="1800" dirty="0"/>
          </a:p>
        </p:txBody>
      </p:sp>
      <p:sp>
        <p:nvSpPr>
          <p:cNvPr id="9" name="Text 7"/>
          <p:cNvSpPr txBox="1"/>
          <p:nvPr/>
        </p:nvSpPr>
        <p:spPr>
          <a:xfrm>
            <a:off x="841248" y="3401568"/>
            <a:ext cx="4800600" cy="457200"/>
          </a:xfrm>
          <a:prstGeom prst="rect">
            <a:avLst/>
          </a:prstGeom>
          <a:noFill/>
          <a:ln/>
        </p:spPr>
        <p:txBody>
          <a:bodyPr wrap="square" lIns="0" tIns="0" rIns="0" bIns="0" rtlCol="0" anchor="ctr"/>
          <a:lstStyle/>
          <a:p>
            <a:pPr indent="0" marL="0">
              <a:buNone/>
            </a:pPr>
            <a:r>
              <a:rPr lang="en-US" sz="1150" dirty="0">
                <a:solidFill>
                  <a:srgbClr val="1C1B19"/>
                </a:solidFill>
                <a:latin typeface="Courier New" pitchFamily="34" charset="0"/>
                <a:ea typeface="Courier New" pitchFamily="34" charset="-122"/>
                <a:cs typeface="Courier New" pitchFamily="34" charset="-120"/>
              </a:rPr>
              <a:t>the share of saliency that falls outside the ground mask</a:t>
            </a:r>
            <a:endParaRPr lang="en-US" sz="1150" dirty="0"/>
          </a:p>
        </p:txBody>
      </p:sp>
      <p:sp>
        <p:nvSpPr>
          <p:cNvPr id="10" name="Text 8"/>
          <p:cNvSpPr txBox="1"/>
          <p:nvPr/>
        </p:nvSpPr>
        <p:spPr>
          <a:xfrm>
            <a:off x="841248" y="3931920"/>
            <a:ext cx="4800600" cy="868680"/>
          </a:xfrm>
          <a:prstGeom prst="rect">
            <a:avLst/>
          </a:prstGeom>
          <a:noFill/>
          <a:ln/>
        </p:spPr>
        <p:txBody>
          <a:bodyPr wrap="square" lIns="0" tIns="0" rIns="0" bIns="0" rtlCol="0" anchor="ctr"/>
          <a:lstStyle/>
          <a:p>
            <a:pPr indent="0" marL="0">
              <a:lnSpc>
                <a:spcPts val="1600"/>
              </a:lnSpc>
              <a:buNone/>
            </a:pPr>
            <a:r>
              <a:rPr lang="en-US" sz="1200" dirty="0">
                <a:solidFill>
                  <a:srgbClr val="6B6560"/>
                </a:solidFill>
                <a:latin typeface="Calibri" pitchFamily="34" charset="0"/>
                <a:ea typeface="Calibri" pitchFamily="34" charset="-122"/>
                <a:cs typeface="Calibri" pitchFamily="34" charset="-120"/>
              </a:rPr>
              <a:t>What v1 optimized — with a better region. On its own it is satisfiable by looking at one blade of grass.</a:t>
            </a:r>
            <a:endParaRPr lang="en-US" sz="1200" dirty="0"/>
          </a:p>
        </p:txBody>
      </p:sp>
      <p:sp>
        <p:nvSpPr>
          <p:cNvPr id="11" name="Shape 9"/>
          <p:cNvSpPr/>
          <p:nvPr/>
        </p:nvSpPr>
        <p:spPr>
          <a:xfrm>
            <a:off x="6281928" y="2834640"/>
            <a:ext cx="5349240" cy="2148840"/>
          </a:xfrm>
          <a:prstGeom prst="roundRect">
            <a:avLst>
              <a:gd name="adj" fmla="val 3404"/>
            </a:avLst>
          </a:prstGeom>
          <a:solidFill>
            <a:srgbClr val="F4F1ED"/>
          </a:solidFill>
          <a:ln w="6350">
            <a:solidFill>
              <a:srgbClr val="F4F1ED"/>
            </a:solidFill>
            <a:prstDash val="solid"/>
          </a:ln>
        </p:spPr>
      </p:sp>
      <p:sp>
        <p:nvSpPr>
          <p:cNvPr id="12" name="Text 10"/>
          <p:cNvSpPr txBox="1"/>
          <p:nvPr/>
        </p:nvSpPr>
        <p:spPr>
          <a:xfrm>
            <a:off x="6556248" y="3017520"/>
            <a:ext cx="4754880" cy="329184"/>
          </a:xfrm>
          <a:prstGeom prst="rect">
            <a:avLst/>
          </a:prstGeom>
          <a:noFill/>
          <a:ln/>
        </p:spPr>
        <p:txBody>
          <a:bodyPr wrap="square" lIns="0" tIns="0" rIns="0" bIns="0" rtlCol="0" anchor="ctr"/>
          <a:lstStyle/>
          <a:p>
            <a:pPr indent="0" marL="0">
              <a:buNone/>
            </a:pPr>
            <a:r>
              <a:rPr lang="en-US" sz="1800" b="1" dirty="0">
                <a:solidFill>
                  <a:srgbClr val="2A78D6"/>
                </a:solidFill>
                <a:latin typeface="Cambria" pitchFamily="34" charset="0"/>
                <a:ea typeface="Cambria" pitchFamily="34" charset="-122"/>
                <a:cs typeface="Cambria" pitchFamily="34" charset="-120"/>
              </a:rPr>
              <a:t>spread</a:t>
            </a:r>
            <a:endParaRPr lang="en-US" sz="1800" dirty="0"/>
          </a:p>
        </p:txBody>
      </p:sp>
      <p:sp>
        <p:nvSpPr>
          <p:cNvPr id="13" name="Text 11"/>
          <p:cNvSpPr txBox="1"/>
          <p:nvPr/>
        </p:nvSpPr>
        <p:spPr>
          <a:xfrm>
            <a:off x="6556248" y="3401568"/>
            <a:ext cx="4800600" cy="457200"/>
          </a:xfrm>
          <a:prstGeom prst="rect">
            <a:avLst/>
          </a:prstGeom>
          <a:noFill/>
          <a:ln/>
        </p:spPr>
        <p:txBody>
          <a:bodyPr wrap="square" lIns="0" tIns="0" rIns="0" bIns="0" rtlCol="0" anchor="ctr"/>
          <a:lstStyle/>
          <a:p>
            <a:pPr indent="0" marL="0">
              <a:buNone/>
            </a:pPr>
            <a:r>
              <a:rPr lang="en-US" sz="1150" dirty="0">
                <a:solidFill>
                  <a:srgbClr val="1C1B19"/>
                </a:solidFill>
                <a:latin typeface="Courier New" pitchFamily="34" charset="0"/>
                <a:ea typeface="Courier New" pitchFamily="34" charset="-122"/>
                <a:cs typeface="Courier New" pitchFamily="34" charset="-120"/>
              </a:rPr>
              <a:t>1 − H(saliency | ground) / log N_ground</a:t>
            </a:r>
            <a:endParaRPr lang="en-US" sz="1150" dirty="0"/>
          </a:p>
        </p:txBody>
      </p:sp>
      <p:sp>
        <p:nvSpPr>
          <p:cNvPr id="14" name="Text 12"/>
          <p:cNvSpPr txBox="1"/>
          <p:nvPr/>
        </p:nvSpPr>
        <p:spPr>
          <a:xfrm>
            <a:off x="6556248" y="3931920"/>
            <a:ext cx="4800600" cy="868680"/>
          </a:xfrm>
          <a:prstGeom prst="rect">
            <a:avLst/>
          </a:prstGeom>
          <a:noFill/>
          <a:ln/>
        </p:spPr>
        <p:txBody>
          <a:bodyPr wrap="square" lIns="0" tIns="0" rIns="0" bIns="0" rtlCol="0" anchor="ctr"/>
          <a:lstStyle/>
          <a:p>
            <a:pPr indent="0" marL="0">
              <a:lnSpc>
                <a:spcPts val="1600"/>
              </a:lnSpc>
              <a:buNone/>
            </a:pPr>
            <a:r>
              <a:rPr lang="en-US" sz="1200" dirty="0">
                <a:solidFill>
                  <a:srgbClr val="6B6560"/>
                </a:solidFill>
                <a:latin typeface="Calibri" pitchFamily="34" charset="0"/>
                <a:ea typeface="Calibri" pitchFamily="34" charset="-122"/>
                <a:cs typeface="Calibri" pitchFamily="34" charset="-120"/>
              </a:rPr>
              <a:t>The term v1 was missing. It says be spread out INSIDE, not just don’t be outside.</a:t>
            </a:r>
            <a:endParaRPr lang="en-US" sz="1200" dirty="0"/>
          </a:p>
        </p:txBody>
      </p:sp>
      <p:sp>
        <p:nvSpPr>
          <p:cNvPr id="15" name="Text 13"/>
          <p:cNvSpPr txBox="1"/>
          <p:nvPr/>
        </p:nvSpPr>
        <p:spPr>
          <a:xfrm>
            <a:off x="566928" y="5166360"/>
            <a:ext cx="11064240" cy="502920"/>
          </a:xfrm>
          <a:prstGeom prst="rect">
            <a:avLst/>
          </a:prstGeom>
          <a:noFill/>
          <a:ln/>
        </p:spPr>
        <p:txBody>
          <a:bodyPr wrap="square" lIns="0" tIns="0" rIns="0" bIns="0" rtlCol="0" anchor="ctr"/>
          <a:lstStyle/>
          <a:p>
            <a:pPr indent="0" marL="0">
              <a:buNone/>
            </a:pPr>
            <a:r>
              <a:rPr lang="en-US" sz="1200" dirty="0">
                <a:solidFill>
                  <a:srgbClr val="1C1B19"/>
                </a:solidFill>
                <a:latin typeface="Calibri" pitchFamily="34" charset="0"/>
                <a:ea typeface="Calibri" pitchFamily="34" charset="-122"/>
                <a:cs typeface="Calibri" pitchFamily="34" charset="-120"/>
              </a:rPr>
              <a:t>We optimize the entropy and report  coverage = exp(H) / N , the effective share of the terrain the attention covers. The split is deliberate: coverage’s gradient vanishes in exactly the collapsed regime we need to escape.</a:t>
            </a:r>
            <a:endParaRPr lang="en-US" sz="1200" dirty="0"/>
          </a:p>
        </p:txBody>
      </p:sp>
      <p:sp>
        <p:nvSpPr>
          <p:cNvPr id="16" name="Text 14"/>
          <p:cNvSpPr txBox="1"/>
          <p:nvPr/>
        </p:nvSpPr>
        <p:spPr>
          <a:xfrm>
            <a:off x="566928" y="5760720"/>
            <a:ext cx="11064240" cy="320040"/>
          </a:xfrm>
          <a:prstGeom prst="rect">
            <a:avLst/>
          </a:prstGeom>
          <a:noFill/>
          <a:ln/>
        </p:spPr>
        <p:txBody>
          <a:bodyPr wrap="square" lIns="0" tIns="0" rIns="0" bIns="0" rtlCol="0" anchor="ctr"/>
          <a:lstStyle/>
          <a:p>
            <a:pPr indent="0" marL="0">
              <a:buNone/>
            </a:pPr>
            <a:r>
              <a:rPr lang="en-US" sz="1100" i="1" dirty="0">
                <a:solidFill>
                  <a:srgbClr val="6B6560"/>
                </a:solidFill>
                <a:latin typeface="Calibri" pitchFamily="34" charset="0"/>
                <a:ea typeface="Calibri" pitchFamily="34" charset="-122"/>
                <a:cs typeface="Calibri" pitchFamily="34" charset="-120"/>
              </a:rPr>
              <a:t>Ross et al., Right for the Right Reasons, IJCAI 2017  ·  Chefer et al., RobustViT, NeurIPS 2022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EXPERIMENT DESIGN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Five fine-tunes from one base model</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11064240" cy="914400"/>
        </p:xfrm>
        <a:graphic>
          <a:graphicData uri="http://schemas.openxmlformats.org/drawingml/2006/table">
            <a:tbl>
              <a:tblPr/>
              <a:tblGrid>
                <a:gridCol w="1737360"/>
                <a:gridCol w="2377440"/>
                <a:gridCol w="777240"/>
                <a:gridCol w="914400"/>
                <a:gridCol w="5257800"/>
              </a:tblGrid>
              <a:tr h="475488">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run</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penalty region</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λ_rrr</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λ_spread</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what it isolates</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v1_tophalf</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fixed top half</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reproduces v1 — so its collapse is measured, not asserted</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sky_only</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sky</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is removing the sky enough?</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nonground</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everything not ground</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the right region, without the spread term</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guided</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everything not ground</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the proposed method</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475488">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the same 3 extra epochs, no penalty at all</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4892040"/>
            <a:ext cx="11064240" cy="1051560"/>
          </a:xfrm>
          <a:prstGeom prst="roundRect">
            <a:avLst>
              <a:gd name="adj" fmla="val 6957"/>
            </a:avLst>
          </a:prstGeom>
          <a:solidFill>
            <a:srgbClr val="EAF1FB"/>
          </a:solidFill>
          <a:ln w="6350">
            <a:solidFill>
              <a:srgbClr val="EAF1FB"/>
            </a:solidFill>
            <a:prstDash val="solid"/>
          </a:ln>
        </p:spPr>
      </p:sp>
      <p:sp>
        <p:nvSpPr>
          <p:cNvPr id="7" name="Text 4"/>
          <p:cNvSpPr txBox="1"/>
          <p:nvPr/>
        </p:nvSpPr>
        <p:spPr>
          <a:xfrm>
            <a:off x="868680" y="5029200"/>
            <a:ext cx="10424160" cy="292608"/>
          </a:xfrm>
          <a:prstGeom prst="rect">
            <a:avLst/>
          </a:prstGeom>
          <a:noFill/>
          <a:ln/>
        </p:spPr>
        <p:txBody>
          <a:bodyPr wrap="square" lIns="0" tIns="0" rIns="0" bIns="0" rtlCol="0" anchor="ctr"/>
          <a:lstStyle/>
          <a:p>
            <a:pPr indent="0" marL="0">
              <a:buNone/>
            </a:pPr>
            <a:r>
              <a:rPr lang="en-US" sz="1350" b="1" dirty="0">
                <a:solidFill>
                  <a:srgbClr val="2A78D6"/>
                </a:solidFill>
                <a:latin typeface="Calibri" pitchFamily="34" charset="0"/>
                <a:ea typeface="Calibri" pitchFamily="34" charset="-122"/>
                <a:cs typeface="Calibri" pitchFamily="34" charset="-120"/>
              </a:rPr>
              <a:t>control is the arm that makes the accuracy claim falsifiable.</a:t>
            </a:r>
            <a:endParaRPr lang="en-US" sz="1350" dirty="0"/>
          </a:p>
        </p:txBody>
      </p:sp>
      <p:sp>
        <p:nvSpPr>
          <p:cNvPr id="8" name="Text 5"/>
          <p:cNvSpPr txBox="1"/>
          <p:nvPr/>
        </p:nvSpPr>
        <p:spPr>
          <a:xfrm>
            <a:off x="868680" y="5349240"/>
            <a:ext cx="10424160" cy="457200"/>
          </a:xfrm>
          <a:prstGeom prst="rect">
            <a:avLst/>
          </a:prstGeom>
          <a:noFill/>
          <a:ln/>
        </p:spPr>
        <p:txBody>
          <a:bodyPr wrap="square" lIns="0" tIns="0" rIns="0" bIns="0" rtlCol="0" anchor="ctr"/>
          <a:lstStyle/>
          <a:p>
            <a:pPr indent="0" marL="0">
              <a:buNone/>
            </a:pPr>
            <a:r>
              <a:rPr lang="en-US" sz="1200" dirty="0">
                <a:solidFill>
                  <a:srgbClr val="6B6560"/>
                </a:solidFill>
                <a:latin typeface="Calibri" pitchFamily="34" charset="0"/>
                <a:ea typeface="Calibri" pitchFamily="34" charset="-122"/>
                <a:cs typeface="Calibri" pitchFamily="34" charset="-120"/>
              </a:rPr>
              <a:t>Without it, any accuracy movement over the base model would be credited to the penalty, when three extra epochs would have produced it anyway. v1 had no such arm.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RESULT 1</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Lowering the distractor share is easy. Keeping the spread is not.</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pic>
        <p:nvPicPr>
          <p:cNvPr id="5" name="Image 0" descr="img/f_tradeoff.png">    </p:cNvPr>
          <p:cNvPicPr>
            <a:picLocks noChangeAspect="1"/>
          </p:cNvPicPr>
          <p:nvPr/>
        </p:nvPicPr>
        <p:blipFill>
          <a:blip r:embed="rId1"/>
          <a:stretch>
            <a:fillRect/>
          </a:stretch>
        </p:blipFill>
        <p:spPr>
          <a:xfrm>
            <a:off x="685800" y="1463040"/>
            <a:ext cx="10835640" cy="4526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RESULT 2</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The same three numbers for every arm</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7589520" cy="914400"/>
        </p:xfrm>
        <a:graphic>
          <a:graphicData uri="http://schemas.openxmlformats.org/drawingml/2006/table">
            <a:tbl>
              <a:tblPr/>
              <a:tblGrid>
                <a:gridCol w="1600200"/>
                <a:gridCol w="1234440"/>
                <a:gridCol w="1508760"/>
                <a:gridCol w="1143000"/>
                <a:gridCol w="1051560"/>
                <a:gridCol w="1051560"/>
              </a:tblGrid>
              <a:tr h="502920">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run</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distractor ↓</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concentration ↑</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coverage ↑</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top 10% ↓</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yaw R²</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v03_base</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0.193</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1.34</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0.886</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0.217</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0.841</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0.165</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1.38</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0.864</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0.234</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0.852</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v1_tophalf</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0.010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1.65</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0.248</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0.666</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0.848</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sky_only</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0.048</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1.58</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0.662</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0.354</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0.847</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nonground</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0.003</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1.66</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0.215</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0.737</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0.849</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guided</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0.010</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1.65</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0.869</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0.197</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50" dirty="0">
                          <a:solidFill>
                            <a:srgbClr val="1C1B19"/>
                          </a:solidFill>
                          <a:latin typeface="Calibri" pitchFamily="34" charset="0"/>
                          <a:ea typeface="Calibri" pitchFamily="34" charset="-122"/>
                          <a:cs typeface="Calibri" pitchFamily="34" charset="-120"/>
                        </a:rPr>
                        <a:t>0.847</a:t>
                      </a:r>
                      <a:endParaRPr lang="en-US" sz="125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bl>
          </a:graphicData>
        </a:graphic>
      </p:graphicFrame>
      <p:sp>
        <p:nvSpPr>
          <p:cNvPr id="6" name="Shape 3"/>
          <p:cNvSpPr/>
          <p:nvPr/>
        </p:nvSpPr>
        <p:spPr>
          <a:xfrm>
            <a:off x="8458200" y="1554480"/>
            <a:ext cx="3172968" cy="3977640"/>
          </a:xfrm>
          <a:prstGeom prst="roundRect">
            <a:avLst>
              <a:gd name="adj" fmla="val 2305"/>
            </a:avLst>
          </a:prstGeom>
          <a:solidFill>
            <a:srgbClr val="EAF1FB"/>
          </a:solidFill>
          <a:ln w="6350">
            <a:solidFill>
              <a:srgbClr val="EAF1FB"/>
            </a:solidFill>
            <a:prstDash val="solid"/>
          </a:ln>
        </p:spPr>
      </p:sp>
      <p:sp>
        <p:nvSpPr>
          <p:cNvPr id="7" name="Text 4"/>
          <p:cNvSpPr txBox="1"/>
          <p:nvPr/>
        </p:nvSpPr>
        <p:spPr>
          <a:xfrm>
            <a:off x="8732520" y="1737360"/>
            <a:ext cx="2651760" cy="365760"/>
          </a:xfrm>
          <a:prstGeom prst="rect">
            <a:avLst/>
          </a:prstGeom>
          <a:noFill/>
          <a:ln/>
        </p:spPr>
        <p:txBody>
          <a:bodyPr wrap="square" lIns="0" tIns="0" rIns="0" bIns="0" rtlCol="0" anchor="ctr"/>
          <a:lstStyle/>
          <a:p>
            <a:pPr indent="0" marL="0">
              <a:buNone/>
            </a:pPr>
            <a:r>
              <a:rPr lang="en-US" sz="1450" b="1" dirty="0">
                <a:solidFill>
                  <a:srgbClr val="2A78D6"/>
                </a:solidFill>
                <a:latin typeface="Cambria" pitchFamily="34" charset="0"/>
                <a:ea typeface="Cambria" pitchFamily="34" charset="-122"/>
                <a:cs typeface="Cambria" pitchFamily="34" charset="-120"/>
              </a:rPr>
              <a:t>guided, against the base model</a:t>
            </a:r>
            <a:endParaRPr lang="en-US" sz="1450" dirty="0"/>
          </a:p>
        </p:txBody>
      </p:sp>
      <p:sp>
        <p:nvSpPr>
          <p:cNvPr id="8" name="Text 5"/>
          <p:cNvSpPr txBox="1"/>
          <p:nvPr/>
        </p:nvSpPr>
        <p:spPr>
          <a:xfrm>
            <a:off x="8732520" y="2194560"/>
            <a:ext cx="2651760" cy="502920"/>
          </a:xfrm>
          <a:prstGeom prst="rect">
            <a:avLst/>
          </a:prstGeom>
          <a:noFill/>
          <a:ln/>
        </p:spPr>
        <p:txBody>
          <a:bodyPr wrap="square" lIns="0" tIns="0" rIns="0" bIns="0" rtlCol="0" anchor="ctr"/>
          <a:lstStyle/>
          <a:p>
            <a:pPr indent="0" marL="0">
              <a:buNone/>
            </a:pPr>
            <a:r>
              <a:rPr lang="en-US" sz="2600" b="1" dirty="0">
                <a:solidFill>
                  <a:srgbClr val="2A78D6"/>
                </a:solidFill>
                <a:latin typeface="Cambria" pitchFamily="34" charset="0"/>
                <a:ea typeface="Cambria" pitchFamily="34" charset="-122"/>
                <a:cs typeface="Cambria" pitchFamily="34" charset="-120"/>
              </a:rPr>
              <a:t>19×</a:t>
            </a:r>
            <a:endParaRPr lang="en-US" sz="2600" dirty="0"/>
          </a:p>
        </p:txBody>
      </p:sp>
      <p:sp>
        <p:nvSpPr>
          <p:cNvPr id="9" name="Text 6"/>
          <p:cNvSpPr txBox="1"/>
          <p:nvPr/>
        </p:nvSpPr>
        <p:spPr>
          <a:xfrm>
            <a:off x="8732520" y="2697480"/>
            <a:ext cx="2651760" cy="594360"/>
          </a:xfrm>
          <a:prstGeom prst="rect">
            <a:avLst/>
          </a:prstGeom>
          <a:noFill/>
          <a:ln/>
        </p:spPr>
        <p:txBody>
          <a:bodyPr wrap="square" lIns="0" tIns="0" rIns="0" bIns="0" rtlCol="0" anchor="ctr"/>
          <a:lstStyle/>
          <a:p>
            <a:pPr indent="0" marL="0">
              <a:lnSpc>
                <a:spcPts val="1500"/>
              </a:lnSpc>
              <a:buNone/>
            </a:pPr>
            <a:r>
              <a:rPr lang="en-US" sz="1150" dirty="0">
                <a:solidFill>
                  <a:srgbClr val="6B6560"/>
                </a:solidFill>
                <a:latin typeface="Calibri" pitchFamily="34" charset="0"/>
                <a:ea typeface="Calibri" pitchFamily="34" charset="-122"/>
                <a:cs typeface="Calibri" pitchFamily="34" charset="-120"/>
              </a:rPr>
              <a:t>less attention on sky and objects</a:t>
            </a:r>
            <a:endParaRPr lang="en-US" sz="1150" dirty="0"/>
          </a:p>
        </p:txBody>
      </p:sp>
      <p:sp>
        <p:nvSpPr>
          <p:cNvPr id="10" name="Text 7"/>
          <p:cNvSpPr txBox="1"/>
          <p:nvPr/>
        </p:nvSpPr>
        <p:spPr>
          <a:xfrm>
            <a:off x="8732520" y="3328416"/>
            <a:ext cx="2651760" cy="502920"/>
          </a:xfrm>
          <a:prstGeom prst="rect">
            <a:avLst/>
          </a:prstGeom>
          <a:noFill/>
          <a:ln/>
        </p:spPr>
        <p:txBody>
          <a:bodyPr wrap="square" lIns="0" tIns="0" rIns="0" bIns="0" rtlCol="0" anchor="ctr"/>
          <a:lstStyle/>
          <a:p>
            <a:pPr indent="0" marL="0">
              <a:buNone/>
            </a:pPr>
            <a:r>
              <a:rPr lang="en-US" sz="2600" b="1" dirty="0">
                <a:solidFill>
                  <a:srgbClr val="2A78D6"/>
                </a:solidFill>
                <a:latin typeface="Cambria" pitchFamily="34" charset="0"/>
                <a:ea typeface="Cambria" pitchFamily="34" charset="-122"/>
                <a:cs typeface="Cambria" pitchFamily="34" charset="-120"/>
              </a:rPr>
              <a:t>0.869</a:t>
            </a:r>
            <a:endParaRPr lang="en-US" sz="2600" dirty="0"/>
          </a:p>
        </p:txBody>
      </p:sp>
      <p:sp>
        <p:nvSpPr>
          <p:cNvPr id="11" name="Text 8"/>
          <p:cNvSpPr txBox="1"/>
          <p:nvPr/>
        </p:nvSpPr>
        <p:spPr>
          <a:xfrm>
            <a:off x="8732520" y="3831336"/>
            <a:ext cx="2651760" cy="594360"/>
          </a:xfrm>
          <a:prstGeom prst="rect">
            <a:avLst/>
          </a:prstGeom>
          <a:noFill/>
          <a:ln/>
        </p:spPr>
        <p:txBody>
          <a:bodyPr wrap="square" lIns="0" tIns="0" rIns="0" bIns="0" rtlCol="0" anchor="ctr"/>
          <a:lstStyle/>
          <a:p>
            <a:pPr indent="0" marL="0">
              <a:lnSpc>
                <a:spcPts val="1500"/>
              </a:lnSpc>
              <a:buNone/>
            </a:pPr>
            <a:r>
              <a:rPr lang="en-US" sz="1150" dirty="0">
                <a:solidFill>
                  <a:srgbClr val="6B6560"/>
                </a:solidFill>
                <a:latin typeface="Calibri" pitchFamily="34" charset="0"/>
                <a:ea typeface="Calibri" pitchFamily="34" charset="-122"/>
                <a:cs typeface="Calibri" pitchFamily="34" charset="-120"/>
              </a:rPr>
              <a:t>coverage kept (base: 0.886)</a:t>
            </a:r>
            <a:endParaRPr lang="en-US" sz="1150" dirty="0"/>
          </a:p>
        </p:txBody>
      </p:sp>
      <p:sp>
        <p:nvSpPr>
          <p:cNvPr id="12" name="Text 9"/>
          <p:cNvSpPr txBox="1"/>
          <p:nvPr/>
        </p:nvSpPr>
        <p:spPr>
          <a:xfrm>
            <a:off x="8732520" y="4462272"/>
            <a:ext cx="2651760" cy="502920"/>
          </a:xfrm>
          <a:prstGeom prst="rect">
            <a:avLst/>
          </a:prstGeom>
          <a:noFill/>
          <a:ln/>
        </p:spPr>
        <p:txBody>
          <a:bodyPr wrap="square" lIns="0" tIns="0" rIns="0" bIns="0" rtlCol="0" anchor="ctr"/>
          <a:lstStyle/>
          <a:p>
            <a:pPr indent="0" marL="0">
              <a:buNone/>
            </a:pPr>
            <a:r>
              <a:rPr lang="en-US" sz="2600" b="1" dirty="0">
                <a:solidFill>
                  <a:srgbClr val="2A78D6"/>
                </a:solidFill>
                <a:latin typeface="Cambria" pitchFamily="34" charset="0"/>
                <a:ea typeface="Cambria" pitchFamily="34" charset="-122"/>
                <a:cs typeface="Cambria" pitchFamily="34" charset="-120"/>
              </a:rPr>
              <a:t>0.197</a:t>
            </a:r>
            <a:endParaRPr lang="en-US" sz="2600" dirty="0"/>
          </a:p>
        </p:txBody>
      </p:sp>
      <p:sp>
        <p:nvSpPr>
          <p:cNvPr id="13" name="Text 10"/>
          <p:cNvSpPr txBox="1"/>
          <p:nvPr/>
        </p:nvSpPr>
        <p:spPr>
          <a:xfrm>
            <a:off x="8732520" y="4965192"/>
            <a:ext cx="2651760" cy="594360"/>
          </a:xfrm>
          <a:prstGeom prst="rect">
            <a:avLst/>
          </a:prstGeom>
          <a:noFill/>
          <a:ln/>
        </p:spPr>
        <p:txBody>
          <a:bodyPr wrap="square" lIns="0" tIns="0" rIns="0" bIns="0" rtlCol="0" anchor="ctr"/>
          <a:lstStyle/>
          <a:p>
            <a:pPr indent="0" marL="0">
              <a:lnSpc>
                <a:spcPts val="1500"/>
              </a:lnSpc>
              <a:buNone/>
            </a:pPr>
            <a:r>
              <a:rPr lang="en-US" sz="1150" dirty="0">
                <a:solidFill>
                  <a:srgbClr val="6B6560"/>
                </a:solidFill>
                <a:latin typeface="Calibri" pitchFamily="34" charset="0"/>
                <a:ea typeface="Calibri" pitchFamily="34" charset="-122"/>
                <a:cs typeface="Calibri" pitchFamily="34" charset="-120"/>
              </a:rPr>
              <a:t>top-decile share — BELOW the base model’s 0.217</a:t>
            </a:r>
            <a:endParaRPr lang="en-US" sz="1150" dirty="0"/>
          </a:p>
        </p:txBody>
      </p:sp>
      <p:sp>
        <p:nvSpPr>
          <p:cNvPr id="14" name="Text 11"/>
          <p:cNvSpPr txBox="1"/>
          <p:nvPr/>
        </p:nvSpPr>
        <p:spPr>
          <a:xfrm>
            <a:off x="566928" y="5806440"/>
            <a:ext cx="11064240" cy="502920"/>
          </a:xfrm>
          <a:prstGeom prst="rect">
            <a:avLst/>
          </a:prstGeom>
          <a:noFill/>
          <a:ln/>
        </p:spPr>
        <p:txBody>
          <a:bodyPr wrap="square" lIns="0" tIns="0" rIns="0" bIns="0" rtlCol="0" anchor="ctr"/>
          <a:lstStyle/>
          <a:p>
            <a:pPr indent="0" marL="0">
              <a:buNone/>
            </a:pPr>
            <a:r>
              <a:rPr lang="en-US" sz="1150" dirty="0">
                <a:solidFill>
                  <a:srgbClr val="1C1B19"/>
                </a:solidFill>
                <a:latin typeface="Calibri" pitchFamily="34" charset="0"/>
                <a:ea typeface="Calibri" pitchFamily="34" charset="-122"/>
                <a:cs typeface="Calibri" pitchFamily="34" charset="-120"/>
              </a:rPr>
              <a:t>nonground and v1_tophalf win the distractor column and lose the experiment: 74% and 67% of all their attention sits in a tenth of the pixels. guided is not just as spread as the unguided model — it is slightly more so.</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RESULT 3</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What it looks like on a day the model never saw</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pic>
        <p:nvPicPr>
          <p:cNvPr id="5" name="Image 0" descr="img/f_compare_row.png">    </p:cNvPr>
          <p:cNvPicPr>
            <a:picLocks noChangeAspect="1"/>
          </p:cNvPicPr>
          <p:nvPr/>
        </p:nvPicPr>
        <p:blipFill>
          <a:blip r:embed="rId1"/>
          <a:stretch>
            <a:fillRect/>
          </a:stretch>
        </p:blipFill>
        <p:spPr>
          <a:xfrm>
            <a:off x="566928" y="1371600"/>
            <a:ext cx="11064240" cy="2807208"/>
          </a:xfrm>
          <a:prstGeom prst="rect">
            <a:avLst/>
          </a:prstGeom>
        </p:spPr>
      </p:pic>
      <p:sp>
        <p:nvSpPr>
          <p:cNvPr id="6" name="Shape 3"/>
          <p:cNvSpPr/>
          <p:nvPr/>
        </p:nvSpPr>
        <p:spPr>
          <a:xfrm>
            <a:off x="566928" y="4434840"/>
            <a:ext cx="3520440" cy="1463040"/>
          </a:xfrm>
          <a:prstGeom prst="roundRect">
            <a:avLst>
              <a:gd name="adj" fmla="val 5000"/>
            </a:avLst>
          </a:prstGeom>
          <a:solidFill>
            <a:srgbClr val="F4F1ED"/>
          </a:solidFill>
          <a:ln w="6350">
            <a:solidFill>
              <a:srgbClr val="F4F1ED"/>
            </a:solidFill>
            <a:prstDash val="solid"/>
          </a:ln>
        </p:spPr>
      </p:sp>
      <p:sp>
        <p:nvSpPr>
          <p:cNvPr id="7" name="Text 4"/>
          <p:cNvSpPr txBox="1"/>
          <p:nvPr/>
        </p:nvSpPr>
        <p:spPr>
          <a:xfrm>
            <a:off x="795528" y="4590288"/>
            <a:ext cx="3063240" cy="292608"/>
          </a:xfrm>
          <a:prstGeom prst="rect">
            <a:avLst/>
          </a:prstGeom>
          <a:noFill/>
          <a:ln/>
        </p:spPr>
        <p:txBody>
          <a:bodyPr wrap="square" lIns="0" tIns="0" rIns="0" bIns="0" rtlCol="0" anchor="ctr"/>
          <a:lstStyle/>
          <a:p>
            <a:pPr indent="0" marL="0">
              <a:buNone/>
            </a:pPr>
            <a:r>
              <a:rPr lang="en-US" sz="1250" b="1" dirty="0">
                <a:solidFill>
                  <a:srgbClr val="1C1B19"/>
                </a:solidFill>
                <a:latin typeface="Calibri" pitchFamily="34" charset="0"/>
                <a:ea typeface="Calibri" pitchFamily="34" charset="-122"/>
                <a:cs typeface="Calibri" pitchFamily="34" charset="-120"/>
              </a:rPr>
              <a:t>base</a:t>
            </a:r>
            <a:endParaRPr lang="en-US" sz="1250" dirty="0"/>
          </a:p>
        </p:txBody>
      </p:sp>
      <p:sp>
        <p:nvSpPr>
          <p:cNvPr id="8" name="Text 5"/>
          <p:cNvSpPr txBox="1"/>
          <p:nvPr/>
        </p:nvSpPr>
        <p:spPr>
          <a:xfrm>
            <a:off x="795528" y="4901184"/>
            <a:ext cx="3108960" cy="841248"/>
          </a:xfrm>
          <a:prstGeom prst="rect">
            <a:avLst/>
          </a:prstGeom>
          <a:noFill/>
          <a:ln/>
        </p:spPr>
        <p:txBody>
          <a:bodyPr wrap="square" lIns="0" tIns="0" rIns="0" bIns="0" rtlCol="0" anchor="t"/>
          <a:lstStyle/>
          <a:p>
            <a:pPr indent="0" marL="0">
              <a:lnSpc>
                <a:spcPts val="1500"/>
              </a:lnSpc>
              <a:buNone/>
            </a:pPr>
            <a:r>
              <a:rPr lang="en-US" sz="1150" dirty="0">
                <a:solidFill>
                  <a:srgbClr val="6B6560"/>
                </a:solidFill>
                <a:latin typeface="Calibri" pitchFamily="34" charset="0"/>
                <a:ea typeface="Calibri" pitchFamily="34" charset="-122"/>
                <a:cs typeface="Calibri" pitchFamily="34" charset="-120"/>
              </a:rPr>
              <a:t>Already looks downward — but 12% of the saliency sits on the roof and the treeline.</a:t>
            </a:r>
            <a:endParaRPr lang="en-US" sz="1150" dirty="0"/>
          </a:p>
        </p:txBody>
      </p:sp>
      <p:sp>
        <p:nvSpPr>
          <p:cNvPr id="9" name="Shape 6"/>
          <p:cNvSpPr/>
          <p:nvPr/>
        </p:nvSpPr>
        <p:spPr>
          <a:xfrm>
            <a:off x="4306824" y="4434840"/>
            <a:ext cx="3520440" cy="1463040"/>
          </a:xfrm>
          <a:prstGeom prst="roundRect">
            <a:avLst>
              <a:gd name="adj" fmla="val 5000"/>
            </a:avLst>
          </a:prstGeom>
          <a:solidFill>
            <a:srgbClr val="F4F1ED"/>
          </a:solidFill>
          <a:ln w="6350">
            <a:solidFill>
              <a:srgbClr val="F4F1ED"/>
            </a:solidFill>
            <a:prstDash val="solid"/>
          </a:ln>
        </p:spPr>
      </p:sp>
      <p:sp>
        <p:nvSpPr>
          <p:cNvPr id="10" name="Text 7"/>
          <p:cNvSpPr txBox="1"/>
          <p:nvPr/>
        </p:nvSpPr>
        <p:spPr>
          <a:xfrm>
            <a:off x="4535424" y="4590288"/>
            <a:ext cx="3063240" cy="292608"/>
          </a:xfrm>
          <a:prstGeom prst="rect">
            <a:avLst/>
          </a:prstGeom>
          <a:noFill/>
          <a:ln/>
        </p:spPr>
        <p:txBody>
          <a:bodyPr wrap="square" lIns="0" tIns="0" rIns="0" bIns="0" rtlCol="0" anchor="ctr"/>
          <a:lstStyle/>
          <a:p>
            <a:pPr indent="0" marL="0">
              <a:buNone/>
            </a:pPr>
            <a:r>
              <a:rPr lang="en-US" sz="1250" b="1" dirty="0">
                <a:solidFill>
                  <a:srgbClr val="B85042"/>
                </a:solidFill>
                <a:latin typeface="Calibri" pitchFamily="34" charset="0"/>
                <a:ea typeface="Calibri" pitchFamily="34" charset="-122"/>
                <a:cs typeface="Calibri" pitchFamily="34" charset="-120"/>
              </a:rPr>
              <a:t>v1_tophalf · nonground</a:t>
            </a:r>
            <a:endParaRPr lang="en-US" sz="1250" dirty="0"/>
          </a:p>
        </p:txBody>
      </p:sp>
      <p:sp>
        <p:nvSpPr>
          <p:cNvPr id="11" name="Text 8"/>
          <p:cNvSpPr txBox="1"/>
          <p:nvPr/>
        </p:nvSpPr>
        <p:spPr>
          <a:xfrm>
            <a:off x="4535424" y="4901184"/>
            <a:ext cx="3108960" cy="841248"/>
          </a:xfrm>
          <a:prstGeom prst="rect">
            <a:avLst/>
          </a:prstGeom>
          <a:noFill/>
          <a:ln/>
        </p:spPr>
        <p:txBody>
          <a:bodyPr wrap="square" lIns="0" tIns="0" rIns="0" bIns="0" rtlCol="0" anchor="t"/>
          <a:lstStyle/>
          <a:p>
            <a:pPr indent="0" marL="0">
              <a:lnSpc>
                <a:spcPts val="1500"/>
              </a:lnSpc>
              <a:buNone/>
            </a:pPr>
            <a:r>
              <a:rPr lang="en-US" sz="1150" dirty="0">
                <a:solidFill>
                  <a:srgbClr val="6B6560"/>
                </a:solidFill>
                <a:latin typeface="Calibri" pitchFamily="34" charset="0"/>
                <a:ea typeface="Calibri" pitchFamily="34" charset="-122"/>
                <a:cs typeface="Calibri" pitchFamily="34" charset="-120"/>
              </a:rPr>
              <a:t>Zero on distractors, bought by collapsing onto six or seven spots.</a:t>
            </a:r>
            <a:endParaRPr lang="en-US" sz="1150" dirty="0"/>
          </a:p>
        </p:txBody>
      </p:sp>
      <p:sp>
        <p:nvSpPr>
          <p:cNvPr id="12" name="Shape 9"/>
          <p:cNvSpPr/>
          <p:nvPr/>
        </p:nvSpPr>
        <p:spPr>
          <a:xfrm>
            <a:off x="8046720" y="4434840"/>
            <a:ext cx="3520440" cy="1463040"/>
          </a:xfrm>
          <a:prstGeom prst="roundRect">
            <a:avLst>
              <a:gd name="adj" fmla="val 5000"/>
            </a:avLst>
          </a:prstGeom>
          <a:solidFill>
            <a:srgbClr val="EAF1FB"/>
          </a:solidFill>
          <a:ln w="6350">
            <a:solidFill>
              <a:srgbClr val="EAF1FB"/>
            </a:solidFill>
            <a:prstDash val="solid"/>
          </a:ln>
        </p:spPr>
      </p:sp>
      <p:sp>
        <p:nvSpPr>
          <p:cNvPr id="13" name="Text 10"/>
          <p:cNvSpPr txBox="1"/>
          <p:nvPr/>
        </p:nvSpPr>
        <p:spPr>
          <a:xfrm>
            <a:off x="8275320" y="4590288"/>
            <a:ext cx="3063240" cy="292608"/>
          </a:xfrm>
          <a:prstGeom prst="rect">
            <a:avLst/>
          </a:prstGeom>
          <a:noFill/>
          <a:ln/>
        </p:spPr>
        <p:txBody>
          <a:bodyPr wrap="square" lIns="0" tIns="0" rIns="0" bIns="0" rtlCol="0" anchor="ctr"/>
          <a:lstStyle/>
          <a:p>
            <a:pPr indent="0" marL="0">
              <a:buNone/>
            </a:pPr>
            <a:r>
              <a:rPr lang="en-US" sz="1250" b="1" dirty="0">
                <a:solidFill>
                  <a:srgbClr val="2A78D6"/>
                </a:solidFill>
                <a:latin typeface="Calibri" pitchFamily="34" charset="0"/>
                <a:ea typeface="Calibri" pitchFamily="34" charset="-122"/>
                <a:cs typeface="Calibri" pitchFamily="34" charset="-120"/>
              </a:rPr>
              <a:t>guided</a:t>
            </a:r>
            <a:endParaRPr lang="en-US" sz="1250" dirty="0"/>
          </a:p>
        </p:txBody>
      </p:sp>
      <p:sp>
        <p:nvSpPr>
          <p:cNvPr id="14" name="Text 11"/>
          <p:cNvSpPr txBox="1"/>
          <p:nvPr/>
        </p:nvSpPr>
        <p:spPr>
          <a:xfrm>
            <a:off x="8275320" y="4901184"/>
            <a:ext cx="3108960" cy="841248"/>
          </a:xfrm>
          <a:prstGeom prst="rect">
            <a:avLst/>
          </a:prstGeom>
          <a:noFill/>
          <a:ln/>
        </p:spPr>
        <p:txBody>
          <a:bodyPr wrap="square" lIns="0" tIns="0" rIns="0" bIns="0" rtlCol="0" anchor="t"/>
          <a:lstStyle/>
          <a:p>
            <a:pPr indent="0" marL="0">
              <a:lnSpc>
                <a:spcPts val="1500"/>
              </a:lnSpc>
              <a:buNone/>
            </a:pPr>
            <a:r>
              <a:rPr lang="en-US" sz="1150" dirty="0">
                <a:solidFill>
                  <a:srgbClr val="6B6560"/>
                </a:solidFill>
                <a:latin typeface="Calibri" pitchFamily="34" charset="0"/>
                <a:ea typeface="Calibri" pitchFamily="34" charset="-122"/>
                <a:cs typeface="Calibri" pitchFamily="34" charset="-120"/>
              </a:rPr>
              <a:t>The same 0–1% on distractors, spread across 90% of the ground.</a:t>
            </a:r>
            <a:endParaRPr lang="en-US" sz="1150" dirty="0"/>
          </a:p>
        </p:txBody>
      </p:sp>
      <p:sp>
        <p:nvSpPr>
          <p:cNvPr id="15" name="Text 12"/>
          <p:cNvSpPr txBox="1"/>
          <p:nvPr/>
        </p:nvSpPr>
        <p:spPr>
          <a:xfrm>
            <a:off x="566928" y="6035040"/>
            <a:ext cx="11064240" cy="365760"/>
          </a:xfrm>
          <a:prstGeom prst="rect">
            <a:avLst/>
          </a:prstGeom>
          <a:noFill/>
          <a:ln/>
        </p:spPr>
        <p:txBody>
          <a:bodyPr wrap="square" lIns="0" tIns="0" rIns="0" bIns="0" rtlCol="0" anchor="ctr"/>
          <a:lstStyle/>
          <a:p>
            <a:pPr indent="0" marL="0">
              <a:buNone/>
            </a:pPr>
            <a:r>
              <a:rPr lang="en-US" sz="1100" i="1" dirty="0">
                <a:solidFill>
                  <a:srgbClr val="6B6560"/>
                </a:solidFill>
                <a:latin typeface="Calibri" pitchFamily="34" charset="0"/>
                <a:ea typeface="Calibri" pitchFamily="34" charset="-122"/>
                <a:cs typeface="Calibri" pitchFamily="34" charset="-120"/>
              </a:rPr>
              <a:t>20260812_afternoon_wet_027 · target = yaw · white contour = the ground mask. The other two held-out groups give the same picture.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RESULT 4</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Accuracy does not move — and that is the honest headline</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sp>
        <p:nvSpPr>
          <p:cNvPr id="5" name="Shape 3"/>
          <p:cNvSpPr/>
          <p:nvPr/>
        </p:nvSpPr>
        <p:spPr>
          <a:xfrm>
            <a:off x="566928" y="1463040"/>
            <a:ext cx="11064240" cy="1600200"/>
          </a:xfrm>
          <a:prstGeom prst="roundRect">
            <a:avLst>
              <a:gd name="adj" fmla="val 4571"/>
            </a:avLst>
          </a:prstGeom>
          <a:solidFill>
            <a:srgbClr val="F4F1ED"/>
          </a:solidFill>
          <a:ln w="6350">
            <a:solidFill>
              <a:srgbClr val="F4F1ED"/>
            </a:solidFill>
            <a:prstDash val="solid"/>
          </a:ln>
        </p:spPr>
      </p:sp>
      <p:sp>
        <p:nvSpPr>
          <p:cNvPr id="6" name="Text 4"/>
          <p:cNvSpPr txBox="1"/>
          <p:nvPr/>
        </p:nvSpPr>
        <p:spPr>
          <a:xfrm>
            <a:off x="914400" y="1627632"/>
            <a:ext cx="2377440" cy="786384"/>
          </a:xfrm>
          <a:prstGeom prst="rect">
            <a:avLst/>
          </a:prstGeom>
          <a:noFill/>
          <a:ln/>
        </p:spPr>
        <p:txBody>
          <a:bodyPr wrap="square" lIns="0" tIns="0" rIns="0" bIns="0" rtlCol="0" anchor="ctr"/>
          <a:lstStyle/>
          <a:p>
            <a:pPr indent="0" marL="0">
              <a:buNone/>
            </a:pPr>
            <a:r>
              <a:rPr lang="en-US" sz="4000" b="1" dirty="0">
                <a:solidFill>
                  <a:srgbClr val="1C1B19"/>
                </a:solidFill>
                <a:latin typeface="Cambria" pitchFamily="34" charset="0"/>
                <a:ea typeface="Cambria" pitchFamily="34" charset="-122"/>
                <a:cs typeface="Cambria" pitchFamily="34" charset="-120"/>
              </a:rPr>
              <a:t>0.011</a:t>
            </a:r>
            <a:endParaRPr lang="en-US" sz="4000" dirty="0"/>
          </a:p>
        </p:txBody>
      </p:sp>
      <p:sp>
        <p:nvSpPr>
          <p:cNvPr id="7" name="Text 5"/>
          <p:cNvSpPr txBox="1"/>
          <p:nvPr/>
        </p:nvSpPr>
        <p:spPr>
          <a:xfrm>
            <a:off x="914400" y="2395728"/>
            <a:ext cx="2377440" cy="310896"/>
          </a:xfrm>
          <a:prstGeom prst="rect">
            <a:avLst/>
          </a:prstGeom>
          <a:noFill/>
          <a:ln/>
        </p:spPr>
        <p:txBody>
          <a:bodyPr wrap="square" lIns="0" tIns="0" rIns="0" bIns="0" rtlCol="0" anchor="ctr"/>
          <a:lstStyle/>
          <a:p>
            <a:pPr indent="0" marL="0">
              <a:buNone/>
            </a:pPr>
            <a:r>
              <a:rPr lang="en-US" sz="1250" b="1" dirty="0">
                <a:solidFill>
                  <a:srgbClr val="1C1B19"/>
                </a:solidFill>
                <a:latin typeface="Calibri" pitchFamily="34" charset="0"/>
                <a:ea typeface="Calibri" pitchFamily="34" charset="-122"/>
                <a:cs typeface="Calibri" pitchFamily="34" charset="-120"/>
              </a:rPr>
              <a:t>total spread in yaw R²</a:t>
            </a:r>
            <a:endParaRPr lang="en-US" sz="1250" dirty="0"/>
          </a:p>
        </p:txBody>
      </p:sp>
      <p:sp>
        <p:nvSpPr>
          <p:cNvPr id="8" name="Text 6"/>
          <p:cNvSpPr txBox="1"/>
          <p:nvPr/>
        </p:nvSpPr>
        <p:spPr>
          <a:xfrm>
            <a:off x="914400" y="2688336"/>
            <a:ext cx="2377440" cy="548640"/>
          </a:xfrm>
          <a:prstGeom prst="rect">
            <a:avLst/>
          </a:prstGeom>
          <a:noFill/>
          <a:ln/>
        </p:spPr>
        <p:txBody>
          <a:bodyPr wrap="square" lIns="0" tIns="0" rIns="0" bIns="0" rtlCol="0" anchor="ctr"/>
          <a:lstStyle/>
          <a:p>
            <a:pPr indent="0" marL="0">
              <a:buNone/>
            </a:pPr>
            <a:r>
              <a:rPr lang="en-US" sz="1050" dirty="0">
                <a:solidFill>
                  <a:srgbClr val="6B6560"/>
                </a:solidFill>
                <a:latin typeface="Calibri" pitchFamily="34" charset="0"/>
                <a:ea typeface="Calibri" pitchFamily="34" charset="-122"/>
                <a:cs typeface="Calibri" pitchFamily="34" charset="-120"/>
              </a:rPr>
              <a:t>across all six arms</a:t>
            </a:r>
            <a:endParaRPr lang="en-US" sz="1050" dirty="0"/>
          </a:p>
        </p:txBody>
      </p:sp>
      <p:sp>
        <p:nvSpPr>
          <p:cNvPr id="9" name="Text 7"/>
          <p:cNvSpPr txBox="1"/>
          <p:nvPr/>
        </p:nvSpPr>
        <p:spPr>
          <a:xfrm>
            <a:off x="3749040" y="1627632"/>
            <a:ext cx="2377440" cy="786384"/>
          </a:xfrm>
          <a:prstGeom prst="rect">
            <a:avLst/>
          </a:prstGeom>
          <a:noFill/>
          <a:ln/>
        </p:spPr>
        <p:txBody>
          <a:bodyPr wrap="square" lIns="0" tIns="0" rIns="0" bIns="0" rtlCol="0" anchor="ctr"/>
          <a:lstStyle/>
          <a:p>
            <a:pPr indent="0" marL="0">
              <a:buNone/>
            </a:pPr>
            <a:r>
              <a:rPr lang="en-US" sz="4000" b="1" dirty="0">
                <a:solidFill>
                  <a:srgbClr val="1C1B19"/>
                </a:solidFill>
                <a:latin typeface="Cambria" pitchFamily="34" charset="0"/>
                <a:ea typeface="Cambria" pitchFamily="34" charset="-122"/>
                <a:cs typeface="Cambria" pitchFamily="34" charset="-120"/>
              </a:rPr>
              <a:t>0.004</a:t>
            </a:r>
            <a:endParaRPr lang="en-US" sz="4000" dirty="0"/>
          </a:p>
        </p:txBody>
      </p:sp>
      <p:sp>
        <p:nvSpPr>
          <p:cNvPr id="10" name="Text 8"/>
          <p:cNvSpPr txBox="1"/>
          <p:nvPr/>
        </p:nvSpPr>
        <p:spPr>
          <a:xfrm>
            <a:off x="3749040" y="2395728"/>
            <a:ext cx="2377440" cy="310896"/>
          </a:xfrm>
          <a:prstGeom prst="rect">
            <a:avLst/>
          </a:prstGeom>
          <a:noFill/>
          <a:ln/>
        </p:spPr>
        <p:txBody>
          <a:bodyPr wrap="square" lIns="0" tIns="0" rIns="0" bIns="0" rtlCol="0" anchor="ctr"/>
          <a:lstStyle/>
          <a:p>
            <a:pPr indent="0" marL="0">
              <a:buNone/>
            </a:pPr>
            <a:r>
              <a:rPr lang="en-US" sz="1250" b="1" dirty="0">
                <a:solidFill>
                  <a:srgbClr val="1C1B19"/>
                </a:solidFill>
                <a:latin typeface="Calibri" pitchFamily="34" charset="0"/>
                <a:ea typeface="Calibri" pitchFamily="34" charset="-122"/>
                <a:cs typeface="Calibri" pitchFamily="34" charset="-120"/>
              </a:rPr>
              <a:t>total spread in dx R²</a:t>
            </a:r>
            <a:endParaRPr lang="en-US" sz="1250" dirty="0"/>
          </a:p>
        </p:txBody>
      </p:sp>
      <p:sp>
        <p:nvSpPr>
          <p:cNvPr id="11" name="Text 9"/>
          <p:cNvSpPr txBox="1"/>
          <p:nvPr/>
        </p:nvSpPr>
        <p:spPr>
          <a:xfrm>
            <a:off x="3749040" y="2688336"/>
            <a:ext cx="2377440" cy="548640"/>
          </a:xfrm>
          <a:prstGeom prst="rect">
            <a:avLst/>
          </a:prstGeom>
          <a:noFill/>
          <a:ln/>
        </p:spPr>
        <p:txBody>
          <a:bodyPr wrap="square" lIns="0" tIns="0" rIns="0" bIns="0" rtlCol="0" anchor="ctr"/>
          <a:lstStyle/>
          <a:p>
            <a:pPr indent="0" marL="0">
              <a:buNone/>
            </a:pPr>
            <a:r>
              <a:rPr lang="en-US" sz="1050" dirty="0">
                <a:solidFill>
                  <a:srgbClr val="6B6560"/>
                </a:solidFill>
                <a:latin typeface="Calibri" pitchFamily="34" charset="0"/>
                <a:ea typeface="Calibri" pitchFamily="34" charset="-122"/>
                <a:cs typeface="Calibri" pitchFamily="34" charset="-120"/>
              </a:rPr>
              <a:t>across all six arms</a:t>
            </a:r>
            <a:endParaRPr lang="en-US" sz="1050" dirty="0"/>
          </a:p>
        </p:txBody>
      </p:sp>
      <p:sp>
        <p:nvSpPr>
          <p:cNvPr id="12" name="Text 10"/>
          <p:cNvSpPr txBox="1"/>
          <p:nvPr/>
        </p:nvSpPr>
        <p:spPr>
          <a:xfrm>
            <a:off x="6583680" y="1627632"/>
            <a:ext cx="2651760" cy="786384"/>
          </a:xfrm>
          <a:prstGeom prst="rect">
            <a:avLst/>
          </a:prstGeom>
          <a:noFill/>
          <a:ln/>
        </p:spPr>
        <p:txBody>
          <a:bodyPr wrap="square" lIns="0" tIns="0" rIns="0" bIns="0" rtlCol="0" anchor="ctr"/>
          <a:lstStyle/>
          <a:p>
            <a:pPr indent="0" marL="0">
              <a:buNone/>
            </a:pPr>
            <a:r>
              <a:rPr lang="en-US" sz="4000" b="1" dirty="0">
                <a:solidFill>
                  <a:srgbClr val="B85042"/>
                </a:solidFill>
                <a:latin typeface="Cambria" pitchFamily="34" charset="0"/>
                <a:ea typeface="Cambria" pitchFamily="34" charset="-122"/>
                <a:cs typeface="Cambria" pitchFamily="34" charset="-120"/>
              </a:rPr>
              <a:t>0.852</a:t>
            </a:r>
            <a:endParaRPr lang="en-US" sz="4000" dirty="0"/>
          </a:p>
        </p:txBody>
      </p:sp>
      <p:sp>
        <p:nvSpPr>
          <p:cNvPr id="13" name="Text 11"/>
          <p:cNvSpPr txBox="1"/>
          <p:nvPr/>
        </p:nvSpPr>
        <p:spPr>
          <a:xfrm>
            <a:off x="6583680" y="2395728"/>
            <a:ext cx="2651760" cy="310896"/>
          </a:xfrm>
          <a:prstGeom prst="rect">
            <a:avLst/>
          </a:prstGeom>
          <a:noFill/>
          <a:ln/>
        </p:spPr>
        <p:txBody>
          <a:bodyPr wrap="square" lIns="0" tIns="0" rIns="0" bIns="0" rtlCol="0" anchor="ctr"/>
          <a:lstStyle/>
          <a:p>
            <a:pPr indent="0" marL="0">
              <a:buNone/>
            </a:pPr>
            <a:r>
              <a:rPr lang="en-US" sz="1250" b="1" dirty="0">
                <a:solidFill>
                  <a:srgbClr val="1C1B19"/>
                </a:solidFill>
                <a:latin typeface="Calibri" pitchFamily="34" charset="0"/>
                <a:ea typeface="Calibri" pitchFamily="34" charset="-122"/>
                <a:cs typeface="Calibri" pitchFamily="34" charset="-120"/>
              </a:rPr>
              <a:t>the best yaw R² — control</a:t>
            </a:r>
            <a:endParaRPr lang="en-US" sz="1250" dirty="0"/>
          </a:p>
        </p:txBody>
      </p:sp>
      <p:sp>
        <p:nvSpPr>
          <p:cNvPr id="14" name="Text 12"/>
          <p:cNvSpPr txBox="1"/>
          <p:nvPr/>
        </p:nvSpPr>
        <p:spPr>
          <a:xfrm>
            <a:off x="6583680" y="2688336"/>
            <a:ext cx="2651760" cy="548640"/>
          </a:xfrm>
          <a:prstGeom prst="rect">
            <a:avLst/>
          </a:prstGeom>
          <a:noFill/>
          <a:ln/>
        </p:spPr>
        <p:txBody>
          <a:bodyPr wrap="square" lIns="0" tIns="0" rIns="0" bIns="0" rtlCol="0" anchor="ctr"/>
          <a:lstStyle/>
          <a:p>
            <a:pPr indent="0" marL="0">
              <a:buNone/>
            </a:pPr>
            <a:r>
              <a:rPr lang="en-US" sz="1050" dirty="0">
                <a:solidFill>
                  <a:srgbClr val="6B6560"/>
                </a:solidFill>
                <a:latin typeface="Calibri" pitchFamily="34" charset="0"/>
                <a:ea typeface="Calibri" pitchFamily="34" charset="-122"/>
                <a:cs typeface="Calibri" pitchFamily="34" charset="-120"/>
              </a:rPr>
              <a:t>the arm with no penalty at all</a:t>
            </a:r>
            <a:endParaRPr lang="en-US" sz="1050" dirty="0"/>
          </a:p>
        </p:txBody>
      </p:sp>
      <p:sp>
        <p:nvSpPr>
          <p:cNvPr id="15" name="Text 13"/>
          <p:cNvSpPr txBox="1"/>
          <p:nvPr/>
        </p:nvSpPr>
        <p:spPr>
          <a:xfrm>
            <a:off x="9509760" y="1627632"/>
            <a:ext cx="2011680" cy="786384"/>
          </a:xfrm>
          <a:prstGeom prst="rect">
            <a:avLst/>
          </a:prstGeom>
          <a:noFill/>
          <a:ln/>
        </p:spPr>
        <p:txBody>
          <a:bodyPr wrap="square" lIns="0" tIns="0" rIns="0" bIns="0" rtlCol="0" anchor="ctr"/>
          <a:lstStyle/>
          <a:p>
            <a:pPr indent="0" marL="0">
              <a:buNone/>
            </a:pPr>
            <a:r>
              <a:rPr lang="en-US" sz="4000" b="1" dirty="0">
                <a:solidFill>
                  <a:srgbClr val="2A78D6"/>
                </a:solidFill>
                <a:latin typeface="Cambria" pitchFamily="34" charset="0"/>
                <a:ea typeface="Cambria" pitchFamily="34" charset="-122"/>
                <a:cs typeface="Cambria" pitchFamily="34" charset="-120"/>
              </a:rPr>
              <a:t>0.847</a:t>
            </a:r>
            <a:endParaRPr lang="en-US" sz="4000" dirty="0"/>
          </a:p>
        </p:txBody>
      </p:sp>
      <p:sp>
        <p:nvSpPr>
          <p:cNvPr id="16" name="Text 14"/>
          <p:cNvSpPr txBox="1"/>
          <p:nvPr/>
        </p:nvSpPr>
        <p:spPr>
          <a:xfrm>
            <a:off x="9509760" y="2395728"/>
            <a:ext cx="2011680" cy="310896"/>
          </a:xfrm>
          <a:prstGeom prst="rect">
            <a:avLst/>
          </a:prstGeom>
          <a:noFill/>
          <a:ln/>
        </p:spPr>
        <p:txBody>
          <a:bodyPr wrap="square" lIns="0" tIns="0" rIns="0" bIns="0" rtlCol="0" anchor="ctr"/>
          <a:lstStyle/>
          <a:p>
            <a:pPr indent="0" marL="0">
              <a:buNone/>
            </a:pPr>
            <a:r>
              <a:rPr lang="en-US" sz="1250" b="1" dirty="0">
                <a:solidFill>
                  <a:srgbClr val="1C1B19"/>
                </a:solidFill>
                <a:latin typeface="Calibri" pitchFamily="34" charset="0"/>
                <a:ea typeface="Calibri" pitchFamily="34" charset="-122"/>
                <a:cs typeface="Calibri" pitchFamily="34" charset="-120"/>
              </a:rPr>
              <a:t>guided</a:t>
            </a:r>
            <a:endParaRPr lang="en-US" sz="1250" dirty="0"/>
          </a:p>
        </p:txBody>
      </p:sp>
      <p:sp>
        <p:nvSpPr>
          <p:cNvPr id="17" name="Text 15"/>
          <p:cNvSpPr txBox="1"/>
          <p:nvPr/>
        </p:nvSpPr>
        <p:spPr>
          <a:xfrm>
            <a:off x="9509760" y="2688336"/>
            <a:ext cx="2011680" cy="548640"/>
          </a:xfrm>
          <a:prstGeom prst="rect">
            <a:avLst/>
          </a:prstGeom>
          <a:noFill/>
          <a:ln/>
        </p:spPr>
        <p:txBody>
          <a:bodyPr wrap="square" lIns="0" tIns="0" rIns="0" bIns="0" rtlCol="0" anchor="ctr"/>
          <a:lstStyle/>
          <a:p>
            <a:pPr indent="0" marL="0">
              <a:buNone/>
            </a:pPr>
            <a:r>
              <a:rPr lang="en-US" sz="1050" dirty="0">
                <a:solidFill>
                  <a:srgbClr val="6B6560"/>
                </a:solidFill>
                <a:latin typeface="Calibri" pitchFamily="34" charset="0"/>
                <a:ea typeface="Calibri" pitchFamily="34" charset="-122"/>
                <a:cs typeface="Calibri" pitchFamily="34" charset="-120"/>
              </a:rPr>
              <a:t>inside the noise</a:t>
            </a:r>
            <a:endParaRPr lang="en-US" sz="1050" dirty="0"/>
          </a:p>
        </p:txBody>
      </p:sp>
      <p:sp>
        <p:nvSpPr>
          <p:cNvPr id="18" name="Text 16"/>
          <p:cNvSpPr txBox="1"/>
          <p:nvPr/>
        </p:nvSpPr>
        <p:spPr>
          <a:xfrm>
            <a:off x="566928" y="3520440"/>
            <a:ext cx="5349240" cy="347472"/>
          </a:xfrm>
          <a:prstGeom prst="rect">
            <a:avLst/>
          </a:prstGeom>
          <a:noFill/>
          <a:ln/>
        </p:spPr>
        <p:txBody>
          <a:bodyPr wrap="square" lIns="0" tIns="0" rIns="0" bIns="0" rtlCol="0" anchor="ctr"/>
          <a:lstStyle/>
          <a:p>
            <a:pPr indent="0" marL="0">
              <a:buNone/>
            </a:pPr>
            <a:r>
              <a:rPr lang="en-US" sz="1700" b="1" dirty="0">
                <a:solidFill>
                  <a:srgbClr val="B85042"/>
                </a:solidFill>
                <a:latin typeface="Cambria" pitchFamily="34" charset="0"/>
                <a:ea typeface="Cambria" pitchFamily="34" charset="-122"/>
                <a:cs typeface="Cambria" pitchFamily="34" charset="-120"/>
              </a:rPr>
              <a:t>What this rules out</a:t>
            </a:r>
            <a:endParaRPr lang="en-US" sz="1700" dirty="0"/>
          </a:p>
        </p:txBody>
      </p:sp>
      <p:sp>
        <p:nvSpPr>
          <p:cNvPr id="19" name="Text 17"/>
          <p:cNvSpPr txBox="1"/>
          <p:nvPr/>
        </p:nvSpPr>
        <p:spPr>
          <a:xfrm>
            <a:off x="566928" y="3977640"/>
            <a:ext cx="5349240" cy="2194560"/>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250" dirty="0">
                <a:solidFill>
                  <a:srgbClr val="1C1B19"/>
                </a:solidFill>
                <a:latin typeface="Calibri" pitchFamily="34" charset="0"/>
                <a:ea typeface="Calibri" pitchFamily="34" charset="-122"/>
                <a:cs typeface="Calibri" pitchFamily="34" charset="-120"/>
              </a:rPr>
              <a:t>The v1 claim that attention guidance improves accuracy.</a:t>
            </a:r>
            <a:endParaRPr lang="en-US" sz="1250" dirty="0"/>
          </a:p>
          <a:p>
            <a:pPr marL="342900" indent="-342900">
              <a:lnSpc>
                <a:spcPts val="2000"/>
              </a:lnSpc>
              <a:spcAft>
                <a:spcPts val="700"/>
              </a:spcAft>
              <a:buSzPct val="100000"/>
              <a:buChar char="•"/>
            </a:pPr>
            <a:r>
              <a:rPr lang="en-US" sz="1250" dirty="0">
                <a:solidFill>
                  <a:srgbClr val="1C1B19"/>
                </a:solidFill>
                <a:latin typeface="Calibri" pitchFamily="34" charset="0"/>
                <a:ea typeface="Calibri" pitchFamily="34" charset="-122"/>
                <a:cs typeface="Calibri" pitchFamily="34" charset="-120"/>
              </a:rPr>
              <a:t>Any reading in which the ranking of these arms by R² is meaningful — the whole span is smaller than the gap between two held-out runs.</a:t>
            </a:r>
            <a:endParaRPr lang="en-US" sz="1250" dirty="0"/>
          </a:p>
        </p:txBody>
      </p:sp>
      <p:sp>
        <p:nvSpPr>
          <p:cNvPr id="20" name="Text 18"/>
          <p:cNvSpPr txBox="1"/>
          <p:nvPr/>
        </p:nvSpPr>
        <p:spPr>
          <a:xfrm>
            <a:off x="6263640" y="3520440"/>
            <a:ext cx="5349240" cy="347472"/>
          </a:xfrm>
          <a:prstGeom prst="rect">
            <a:avLst/>
          </a:prstGeom>
          <a:noFill/>
          <a:ln/>
        </p:spPr>
        <p:txBody>
          <a:bodyPr wrap="square" lIns="0" tIns="0" rIns="0" bIns="0" rtlCol="0" anchor="ctr"/>
          <a:lstStyle/>
          <a:p>
            <a:pPr indent="0" marL="0">
              <a:buNone/>
            </a:pPr>
            <a:r>
              <a:rPr lang="en-US" sz="1700" b="1" dirty="0">
                <a:solidFill>
                  <a:srgbClr val="2A78D6"/>
                </a:solidFill>
                <a:latin typeface="Cambria" pitchFamily="34" charset="0"/>
                <a:ea typeface="Cambria" pitchFamily="34" charset="-122"/>
                <a:cs typeface="Cambria" pitchFamily="34" charset="-120"/>
              </a:rPr>
              <a:t>What survives</a:t>
            </a:r>
            <a:endParaRPr lang="en-US" sz="1700" dirty="0"/>
          </a:p>
        </p:txBody>
      </p:sp>
      <p:sp>
        <p:nvSpPr>
          <p:cNvPr id="21" name="Text 19"/>
          <p:cNvSpPr txBox="1"/>
          <p:nvPr/>
        </p:nvSpPr>
        <p:spPr>
          <a:xfrm>
            <a:off x="6263640" y="3977640"/>
            <a:ext cx="5349240" cy="2194560"/>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250" dirty="0">
                <a:solidFill>
                  <a:srgbClr val="1C1B19"/>
                </a:solidFill>
                <a:latin typeface="Calibri" pitchFamily="34" charset="0"/>
                <a:ea typeface="Calibri" pitchFamily="34" charset="-122"/>
                <a:cs typeface="Calibri" pitchFamily="34" charset="-120"/>
              </a:rPr>
              <a:t>The intervention is free: it redirects where the model looks without paying for it in accuracy.</a:t>
            </a:r>
            <a:endParaRPr lang="en-US" sz="1250" dirty="0"/>
          </a:p>
          <a:p>
            <a:pPr marL="342900" indent="-342900">
              <a:lnSpc>
                <a:spcPts val="2000"/>
              </a:lnSpc>
              <a:spcAft>
                <a:spcPts val="700"/>
              </a:spcAft>
              <a:buSzPct val="100000"/>
              <a:buChar char="•"/>
            </a:pPr>
            <a:r>
              <a:rPr lang="en-US" sz="1250" dirty="0">
                <a:solidFill>
                  <a:srgbClr val="1C1B19"/>
                </a:solidFill>
                <a:latin typeface="Calibri" pitchFamily="34" charset="0"/>
                <a:ea typeface="Calibri" pitchFamily="34" charset="-122"/>
                <a:cs typeface="Calibri" pitchFamily="34" charset="-120"/>
              </a:rPr>
              <a:t>That is the claim an interpretability method should be making. Accuracy was never the mechanism it acts on.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The spread term is almost free, and λ is not a knife-edge</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pic>
        <p:nvPicPr>
          <p:cNvPr id="5" name="Image 0" descr="img/f_lambda_sweep.png">    </p:cNvPr>
          <p:cNvPicPr>
            <a:picLocks noChangeAspect="1"/>
          </p:cNvPicPr>
          <p:nvPr/>
        </p:nvPicPr>
        <p:blipFill>
          <a:blip r:embed="rId1"/>
          <a:stretch>
            <a:fillRect/>
          </a:stretch>
        </p:blipFill>
        <p:spPr>
          <a:xfrm>
            <a:off x="777240" y="1417320"/>
            <a:ext cx="10607040" cy="4288536"/>
          </a:xfrm>
          <a:prstGeom prst="rect">
            <a:avLst/>
          </a:prstGeom>
        </p:spPr>
      </p:pic>
      <p:sp>
        <p:nvSpPr>
          <p:cNvPr id="6" name="Text 3"/>
          <p:cNvSpPr txBox="1"/>
          <p:nvPr/>
        </p:nvSpPr>
        <p:spPr>
          <a:xfrm>
            <a:off x="566928" y="5833872"/>
            <a:ext cx="10789920" cy="502920"/>
          </a:xfrm>
          <a:prstGeom prst="rect">
            <a:avLst/>
          </a:prstGeom>
          <a:noFill/>
          <a:ln/>
        </p:spPr>
        <p:txBody>
          <a:bodyPr wrap="square" lIns="0" tIns="0" rIns="0" bIns="0" rtlCol="0" anchor="ctr"/>
          <a:lstStyle/>
          <a:p>
            <a:pPr indent="0" marL="0">
              <a:lnSpc>
                <a:spcPts val="1500"/>
              </a:lnSpc>
              <a:buNone/>
            </a:pPr>
            <a:r>
              <a:rPr lang="en-US" sz="1150" dirty="0">
                <a:solidFill>
                  <a:srgbClr val="1C1B19"/>
                </a:solidFill>
                <a:latin typeface="Calibri" pitchFamily="34" charset="0"/>
                <a:ea typeface="Calibri" pitchFamily="34" charset="-122"/>
                <a:cs typeface="Calibri" pitchFamily="34" charset="-120"/>
              </a:rPr>
              <a:t>λ_spread = 0.25 already recovers three quarters of the lost spread while the distractor share stays under 1.3%. A fourfold change in λ_rrr moves coverage by 0.10. Nothing here rests on a tuned constant.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SENSITIVITY &amp; LIMITS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C1B19"/>
                </a:solidFill>
                <a:latin typeface="Cambria" pitchFamily="34" charset="0"/>
                <a:ea typeface="Cambria" pitchFamily="34" charset="-122"/>
                <a:cs typeface="Cambria" pitchFamily="34" charset="-120"/>
              </a:rPr>
              <a:t>What was checked, and what still limits the result</a:t>
            </a:r>
            <a:endParaRPr lang="en-US" sz="3000" dirty="0"/>
          </a:p>
        </p:txBody>
      </p:sp>
      <p:sp>
        <p:nvSpPr>
          <p:cNvPr id="4" name="Text 2"/>
          <p:cNvSpPr txBox="1"/>
          <p:nvPr/>
        </p:nvSpPr>
        <p:spPr>
          <a:xfrm>
            <a:off x="548640" y="6327648"/>
            <a:ext cx="11064240" cy="237744"/>
          </a:xfrm>
          <a:prstGeom prst="rect">
            <a:avLst/>
          </a:prstGeom>
          <a:noFill/>
          <a:ln/>
        </p:spPr>
        <p:txBody>
          <a:bodyPr wrap="square" lIns="0" tIns="0" rIns="0" bIns="0" rtlCol="0" anchor="ctr"/>
          <a:lstStyle/>
          <a:p>
            <a:pPr indent="0" marL="0">
              <a:buNone/>
            </a:pPr>
            <a:r>
              <a:rPr lang="en-US" sz="900" dirty="0">
                <a:solidFill>
                  <a:srgbClr val="8A837C"/>
                </a:solidFill>
                <a:latin typeface="Calibri" pitchFamily="34" charset="0"/>
                <a:ea typeface="Calibri" pitchFamily="34" charset="-122"/>
                <a:cs typeface="Calibri" pitchFamily="34" charset="-120"/>
              </a:rPr>
              <a:t>vit_motion v0.3 · Adaptive Photonics Lab, NCTU</a:t>
            </a:r>
            <a:endParaRPr lang="en-US" sz="900" dirty="0"/>
          </a:p>
        </p:txBody>
      </p:sp>
      <p:sp>
        <p:nvSpPr>
          <p:cNvPr id="5" name="Text 3"/>
          <p:cNvSpPr txBox="1"/>
          <p:nvPr/>
        </p:nvSpPr>
        <p:spPr>
          <a:xfrm>
            <a:off x="566928" y="1417320"/>
            <a:ext cx="11064240" cy="320040"/>
          </a:xfrm>
          <a:prstGeom prst="rect">
            <a:avLst/>
          </a:prstGeom>
          <a:noFill/>
          <a:ln/>
        </p:spPr>
        <p:txBody>
          <a:bodyPr wrap="square" lIns="0" tIns="0" rIns="0" bIns="0" rtlCol="0" anchor="ctr"/>
          <a:lstStyle/>
          <a:p>
            <a:pPr indent="0" marL="0">
              <a:buNone/>
            </a:pPr>
            <a:r>
              <a:rPr lang="en-US" sz="1350" b="1" dirty="0">
                <a:solidFill>
                  <a:srgbClr val="6B8F71"/>
                </a:solidFill>
                <a:latin typeface="Calibri" pitchFamily="34" charset="0"/>
                <a:ea typeface="Calibri" pitchFamily="34" charset="-122"/>
                <a:cs typeface="Calibri" pitchFamily="34" charset="-120"/>
              </a:rPr>
              <a:t>The whole study was run twice, under two different definitions of “ground”</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5577840" cy="914400"/>
        </p:xfrm>
        <a:graphic>
          <a:graphicData uri="http://schemas.openxmlformats.org/drawingml/2006/table">
            <a:tbl>
              <a:tblPr/>
              <a:tblGrid>
                <a:gridCol w="1645920"/>
                <a:gridCol w="2148840"/>
                <a:gridCol w="1783080"/>
              </a:tblGrid>
              <a:tr h="402336">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coverage</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first mask (ground = 65.6%)</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corrected mask (68.2%)</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guided</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0.837</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0.869</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nonground</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0.182</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0.215</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v1_tophalf</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0.240</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c>
                  <a:txBody>
                    <a:bodyPr/>
                    <a:lstStyle/>
                    <a:p>
                      <a:pPr indent="0" marL="0">
                        <a:buNone/>
                      </a:pPr>
                      <a:r>
                        <a:rPr lang="en-US" sz="1200" dirty="0">
                          <a:solidFill>
                            <a:srgbClr val="1C1B19"/>
                          </a:solidFill>
                          <a:latin typeface="Calibri" pitchFamily="34" charset="0"/>
                          <a:ea typeface="Calibri" pitchFamily="34" charset="-122"/>
                          <a:cs typeface="Calibri" pitchFamily="34" charset="-120"/>
                        </a:rPr>
                        <a:t>0.248</a:t>
                      </a:r>
                      <a:endParaRPr lang="en-US" sz="1200" dirty="0">
                        <a:latin typeface="Calibri" charset="0"/>
                        <a:ea typeface="Calibri" charset="0"/>
                        <a:cs typeface="Calibri" charset="0"/>
                      </a:endParaRPr>
                    </a:p>
                  </a:txBody>
                  <a:tcPr marL="91440" marR="91440" marT="45720" marB="45720" anchor="ctr">
                    <a:lnL w="7620" cap="flat" cmpd="sng" algn="ctr">
                      <a:solidFill>
                        <a:srgbClr val="E3E1DC"/>
                      </a:solidFill>
                      <a:prstDash val="solid"/>
                      <a:round/>
                      <a:headEnd type="none" w="med" len="med"/>
                      <a:tailEnd type="none" w="med" len="med"/>
                    </a:lnL>
                    <a:lnR w="7620" cap="flat" cmpd="sng" algn="ctr">
                      <a:solidFill>
                        <a:srgbClr val="E3E1DC"/>
                      </a:solidFill>
                      <a:prstDash val="solid"/>
                      <a:round/>
                      <a:headEnd type="none" w="med" len="med"/>
                      <a:tailEnd type="none" w="med" len="med"/>
                    </a:lnR>
                    <a:lnT w="7620" cap="flat" cmpd="sng" algn="ctr">
                      <a:solidFill>
                        <a:srgbClr val="E3E1DC"/>
                      </a:solidFill>
                      <a:prstDash val="solid"/>
                      <a:round/>
                      <a:headEnd type="none" w="med" len="med"/>
                      <a:tailEnd type="none" w="med" len="med"/>
                    </a:lnT>
                    <a:lnB w="7620" cap="flat" cmpd="sng" algn="ctr">
                      <a:solidFill>
                        <a:srgbClr val="E3E1DC"/>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66928" y="3657600"/>
            <a:ext cx="5577840" cy="731520"/>
          </a:xfrm>
          <a:prstGeom prst="rect">
            <a:avLst/>
          </a:prstGeom>
          <a:noFill/>
          <a:ln/>
        </p:spPr>
        <p:txBody>
          <a:bodyPr wrap="square" lIns="0" tIns="0" rIns="0" bIns="0" rtlCol="0" anchor="ctr"/>
          <a:lstStyle/>
          <a:p>
            <a:pPr indent="0" marL="0">
              <a:lnSpc>
                <a:spcPts val="1600"/>
              </a:lnSpc>
              <a:buNone/>
            </a:pPr>
            <a:r>
              <a:rPr lang="en-US" sz="1200" i="1" dirty="0">
                <a:solidFill>
                  <a:srgbClr val="6B6560"/>
                </a:solidFill>
                <a:latin typeface="Calibri" pitchFamily="34" charset="0"/>
                <a:ea typeface="Calibri" pitchFamily="34" charset="-122"/>
                <a:cs typeface="Calibri" pitchFamily="34" charset="-120"/>
              </a:rPr>
              <a:t>The ordering is identical under both. The conclusion does not depend on where exactly the mud boundary is drawn.</a:t>
            </a:r>
            <a:endParaRPr lang="en-US" sz="1200" dirty="0"/>
          </a:p>
        </p:txBody>
      </p:sp>
      <p:sp>
        <p:nvSpPr>
          <p:cNvPr id="8" name="Shape 5"/>
          <p:cNvSpPr/>
          <p:nvPr/>
        </p:nvSpPr>
        <p:spPr>
          <a:xfrm>
            <a:off x="6446520" y="1371600"/>
            <a:ext cx="5184648" cy="4937760"/>
          </a:xfrm>
          <a:prstGeom prst="roundRect">
            <a:avLst>
              <a:gd name="adj" fmla="val 1481"/>
            </a:avLst>
          </a:prstGeom>
          <a:solidFill>
            <a:srgbClr val="FBEEEB"/>
          </a:solidFill>
          <a:ln w="6350">
            <a:solidFill>
              <a:srgbClr val="FBEEEB"/>
            </a:solidFill>
            <a:prstDash val="solid"/>
          </a:ln>
        </p:spPr>
      </p:sp>
      <p:sp>
        <p:nvSpPr>
          <p:cNvPr id="9" name="Text 6"/>
          <p:cNvSpPr txBox="1"/>
          <p:nvPr/>
        </p:nvSpPr>
        <p:spPr>
          <a:xfrm>
            <a:off x="6720840" y="1572768"/>
            <a:ext cx="4663440" cy="347472"/>
          </a:xfrm>
          <a:prstGeom prst="rect">
            <a:avLst/>
          </a:prstGeom>
          <a:noFill/>
          <a:ln/>
        </p:spPr>
        <p:txBody>
          <a:bodyPr wrap="square" lIns="0" tIns="0" rIns="0" bIns="0" rtlCol="0" anchor="ctr"/>
          <a:lstStyle/>
          <a:p>
            <a:pPr indent="0" marL="0">
              <a:buNone/>
            </a:pPr>
            <a:r>
              <a:rPr lang="en-US" sz="1700" b="1" dirty="0">
                <a:solidFill>
                  <a:srgbClr val="B85042"/>
                </a:solidFill>
                <a:latin typeface="Cambria" pitchFamily="34" charset="0"/>
                <a:ea typeface="Cambria" pitchFamily="34" charset="-122"/>
                <a:cs typeface="Cambria" pitchFamily="34" charset="-120"/>
              </a:rPr>
              <a:t>Limitations, stated up front</a:t>
            </a:r>
            <a:endParaRPr lang="en-US" sz="1700" dirty="0"/>
          </a:p>
        </p:txBody>
      </p:sp>
      <p:sp>
        <p:nvSpPr>
          <p:cNvPr id="10" name="Text 7"/>
          <p:cNvSpPr txBox="1"/>
          <p:nvPr/>
        </p:nvSpPr>
        <p:spPr>
          <a:xfrm>
            <a:off x="6720840" y="2029968"/>
            <a:ext cx="4617720" cy="4160520"/>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150" dirty="0">
                <a:solidFill>
                  <a:srgbClr val="1C1B19"/>
                </a:solidFill>
                <a:latin typeface="Calibri" pitchFamily="34" charset="0"/>
                <a:ea typeface="Calibri" pitchFamily="34" charset="-122"/>
                <a:cs typeface="Calibri" pitchFamily="34" charset="-120"/>
              </a:rPr>
              <a:t>Every wet training row comes from one day — “wet” and that day cannot be told apart by this model.</a:t>
            </a:r>
            <a:endParaRPr lang="en-US" sz="1150" dirty="0"/>
          </a:p>
          <a:p>
            <a:pPr marL="342900" indent="-342900">
              <a:lnSpc>
                <a:spcPts val="2000"/>
              </a:lnSpc>
              <a:spcAft>
                <a:spcPts val="700"/>
              </a:spcAft>
              <a:buSzPct val="100000"/>
              <a:buChar char="•"/>
            </a:pPr>
            <a:r>
              <a:rPr lang="en-US" sz="1150" dirty="0">
                <a:solidFill>
                  <a:srgbClr val="1C1B19"/>
                </a:solidFill>
                <a:latin typeface="Calibri" pitchFamily="34" charset="0"/>
                <a:ea typeface="Calibri" pitchFamily="34" charset="-122"/>
                <a:cs typeface="Calibri" pitchFamily="34" charset="-120"/>
              </a:rPr>
              <a:t>The collection is 82% wet. The dry numbers rest on 966 held-out rows and are never pooled into a headline.</a:t>
            </a:r>
            <a:endParaRPr lang="en-US" sz="1150" dirty="0"/>
          </a:p>
          <a:p>
            <a:pPr marL="342900" indent="-342900">
              <a:lnSpc>
                <a:spcPts val="2000"/>
              </a:lnSpc>
              <a:spcAft>
                <a:spcPts val="700"/>
              </a:spcAft>
              <a:buSzPct val="100000"/>
              <a:buChar char="•"/>
            </a:pPr>
            <a:r>
              <a:rPr lang="en-US" sz="1150" dirty="0">
                <a:solidFill>
                  <a:srgbClr val="1C1B19"/>
                </a:solidFill>
                <a:latin typeface="Calibri" pitchFamily="34" charset="0"/>
                <a:ea typeface="Calibri" pitchFamily="34" charset="-122"/>
                <a:cs typeface="Calibri" pitchFamily="34" charset="-120"/>
              </a:rPr>
              <a:t>The ground mask still assigns ~2% of the terrain band to “plant”. It was deliberately not folded into ground: that class appears just as often at the horizon, where it really is vegetation.</a:t>
            </a:r>
            <a:endParaRPr lang="en-US" sz="1150" dirty="0"/>
          </a:p>
          <a:p>
            <a:pPr marL="342900" indent="-342900">
              <a:lnSpc>
                <a:spcPts val="2000"/>
              </a:lnSpc>
              <a:spcAft>
                <a:spcPts val="700"/>
              </a:spcAft>
              <a:buSzPct val="100000"/>
              <a:buChar char="•"/>
            </a:pPr>
            <a:r>
              <a:rPr lang="en-US" sz="1150" dirty="0">
                <a:solidFill>
                  <a:srgbClr val="1C1B19"/>
                </a:solidFill>
                <a:latin typeface="Calibri" pitchFamily="34" charset="0"/>
                <a:ea typeface="Calibri" pitchFamily="34" charset="-122"/>
                <a:cs typeface="Calibri" pitchFamily="34" charset="-120"/>
              </a:rPr>
              <a:t>The base model stopped at epoch 10 with its best validation at epoch 6; epochs 7–12 were all worse.</a:t>
            </a:r>
            <a:endParaRPr lang="en-US" sz="1150" dirty="0"/>
          </a:p>
        </p:txBody>
      </p:sp>
      <p:sp>
        <p:nvSpPr>
          <p:cNvPr id="11" name="Shape 8"/>
          <p:cNvSpPr/>
          <p:nvPr/>
        </p:nvSpPr>
        <p:spPr>
          <a:xfrm>
            <a:off x="566928" y="4526280"/>
            <a:ext cx="5577840" cy="1783080"/>
          </a:xfrm>
          <a:prstGeom prst="roundRect">
            <a:avLst>
              <a:gd name="adj" fmla="val 4103"/>
            </a:avLst>
          </a:prstGeom>
          <a:solidFill>
            <a:srgbClr val="F4F1ED"/>
          </a:solidFill>
          <a:ln w="6350">
            <a:solidFill>
              <a:srgbClr val="F4F1ED"/>
            </a:solidFill>
            <a:prstDash val="solid"/>
          </a:ln>
        </p:spPr>
      </p:sp>
      <p:sp>
        <p:nvSpPr>
          <p:cNvPr id="12" name="Text 9"/>
          <p:cNvSpPr txBox="1"/>
          <p:nvPr/>
        </p:nvSpPr>
        <p:spPr>
          <a:xfrm>
            <a:off x="868680" y="4681728"/>
            <a:ext cx="5029200" cy="310896"/>
          </a:xfrm>
          <a:prstGeom prst="rect">
            <a:avLst/>
          </a:prstGeom>
          <a:noFill/>
          <a:ln/>
        </p:spPr>
        <p:txBody>
          <a:bodyPr wrap="square" lIns="0" tIns="0" rIns="0" bIns="0" rtlCol="0" anchor="ctr"/>
          <a:lstStyle/>
          <a:p>
            <a:pPr indent="0" marL="0">
              <a:buNone/>
            </a:pPr>
            <a:r>
              <a:rPr lang="en-US" sz="1500" b="1" dirty="0">
                <a:solidFill>
                  <a:srgbClr val="6B8F71"/>
                </a:solidFill>
                <a:latin typeface="Cambria" pitchFamily="34" charset="0"/>
                <a:ea typeface="Cambria" pitchFamily="34" charset="-122"/>
                <a:cs typeface="Cambria" pitchFamily="34" charset="-120"/>
              </a:rPr>
              <a:t>Also checked</a:t>
            </a:r>
            <a:endParaRPr lang="en-US" sz="1500" dirty="0"/>
          </a:p>
        </p:txBody>
      </p:sp>
      <p:sp>
        <p:nvSpPr>
          <p:cNvPr id="13" name="Text 10"/>
          <p:cNvSpPr txBox="1"/>
          <p:nvPr/>
        </p:nvSpPr>
        <p:spPr>
          <a:xfrm>
            <a:off x="868680" y="5029200"/>
            <a:ext cx="5029200" cy="1188720"/>
          </a:xfrm>
          <a:prstGeom prst="rect">
            <a:avLst/>
          </a:prstGeom>
          <a:noFill/>
          <a:ln/>
        </p:spPr>
        <p:txBody>
          <a:bodyPr wrap="square" lIns="0" tIns="0" rIns="0" bIns="0" rtlCol="0" anchor="t"/>
          <a:lstStyle/>
          <a:p>
            <a:pPr marL="342900" indent="-342900">
              <a:lnSpc>
                <a:spcPts val="2000"/>
              </a:lnSpc>
              <a:spcAft>
                <a:spcPts val="700"/>
              </a:spcAft>
              <a:buSzPct val="100000"/>
              <a:buChar char="•"/>
            </a:pPr>
            <a:r>
              <a:rPr lang="en-US" sz="1150" dirty="0">
                <a:solidFill>
                  <a:srgbClr val="1C1B19"/>
                </a:solidFill>
                <a:latin typeface="Calibri" pitchFamily="34" charset="0"/>
                <a:ea typeface="Calibri" pitchFamily="34" charset="-122"/>
                <a:cs typeface="Calibri" pitchFamily="34" charset="-120"/>
              </a:rPr>
              <a:t>Depth audit of the sky mask: 98.6% containment, 0.01% leak into near ground.</a:t>
            </a:r>
            <a:endParaRPr lang="en-US" sz="1150" dirty="0"/>
          </a:p>
          <a:p>
            <a:pPr marL="342900" indent="-342900">
              <a:lnSpc>
                <a:spcPts val="2000"/>
              </a:lnSpc>
              <a:spcAft>
                <a:spcPts val="700"/>
              </a:spcAft>
              <a:buSzPct val="100000"/>
              <a:buChar char="•"/>
            </a:pPr>
            <a:r>
              <a:rPr lang="en-US" sz="1150" dirty="0">
                <a:solidFill>
                  <a:srgbClr val="1C1B19"/>
                </a:solidFill>
                <a:latin typeface="Calibri" pitchFamily="34" charset="0"/>
                <a:ea typeface="Calibri" pitchFamily="34" charset="-122"/>
                <a:cs typeface="Calibri" pitchFamily="34" charset="-120"/>
              </a:rPr>
              <a:t>Image-quality screening of all 63 runs — none flagged.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B2622"/>
        </a:solidFill>
      </p:bgPr>
    </p:bg>
    <p:spTree>
      <p:nvGrpSpPr>
        <p:cNvPr id="1" name=""/>
        <p:cNvGrpSpPr/>
        <p:nvPr/>
      </p:nvGrpSpPr>
      <p:grpSpPr>
        <a:xfrm>
          <a:off x="0" y="0"/>
          <a:ext cx="0" cy="0"/>
          <a:chOff x="0" y="0"/>
          <a:chExt cx="0" cy="0"/>
        </a:xfrm>
      </p:grpSpPr>
      <p:sp>
        <p:nvSpPr>
          <p:cNvPr id="2" name="Text 0"/>
          <p:cNvSpPr txBox="1"/>
          <p:nvPr/>
        </p:nvSpPr>
        <p:spPr>
          <a:xfrm>
            <a:off x="822960" y="685800"/>
            <a:ext cx="10515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Where this leaves us</a:t>
            </a:r>
            <a:endParaRPr lang="en-US" sz="3200" dirty="0"/>
          </a:p>
        </p:txBody>
      </p:sp>
      <p:sp>
        <p:nvSpPr>
          <p:cNvPr id="3" name="Shape 1"/>
          <p:cNvSpPr/>
          <p:nvPr/>
        </p:nvSpPr>
        <p:spPr>
          <a:xfrm>
            <a:off x="822960" y="1600200"/>
            <a:ext cx="384048" cy="384048"/>
          </a:xfrm>
          <a:prstGeom prst="ellipse">
            <a:avLst/>
          </a:prstGeom>
          <a:solidFill>
            <a:srgbClr val="6B8F71"/>
          </a:solidFill>
          <a:ln w="6350">
            <a:solidFill>
              <a:srgbClr val="6B8F71"/>
            </a:solidFill>
            <a:prstDash val="solid"/>
          </a:ln>
        </p:spPr>
      </p:sp>
      <p:sp>
        <p:nvSpPr>
          <p:cNvPr id="4" name="Text 2"/>
          <p:cNvSpPr txBox="1"/>
          <p:nvPr/>
        </p:nvSpPr>
        <p:spPr>
          <a:xfrm>
            <a:off x="82296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389888" y="1581912"/>
            <a:ext cx="21945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region</a:t>
            </a:r>
            <a:endParaRPr lang="en-US" sz="1400" dirty="0"/>
          </a:p>
        </p:txBody>
      </p:sp>
      <p:sp>
        <p:nvSpPr>
          <p:cNvPr id="6" name="Text 4"/>
          <p:cNvSpPr txBox="1"/>
          <p:nvPr/>
        </p:nvSpPr>
        <p:spPr>
          <a:xfrm>
            <a:off x="3657600" y="1581912"/>
            <a:ext cx="7680960" cy="822960"/>
          </a:xfrm>
          <a:prstGeom prst="rect">
            <a:avLst/>
          </a:prstGeom>
          <a:noFill/>
          <a:ln/>
        </p:spPr>
        <p:txBody>
          <a:bodyPr wrap="square" lIns="0" tIns="0" rIns="0" bIns="0" rtlCol="0" anchor="ctr"/>
          <a:lstStyle/>
          <a:p>
            <a:pPr indent="0" marL="0">
              <a:lnSpc>
                <a:spcPts val="1700"/>
              </a:lnSpc>
              <a:buNone/>
            </a:pPr>
            <a:r>
              <a:rPr lang="en-US" sz="1250" dirty="0">
                <a:solidFill>
                  <a:srgbClr val="C9C0B7"/>
                </a:solidFill>
                <a:latin typeface="Calibri" pitchFamily="34" charset="0"/>
                <a:ea typeface="Calibri" pitchFamily="34" charset="-122"/>
                <a:cs typeface="Calibri" pitchFamily="34" charset="-120"/>
              </a:rPr>
              <a:t>A per-frame segmentation mask replaces “the top half”, audited against depth and diagnosed class by class.</a:t>
            </a:r>
            <a:endParaRPr lang="en-US" sz="1250" dirty="0"/>
          </a:p>
        </p:txBody>
      </p:sp>
      <p:sp>
        <p:nvSpPr>
          <p:cNvPr id="7" name="Shape 5"/>
          <p:cNvSpPr/>
          <p:nvPr/>
        </p:nvSpPr>
        <p:spPr>
          <a:xfrm>
            <a:off x="822960" y="2624328"/>
            <a:ext cx="384048" cy="384048"/>
          </a:xfrm>
          <a:prstGeom prst="ellipse">
            <a:avLst/>
          </a:prstGeom>
          <a:solidFill>
            <a:srgbClr val="2A78D6"/>
          </a:solidFill>
          <a:ln w="6350">
            <a:solidFill>
              <a:srgbClr val="2A78D6"/>
            </a:solidFill>
            <a:prstDash val="solid"/>
          </a:ln>
        </p:spPr>
      </p:sp>
      <p:sp>
        <p:nvSpPr>
          <p:cNvPr id="8" name="Text 6"/>
          <p:cNvSpPr txBox="1"/>
          <p:nvPr/>
        </p:nvSpPr>
        <p:spPr>
          <a:xfrm>
            <a:off x="822960" y="2624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389888" y="2606040"/>
            <a:ext cx="21945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missing term</a:t>
            </a:r>
            <a:endParaRPr lang="en-US" sz="1400" dirty="0"/>
          </a:p>
        </p:txBody>
      </p:sp>
      <p:sp>
        <p:nvSpPr>
          <p:cNvPr id="10" name="Text 8"/>
          <p:cNvSpPr txBox="1"/>
          <p:nvPr/>
        </p:nvSpPr>
        <p:spPr>
          <a:xfrm>
            <a:off x="3657600" y="2606040"/>
            <a:ext cx="7680960" cy="822960"/>
          </a:xfrm>
          <a:prstGeom prst="rect">
            <a:avLst/>
          </a:prstGeom>
          <a:noFill/>
          <a:ln/>
        </p:spPr>
        <p:txBody>
          <a:bodyPr wrap="square" lIns="0" tIns="0" rIns="0" bIns="0" rtlCol="0" anchor="ctr"/>
          <a:lstStyle/>
          <a:p>
            <a:pPr indent="0" marL="0">
              <a:lnSpc>
                <a:spcPts val="1700"/>
              </a:lnSpc>
              <a:buNone/>
            </a:pPr>
            <a:r>
              <a:rPr lang="en-US" sz="1250" dirty="0">
                <a:solidFill>
                  <a:srgbClr val="C9C0B7"/>
                </a:solidFill>
                <a:latin typeface="Calibri" pitchFamily="34" charset="0"/>
                <a:ea typeface="Calibri" pitchFamily="34" charset="-122"/>
                <a:cs typeface="Calibri" pitchFamily="34" charset="-120"/>
              </a:rPr>
              <a:t>Penalizing the outside alone collapses the attention. The entropy term is what makes the intervention work.</a:t>
            </a:r>
            <a:endParaRPr lang="en-US" sz="1250" dirty="0"/>
          </a:p>
        </p:txBody>
      </p:sp>
      <p:sp>
        <p:nvSpPr>
          <p:cNvPr id="11" name="Shape 9"/>
          <p:cNvSpPr/>
          <p:nvPr/>
        </p:nvSpPr>
        <p:spPr>
          <a:xfrm>
            <a:off x="822960" y="3648456"/>
            <a:ext cx="384048" cy="384048"/>
          </a:xfrm>
          <a:prstGeom prst="ellipse">
            <a:avLst/>
          </a:prstGeom>
          <a:solidFill>
            <a:srgbClr val="2A78D6"/>
          </a:solidFill>
          <a:ln w="6350">
            <a:solidFill>
              <a:srgbClr val="2A78D6"/>
            </a:solidFill>
            <a:prstDash val="solid"/>
          </a:ln>
        </p:spPr>
      </p:sp>
      <p:sp>
        <p:nvSpPr>
          <p:cNvPr id="12" name="Text 10"/>
          <p:cNvSpPr txBox="1"/>
          <p:nvPr/>
        </p:nvSpPr>
        <p:spPr>
          <a:xfrm>
            <a:off x="822960" y="3648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389888" y="3630168"/>
            <a:ext cx="21945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honest result</a:t>
            </a:r>
            <a:endParaRPr lang="en-US" sz="1400" dirty="0"/>
          </a:p>
        </p:txBody>
      </p:sp>
      <p:sp>
        <p:nvSpPr>
          <p:cNvPr id="14" name="Text 12"/>
          <p:cNvSpPr txBox="1"/>
          <p:nvPr/>
        </p:nvSpPr>
        <p:spPr>
          <a:xfrm>
            <a:off x="3657600" y="3630168"/>
            <a:ext cx="7680960" cy="822960"/>
          </a:xfrm>
          <a:prstGeom prst="rect">
            <a:avLst/>
          </a:prstGeom>
          <a:noFill/>
          <a:ln/>
        </p:spPr>
        <p:txBody>
          <a:bodyPr wrap="square" lIns="0" tIns="0" rIns="0" bIns="0" rtlCol="0" anchor="ctr"/>
          <a:lstStyle/>
          <a:p>
            <a:pPr indent="0" marL="0">
              <a:lnSpc>
                <a:spcPts val="1700"/>
              </a:lnSpc>
              <a:buNone/>
            </a:pPr>
            <a:r>
              <a:rPr lang="en-US" sz="1250" dirty="0">
                <a:solidFill>
                  <a:srgbClr val="C9C0B7"/>
                </a:solidFill>
                <a:latin typeface="Calibri" pitchFamily="34" charset="0"/>
                <a:ea typeface="Calibri" pitchFamily="34" charset="-122"/>
                <a:cs typeface="Calibri" pitchFamily="34" charset="-120"/>
              </a:rPr>
              <a:t>19× less attention on distractors, spread slightly wider than the unguided model, at no accuracy cost.</a:t>
            </a:r>
            <a:endParaRPr lang="en-US" sz="1250" dirty="0"/>
          </a:p>
        </p:txBody>
      </p:sp>
      <p:sp>
        <p:nvSpPr>
          <p:cNvPr id="15" name="Shape 13"/>
          <p:cNvSpPr/>
          <p:nvPr/>
        </p:nvSpPr>
        <p:spPr>
          <a:xfrm>
            <a:off x="822960" y="4672584"/>
            <a:ext cx="384048" cy="384048"/>
          </a:xfrm>
          <a:prstGeom prst="ellipse">
            <a:avLst/>
          </a:prstGeom>
          <a:solidFill>
            <a:srgbClr val="B85042"/>
          </a:solidFill>
          <a:ln w="6350">
            <a:solidFill>
              <a:srgbClr val="B85042"/>
            </a:solidFill>
            <a:prstDash val="solid"/>
          </a:ln>
        </p:spPr>
      </p:sp>
      <p:sp>
        <p:nvSpPr>
          <p:cNvPr id="16" name="Text 14"/>
          <p:cNvSpPr txBox="1"/>
          <p:nvPr/>
        </p:nvSpPr>
        <p:spPr>
          <a:xfrm>
            <a:off x="822960" y="4672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389888" y="4654296"/>
            <a:ext cx="21945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is not claimed</a:t>
            </a:r>
            <a:endParaRPr lang="en-US" sz="1400" dirty="0"/>
          </a:p>
        </p:txBody>
      </p:sp>
      <p:sp>
        <p:nvSpPr>
          <p:cNvPr id="18" name="Text 16"/>
          <p:cNvSpPr txBox="1"/>
          <p:nvPr/>
        </p:nvSpPr>
        <p:spPr>
          <a:xfrm>
            <a:off x="3657600" y="4654296"/>
            <a:ext cx="7680960" cy="822960"/>
          </a:xfrm>
          <a:prstGeom prst="rect">
            <a:avLst/>
          </a:prstGeom>
          <a:noFill/>
          <a:ln/>
        </p:spPr>
        <p:txBody>
          <a:bodyPr wrap="square" lIns="0" tIns="0" rIns="0" bIns="0" rtlCol="0" anchor="ctr"/>
          <a:lstStyle/>
          <a:p>
            <a:pPr indent="0" marL="0">
              <a:lnSpc>
                <a:spcPts val="1700"/>
              </a:lnSpc>
              <a:buNone/>
            </a:pPr>
            <a:r>
              <a:rPr lang="en-US" sz="1250" dirty="0">
                <a:solidFill>
                  <a:srgbClr val="C9C0B7"/>
                </a:solidFill>
                <a:latin typeface="Calibri" pitchFamily="34" charset="0"/>
                <a:ea typeface="Calibri" pitchFamily="34" charset="-122"/>
                <a:cs typeface="Calibri" pitchFamily="34" charset="-120"/>
              </a:rPr>
              <a:t>Attention guidance does not improve accuracy here. The no-penalty control matches every guided arm.</a:t>
            </a:r>
            <a:endParaRPr lang="en-US" sz="1250" dirty="0"/>
          </a:p>
        </p:txBody>
      </p:sp>
      <p:sp>
        <p:nvSpPr>
          <p:cNvPr id="19" name="Shape 17"/>
          <p:cNvSpPr/>
          <p:nvPr/>
        </p:nvSpPr>
        <p:spPr>
          <a:xfrm>
            <a:off x="822960" y="5623560"/>
            <a:ext cx="10515600" cy="777240"/>
          </a:xfrm>
          <a:prstGeom prst="roundRect">
            <a:avLst>
              <a:gd name="adj" fmla="val 9412"/>
            </a:avLst>
          </a:prstGeom>
          <a:solidFill>
            <a:srgbClr val="3A342E"/>
          </a:solidFill>
          <a:ln w="6350">
            <a:solidFill>
              <a:srgbClr val="3A342E"/>
            </a:solidFill>
            <a:prstDash val="solid"/>
          </a:ln>
        </p:spPr>
      </p:sp>
      <p:sp>
        <p:nvSpPr>
          <p:cNvPr id="20" name="Text 18"/>
          <p:cNvSpPr txBox="1"/>
          <p:nvPr/>
        </p:nvSpPr>
        <p:spPr>
          <a:xfrm>
            <a:off x="1097280" y="5760720"/>
            <a:ext cx="9966960" cy="548640"/>
          </a:xfrm>
          <a:prstGeom prst="rect">
            <a:avLst/>
          </a:prstGeom>
          <a:noFill/>
          <a:ln/>
        </p:spPr>
        <p:txBody>
          <a:bodyPr wrap="square" lIns="0" tIns="0" rIns="0" bIns="0" rtlCol="0" anchor="ctr"/>
          <a:lstStyle/>
          <a:p>
            <a:pPr indent="0" marL="0">
              <a:lnSpc>
                <a:spcPts val="1500"/>
              </a:lnSpc>
              <a:buNone/>
            </a:pPr>
            <a:r>
              <a:rPr lang="en-US" sz="1150" dirty="0">
                <a:solidFill>
                  <a:srgbClr val="E4DCD3"/>
                </a:solidFill>
                <a:latin typeface="Calibri" pitchFamily="34" charset="0"/>
                <a:ea typeface="Calibri" pitchFamily="34" charset="-122"/>
                <a:cs typeface="Calibri" pitchFamily="34" charset="-120"/>
              </a:rPr>
              <a:t>Next:  collect dry data on a second day so “wet” and “20260827” can be separated  ·  repeat the sweep with multiple seeds  ·  test whether a model guided this way degrades more gracefully when the terrain changes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ViT-Motion v0.3 — region-guided attention</dc:title>
  <dc:subject>PptxGenJS Presentation</dc:subject>
  <dc:creator>Saman</dc:creator>
  <cp:lastModifiedBy>Saman</cp:lastModifiedBy>
  <cp:revision>1</cp:revision>
  <dcterms:created xsi:type="dcterms:W3CDTF">2026-09-01T03:47:40Z</dcterms:created>
  <dcterms:modified xsi:type="dcterms:W3CDTF">2026-09-01T03:47:40Z</dcterms:modified>
</cp:coreProperties>
</file>